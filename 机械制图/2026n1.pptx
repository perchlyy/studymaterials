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3"/>
  </p:notesMasterIdLst>
  <p:handoutMasterIdLst>
    <p:handoutMasterId r:id="rId64"/>
  </p:handoutMasterIdLst>
  <p:sldIdLst>
    <p:sldId id="256" r:id="rId2"/>
    <p:sldId id="315" r:id="rId3"/>
    <p:sldId id="338" r:id="rId4"/>
    <p:sldId id="339" r:id="rId5"/>
    <p:sldId id="340" r:id="rId6"/>
    <p:sldId id="365" r:id="rId7"/>
    <p:sldId id="316" r:id="rId8"/>
    <p:sldId id="277" r:id="rId9"/>
    <p:sldId id="341" r:id="rId10"/>
    <p:sldId id="348" r:id="rId11"/>
    <p:sldId id="259" r:id="rId12"/>
    <p:sldId id="318" r:id="rId13"/>
    <p:sldId id="261" r:id="rId14"/>
    <p:sldId id="284" r:id="rId15"/>
    <p:sldId id="327" r:id="rId16"/>
    <p:sldId id="321" r:id="rId17"/>
    <p:sldId id="328" r:id="rId18"/>
    <p:sldId id="322" r:id="rId19"/>
    <p:sldId id="344" r:id="rId20"/>
    <p:sldId id="288" r:id="rId21"/>
    <p:sldId id="314" r:id="rId22"/>
    <p:sldId id="323" r:id="rId23"/>
    <p:sldId id="324" r:id="rId24"/>
    <p:sldId id="279" r:id="rId25"/>
    <p:sldId id="366" r:id="rId26"/>
    <p:sldId id="325" r:id="rId27"/>
    <p:sldId id="311" r:id="rId28"/>
    <p:sldId id="295" r:id="rId29"/>
    <p:sldId id="296" r:id="rId30"/>
    <p:sldId id="297" r:id="rId31"/>
    <p:sldId id="272" r:id="rId32"/>
    <p:sldId id="329" r:id="rId33"/>
    <p:sldId id="274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9" r:id="rId44"/>
    <p:sldId id="360" r:id="rId45"/>
    <p:sldId id="361" r:id="rId46"/>
    <p:sldId id="362" r:id="rId47"/>
    <p:sldId id="363" r:id="rId48"/>
    <p:sldId id="364" r:id="rId49"/>
    <p:sldId id="358" r:id="rId50"/>
    <p:sldId id="292" r:id="rId51"/>
    <p:sldId id="367" r:id="rId52"/>
    <p:sldId id="294" r:id="rId53"/>
    <p:sldId id="368" r:id="rId54"/>
    <p:sldId id="369" r:id="rId55"/>
    <p:sldId id="370" r:id="rId56"/>
    <p:sldId id="371" r:id="rId57"/>
    <p:sldId id="372" r:id="rId58"/>
    <p:sldId id="298" r:id="rId59"/>
    <p:sldId id="387" r:id="rId60"/>
    <p:sldId id="388" r:id="rId61"/>
    <p:sldId id="309" r:id="rId62"/>
  </p:sldIdLst>
  <p:sldSz cx="9144000" cy="6858000" type="screen4x3"/>
  <p:notesSz cx="6797675" cy="9929813"/>
  <p:defaultTextStyle>
    <a:defPPr>
      <a:defRPr lang="zh-CN"/>
    </a:defPPr>
    <a:lvl1pPr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orient="horz" pos="550">
          <p15:clr>
            <a:srgbClr val="A4A3A4"/>
          </p15:clr>
        </p15:guide>
        <p15:guide id="3" orient="horz" pos="1111">
          <p15:clr>
            <a:srgbClr val="A4A3A4"/>
          </p15:clr>
        </p15:guide>
        <p15:guide id="4" orient="horz" pos="1608">
          <p15:clr>
            <a:srgbClr val="A4A3A4"/>
          </p15:clr>
        </p15:guide>
        <p15:guide id="5" pos="3787">
          <p15:clr>
            <a:srgbClr val="A4A3A4"/>
          </p15:clr>
        </p15:guide>
        <p15:guide id="6" pos="1422">
          <p15:clr>
            <a:srgbClr val="A4A3A4"/>
          </p15:clr>
        </p15:guide>
        <p15:guide id="7" pos="3137">
          <p15:clr>
            <a:srgbClr val="A4A3A4"/>
          </p15:clr>
        </p15:guide>
        <p15:guide id="8" pos="4659">
          <p15:clr>
            <a:srgbClr val="A4A3A4"/>
          </p15:clr>
        </p15:guide>
        <p15:guide id="9" pos="215">
          <p15:clr>
            <a:srgbClr val="A4A3A4"/>
          </p15:clr>
        </p15:guide>
        <p15:guide id="10" pos="21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FF9900"/>
    <a:srgbClr val="00FFCC"/>
    <a:srgbClr val="FFFFFF"/>
    <a:srgbClr val="0033CC"/>
    <a:srgbClr val="3333CC"/>
    <a:srgbClr val="FF3300"/>
    <a:srgbClr val="D2A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1" autoAdjust="0"/>
    <p:restoredTop sz="94590" autoAdjust="0"/>
  </p:normalViewPr>
  <p:slideViewPr>
    <p:cSldViewPr snapToGrid="0">
      <p:cViewPr varScale="1">
        <p:scale>
          <a:sx n="111" d="100"/>
          <a:sy n="111" d="100"/>
        </p:scale>
        <p:origin x="1554" y="114"/>
      </p:cViewPr>
      <p:guideLst>
        <p:guide orient="horz" pos="2167"/>
        <p:guide orient="horz" pos="550"/>
        <p:guide orient="horz" pos="1111"/>
        <p:guide orient="horz" pos="1608"/>
        <p:guide pos="3787"/>
        <p:guide pos="1422"/>
        <p:guide pos="3137"/>
        <p:guide pos="4659"/>
        <p:guide pos="215"/>
        <p:guide pos="21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3128"/>
        <p:guide pos="2141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016" y="0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322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016" y="9433322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77D1E3E8-B2D7-4672-AC6C-A1487F0354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7542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6661"/>
            <a:ext cx="4984962" cy="446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322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3322"/>
            <a:ext cx="2945659" cy="49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BE008A19-A0A2-44B8-AAC4-88A4CAB0C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99628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4AD7A5E-9274-47C2-8093-D7C67E77DDD5}" type="slidenum">
              <a:rPr lang="en-US" altLang="zh-CN" smtClean="0"/>
              <a:pPr eaLnBrk="1" hangingPunct="1"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3D04022-FD7B-4DC9-BFEE-D6F040C29D29}" type="slidenum">
              <a:rPr lang="en-US" altLang="zh-CN" smtClean="0"/>
              <a:pPr eaLnBrk="1" hangingPunct="1"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5676A6-417C-4745-AE86-B2FCAF6BD110}" type="slidenum">
              <a:rPr lang="en-US" altLang="zh-CN" smtClean="0"/>
              <a:pPr eaLnBrk="1" hangingPunct="1"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6926F339-ACA9-40B7-BAD9-5141A0D42B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447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C51C0-589B-4D9C-BAB6-D360FCC29F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16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02DA4-DCF4-40C7-84F5-81C26EC8E2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848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EF08B-0264-4686-AA87-C2DF799ACB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52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6FB59-C060-4CD3-9941-BCCDE23AC3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49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6E30C-C4A6-4096-A512-45AE7D62FD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12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31C78-D7AB-4919-8539-F3AA4F1C0D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59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9DA61-931E-42BB-B8EB-272B1AB47A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45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E333D-8C74-4E89-A23E-3C6EC6FC07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374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A30E5-B505-46F9-9BEA-348382AC1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25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EE57A-0F24-4A6A-8C1F-AC93D7F1B4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136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7EF7D-032B-46B3-B349-5399F4AFAE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792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4D3B0-3E4B-479C-B05D-863B7D7AFA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352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57200"/>
            <a:ext cx="7772400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C4C9D-F8BD-4CE4-BD48-8898C8123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3071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DA49D-EF53-4D63-8D10-D0E5751780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5946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C0E64-BE78-405D-8FF6-3B202937B7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3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bg2"/>
                </a:solidFill>
                <a:ea typeface="+mn-ea"/>
              </a:defRPr>
            </a:lvl1pPr>
          </a:lstStyle>
          <a:p>
            <a:pPr>
              <a:defRPr/>
            </a:pPr>
            <a:fld id="{A25CE3E0-0E91-4AED-97D7-C1A41115D6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2.wmf"/><Relationship Id="rId7" Type="http://schemas.openxmlformats.org/officeDocument/2006/relationships/image" Target="../media/image2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3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9356B79-BD4F-B023-574B-135025E36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" y="3769744"/>
            <a:ext cx="4547411" cy="3075856"/>
          </a:xfrm>
          <a:prstGeom prst="rect">
            <a:avLst/>
          </a:prstGeom>
        </p:spPr>
      </p:pic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839" y="14536"/>
            <a:ext cx="8410754" cy="769938"/>
          </a:xfrm>
          <a:noFill/>
        </p:spPr>
        <p:txBody>
          <a:bodyPr/>
          <a:lstStyle/>
          <a:p>
            <a:pPr eaLnBrk="1" hangingPunct="1"/>
            <a:r>
              <a:rPr lang="en-US" altLang="zh-CN" sz="6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  </a:t>
            </a:r>
            <a:r>
              <a:rPr lang="zh-CN" altLang="en-US" sz="5400" b="1" dirty="0">
                <a:solidFill>
                  <a:srgbClr val="FF0000"/>
                </a:solidFill>
                <a:latin typeface="+mn-lt"/>
                <a:ea typeface="隶书" pitchFamily="49" charset="-122"/>
              </a:rPr>
              <a:t>机械设计基础</a:t>
            </a:r>
            <a:r>
              <a:rPr lang="zh-CN" altLang="en-US" sz="3600" b="1" dirty="0">
                <a:solidFill>
                  <a:srgbClr val="FF0000"/>
                </a:solidFill>
                <a:latin typeface="+mn-lt"/>
                <a:ea typeface="隶书" pitchFamily="49" charset="-122"/>
              </a:rPr>
              <a:t>（</a:t>
            </a:r>
            <a:r>
              <a:rPr lang="en-US" altLang="zh-CN" sz="3600" b="1" dirty="0">
                <a:solidFill>
                  <a:srgbClr val="FF0000"/>
                </a:solidFill>
                <a:latin typeface="+mn-lt"/>
                <a:ea typeface="隶书" pitchFamily="49" charset="-122"/>
              </a:rPr>
              <a:t>1</a:t>
            </a:r>
            <a:r>
              <a:rPr lang="zh-CN" altLang="en-US" sz="3600" b="1" dirty="0">
                <a:solidFill>
                  <a:srgbClr val="FF0000"/>
                </a:solidFill>
                <a:latin typeface="+mn-lt"/>
                <a:ea typeface="隶书" pitchFamily="49" charset="-122"/>
              </a:rPr>
              <a:t>）</a:t>
            </a:r>
            <a:endParaRPr lang="en-US" altLang="zh-CN" sz="3600" dirty="0">
              <a:latin typeface="+mn-lt"/>
              <a:ea typeface="隶书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59454" y="651522"/>
            <a:ext cx="7263441" cy="550587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Tx/>
              <a:buNone/>
            </a:pPr>
            <a:r>
              <a:rPr lang="en-US" altLang="zh-CN" sz="2800" b="1" dirty="0">
                <a:ea typeface="黑体" pitchFamily="2" charset="-122"/>
              </a:rPr>
              <a:t>Fundamentals of Mechanical  Design  (1)</a:t>
            </a:r>
          </a:p>
          <a:p>
            <a:pPr eaLnBrk="1" hangingPunct="1">
              <a:buClr>
                <a:schemeClr val="tx1"/>
              </a:buClr>
              <a:buFontTx/>
              <a:buNone/>
            </a:pPr>
            <a:endParaRPr lang="en-US" altLang="zh-CN" sz="2800" b="1" dirty="0">
              <a:ea typeface="黑体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3929C2-BE13-F11B-C018-5F17DA465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9158"/>
          <a:stretch/>
        </p:blipFill>
        <p:spPr>
          <a:xfrm>
            <a:off x="4174391" y="3773514"/>
            <a:ext cx="4966224" cy="307585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ADC647E-4FBA-0C9B-A2FD-8893D434C4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73" b="35472"/>
          <a:stretch/>
        </p:blipFill>
        <p:spPr>
          <a:xfrm>
            <a:off x="2073253" y="1202109"/>
            <a:ext cx="4583459" cy="26489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179" y="451826"/>
            <a:ext cx="8423275" cy="6097106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40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授课教师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zh-CN" sz="2800" b="1" dirty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主讲教师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姓    名： </a:t>
            </a:r>
            <a:r>
              <a:rPr lang="zh-CN" altLang="en-US" sz="2800" b="1" dirty="0">
                <a:latin typeface="华文行楷" pitchFamily="2" charset="-122"/>
                <a:ea typeface="华文行楷" pitchFamily="2" charset="-122"/>
              </a:rPr>
              <a:t>李铁民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博士 副教授 博士生导师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工作单位： 机械工程系 制造工程研究所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办公地址： 李兆基科技大楼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A907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电    话：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62792792(O)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18601176830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Email      </a:t>
            </a:r>
            <a:r>
              <a:rPr lang="zh-CN" altLang="en-US" sz="2400" dirty="0">
                <a:ea typeface="黑体" pitchFamily="2" charset="-122"/>
              </a:rPr>
              <a:t>：   </a:t>
            </a:r>
            <a:r>
              <a:rPr lang="en-US" altLang="zh-CN" sz="2400" dirty="0">
                <a:ea typeface="黑体" pitchFamily="2" charset="-122"/>
              </a:rPr>
              <a:t>litm@tsinghua.edu.cn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altLang="zh-CN" sz="2400" dirty="0"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3200" b="1" dirty="0">
                <a:solidFill>
                  <a:srgbClr val="FF3300"/>
                </a:solidFill>
                <a:ea typeface="黑体" pitchFamily="2" charset="-122"/>
              </a:rPr>
              <a:t>助       教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姓        名：  </a:t>
            </a:r>
            <a:r>
              <a:rPr lang="zh-CN" altLang="en-US" sz="2800" b="1" dirty="0">
                <a:latin typeface="华文行楷" pitchFamily="2" charset="-122"/>
                <a:ea typeface="华文行楷" pitchFamily="2" charset="-122"/>
              </a:rPr>
              <a:t>王越</a:t>
            </a:r>
            <a:r>
              <a:rPr lang="zh-CN" altLang="en-US" sz="2800" b="1" dirty="0">
                <a:ea typeface="黑体" pitchFamily="2" charset="-122"/>
              </a:rPr>
              <a:t>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博士研究生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办公地址：   李兆基科技大楼</a:t>
            </a:r>
            <a:r>
              <a:rPr lang="en-US" altLang="zh-CN" sz="2400" dirty="0">
                <a:ea typeface="黑体" pitchFamily="2" charset="-122"/>
              </a:rPr>
              <a:t>A903-3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电        话：   </a:t>
            </a:r>
            <a:r>
              <a:rPr lang="en-US" altLang="zh-CN" sz="2400" dirty="0">
                <a:ea typeface="黑体" pitchFamily="2" charset="-122"/>
              </a:rPr>
              <a:t>18518982275</a:t>
            </a:r>
            <a:r>
              <a:rPr lang="zh-CN" altLang="en-US" sz="2400" dirty="0">
                <a:ea typeface="黑体" pitchFamily="2" charset="-122"/>
              </a:rPr>
              <a:t>（</a:t>
            </a:r>
            <a:r>
              <a:rPr lang="en-US" altLang="zh-CN" sz="2400" dirty="0">
                <a:ea typeface="黑体" pitchFamily="2" charset="-122"/>
              </a:rPr>
              <a:t>C</a:t>
            </a:r>
            <a:r>
              <a:rPr lang="zh-CN" altLang="en-US" sz="2400" dirty="0"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Email      </a:t>
            </a:r>
            <a:r>
              <a:rPr lang="zh-CN" altLang="en-US" sz="2400" dirty="0">
                <a:ea typeface="黑体" pitchFamily="2" charset="-122"/>
              </a:rPr>
              <a:t>：    </a:t>
            </a:r>
            <a:r>
              <a:rPr lang="en-US" altLang="zh-CN" sz="2400" dirty="0">
                <a:ea typeface="黑体" pitchFamily="2" charset="-122"/>
              </a:rPr>
              <a:t>wang-y23@mails.tsinghua.edu.cn</a:t>
            </a:r>
            <a:endParaRPr lang="zh-CN" altLang="en-US" sz="2400" dirty="0"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ChangeArrowheads="1"/>
          </p:cNvSpPr>
          <p:nvPr/>
        </p:nvSpPr>
        <p:spPr bwMode="auto">
          <a:xfrm>
            <a:off x="284209" y="210876"/>
            <a:ext cx="8461753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None/>
            </a:pPr>
            <a:r>
              <a:rPr lang="en-US" altLang="zh-CN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教材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《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机械制图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》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田凌 主编，清华大学出版社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《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机械制图习题集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》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田凌 主编，清华大学出版社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zh-CN" altLang="en-US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 参考</a:t>
            </a:r>
            <a:r>
              <a:rPr lang="zh-CN" altLang="en-US" sz="2800" dirty="0">
                <a:solidFill>
                  <a:srgbClr val="FF3300"/>
                </a:solidFill>
                <a:ea typeface="黑体" pitchFamily="2" charset="-122"/>
              </a:rPr>
              <a:t>教材</a:t>
            </a:r>
            <a:endParaRPr lang="zh-CN" altLang="en-US" sz="2800" dirty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   《Engineering Graphics》(8th edition). 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Frederick E. </a:t>
            </a:r>
            <a:r>
              <a:rPr lang="en-US" altLang="zh-CN" sz="2400" dirty="0" err="1">
                <a:ea typeface="黑体" pitchFamily="2" charset="-122"/>
              </a:rPr>
              <a:t>Giesecke</a:t>
            </a:r>
            <a:r>
              <a:rPr lang="en-US" altLang="zh-CN" sz="2400" dirty="0">
                <a:ea typeface="黑体" pitchFamily="2" charset="-122"/>
              </a:rPr>
              <a:t>.    </a:t>
            </a:r>
            <a:r>
              <a:rPr lang="zh-CN" altLang="en-US" sz="2400" dirty="0">
                <a:ea typeface="黑体" pitchFamily="2" charset="-122"/>
              </a:rPr>
              <a:t>高等教育出版社</a:t>
            </a:r>
            <a:r>
              <a:rPr lang="en-US" altLang="zh-CN" sz="2400" dirty="0">
                <a:ea typeface="黑体" pitchFamily="2" charset="-122"/>
              </a:rPr>
              <a:t>, 2005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26520" y="3379558"/>
            <a:ext cx="847764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3300"/>
                </a:solidFill>
                <a:ea typeface="黑体" pitchFamily="2" charset="-122"/>
              </a:rPr>
              <a:t>答疑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1. </a:t>
            </a:r>
            <a:r>
              <a:rPr lang="zh-CN" altLang="en-US" sz="2400" dirty="0">
                <a:ea typeface="黑体" pitchFamily="2" charset="-122"/>
              </a:rPr>
              <a:t>线上答疑（扫码进群）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2. </a:t>
            </a:r>
            <a:r>
              <a:rPr lang="zh-CN" altLang="en-US" sz="2400" dirty="0">
                <a:ea typeface="黑体" pitchFamily="2" charset="-122"/>
              </a:rPr>
              <a:t>线下答疑（单独约时间）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    </a:t>
            </a:r>
            <a:r>
              <a:rPr lang="zh-CN" altLang="en-US" sz="2400" dirty="0">
                <a:ea typeface="黑体" pitchFamily="2" charset="-122"/>
              </a:rPr>
              <a:t>地点：李兆基科技大楼</a:t>
            </a:r>
            <a:r>
              <a:rPr lang="en-US" altLang="zh-CN" sz="2400" dirty="0">
                <a:ea typeface="黑体" pitchFamily="2" charset="-122"/>
              </a:rPr>
              <a:t>A907</a:t>
            </a:r>
            <a:endParaRPr lang="en-US" altLang="zh-CN" sz="2400" dirty="0">
              <a:solidFill>
                <a:srgbClr val="FF3300"/>
              </a:solidFill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3. </a:t>
            </a:r>
            <a:r>
              <a:rPr lang="zh-CN" altLang="en-US" sz="2400" dirty="0">
                <a:ea typeface="黑体" pitchFamily="2" charset="-122"/>
              </a:rPr>
              <a:t>全校集中线下答疑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   </a:t>
            </a:r>
            <a:r>
              <a:rPr lang="zh-CN" altLang="en-US" sz="2400" dirty="0">
                <a:ea typeface="黑体" pitchFamily="2" charset="-122"/>
              </a:rPr>
              <a:t>周一 至 周五，下午 </a:t>
            </a:r>
            <a:r>
              <a:rPr lang="en-US" altLang="zh-CN" sz="2400" dirty="0">
                <a:ea typeface="黑体" pitchFamily="2" charset="-122"/>
              </a:rPr>
              <a:t>13:30</a:t>
            </a:r>
            <a:r>
              <a:rPr lang="zh-CN" altLang="en-US" sz="2400" dirty="0">
                <a:ea typeface="黑体" pitchFamily="2" charset="-122"/>
              </a:rPr>
              <a:t>－</a:t>
            </a:r>
            <a:r>
              <a:rPr lang="en-US" altLang="zh-CN" sz="2400" dirty="0">
                <a:ea typeface="黑体" pitchFamily="2" charset="-122"/>
              </a:rPr>
              <a:t>16:30 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ea typeface="黑体" pitchFamily="2" charset="-122"/>
              </a:rPr>
              <a:t>    地点：新水</a:t>
            </a:r>
            <a:r>
              <a:rPr lang="en-US" altLang="zh-CN" sz="2400" dirty="0">
                <a:ea typeface="黑体" pitchFamily="2" charset="-122"/>
              </a:rPr>
              <a:t>313</a:t>
            </a:r>
            <a:r>
              <a:rPr lang="zh-CN" altLang="en-US" sz="2400" dirty="0">
                <a:ea typeface="黑体" pitchFamily="2" charset="-122"/>
              </a:rPr>
              <a:t>（机械制图模型室）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   </a:t>
            </a:r>
            <a:r>
              <a:rPr lang="zh-CN" altLang="en-US" sz="2400" dirty="0">
                <a:ea typeface="黑体" pitchFamily="2" charset="-122"/>
              </a:rPr>
              <a:t>答疑教师：李峥</a:t>
            </a:r>
            <a:endParaRPr lang="en-US" altLang="zh-CN" sz="2400" dirty="0">
              <a:solidFill>
                <a:srgbClr val="FF3300"/>
              </a:solidFill>
              <a:ea typeface="黑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7D4C44-58C9-CD08-9E1E-77BE345E0E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9" t="27296" r="15921" b="34968"/>
          <a:stretch/>
        </p:blipFill>
        <p:spPr>
          <a:xfrm>
            <a:off x="6116125" y="3284672"/>
            <a:ext cx="2907102" cy="35308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2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2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386658" y="213635"/>
            <a:ext cx="8477646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rgbClr val="FF3300"/>
                </a:solidFill>
                <a:ea typeface="黑体" pitchFamily="2" charset="-122"/>
              </a:rPr>
              <a:t>作业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周日中午</a:t>
            </a:r>
            <a:r>
              <a:rPr lang="en-US" altLang="zh-CN" sz="2400" dirty="0">
                <a:ea typeface="黑体" pitchFamily="2" charset="-122"/>
              </a:rPr>
              <a:t>13:00</a:t>
            </a:r>
            <a:r>
              <a:rPr lang="zh-CN" altLang="en-US" sz="2400" dirty="0">
                <a:ea typeface="黑体" pitchFamily="2" charset="-122"/>
              </a:rPr>
              <a:t>之前交至：李兆基科技大楼</a:t>
            </a:r>
            <a:r>
              <a:rPr lang="en-US" altLang="zh-CN" sz="2400" dirty="0">
                <a:ea typeface="黑体" pitchFamily="2" charset="-122"/>
              </a:rPr>
              <a:t>A</a:t>
            </a:r>
            <a:r>
              <a:rPr lang="zh-CN" altLang="en-US" sz="2400" dirty="0">
                <a:ea typeface="黑体" pitchFamily="2" charset="-122"/>
              </a:rPr>
              <a:t>区</a:t>
            </a:r>
            <a:r>
              <a:rPr lang="en-US" altLang="zh-CN" sz="2400" dirty="0">
                <a:ea typeface="黑体" pitchFamily="2" charset="-122"/>
              </a:rPr>
              <a:t>9</a:t>
            </a:r>
            <a:r>
              <a:rPr lang="zh-CN" altLang="en-US" sz="2400" dirty="0">
                <a:ea typeface="黑体" pitchFamily="2" charset="-122"/>
              </a:rPr>
              <a:t>楼报箱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                                               （姓名：李铁民）</a:t>
            </a:r>
            <a:endParaRPr lang="en-US" altLang="zh-CN" sz="2400" dirty="0">
              <a:ea typeface="黑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2" t="5134" r="6639" b="6350"/>
          <a:stretch/>
        </p:blipFill>
        <p:spPr>
          <a:xfrm rot="5400000">
            <a:off x="290489" y="3698299"/>
            <a:ext cx="1947137" cy="1559857"/>
          </a:xfrm>
          <a:prstGeom prst="rect">
            <a:avLst/>
          </a:prstGeom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264" y="4239826"/>
            <a:ext cx="1070401" cy="103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86" y="1505120"/>
            <a:ext cx="2093610" cy="10797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09102" y="1896113"/>
            <a:ext cx="3206500" cy="240487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 bwMode="auto">
          <a:xfrm flipH="1">
            <a:off x="2070271" y="4739552"/>
            <a:ext cx="64069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3244947" y="2601033"/>
            <a:ext cx="1" cy="162395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 flipH="1">
            <a:off x="4137596" y="2073356"/>
            <a:ext cx="320347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 flipV="1">
            <a:off x="4797950" y="3098551"/>
            <a:ext cx="2531635" cy="61051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/>
          </a:ln>
          <a:effectLst/>
        </p:spPr>
      </p:cxnSp>
      <p:pic>
        <p:nvPicPr>
          <p:cNvPr id="27652" name="Picture 4" descr="https://ss1.bdstatic.com/70cFvXSh_Q1YnxGkpoWK1HF6hhy/it/u=5480139,3297452632&amp;fm=26&amp;gp=0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585" y="2848232"/>
            <a:ext cx="1534719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386658" y="5807622"/>
            <a:ext cx="847764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ea typeface="黑体" pitchFamily="2" charset="-122"/>
              </a:rPr>
              <a:t>周三上课前发还，课上讲解。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</a:rPr>
              <a:t>    * 所有作业必须有教师签字。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3295C7C-365B-7FAE-F53E-FC913B8F5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713" y="4039058"/>
            <a:ext cx="23162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1600" dirty="0">
                <a:ea typeface="黑体" pitchFamily="2" charset="-122"/>
              </a:rPr>
              <a:t>左数第</a:t>
            </a:r>
            <a:r>
              <a:rPr lang="en-US" altLang="zh-CN" sz="1600" dirty="0">
                <a:ea typeface="黑体" pitchFamily="2" charset="-122"/>
              </a:rPr>
              <a:t>1</a:t>
            </a:r>
            <a:r>
              <a:rPr lang="zh-CN" altLang="en-US" sz="1600" dirty="0">
                <a:ea typeface="黑体" pitchFamily="2" charset="-122"/>
              </a:rPr>
              <a:t>列，下数第</a:t>
            </a:r>
            <a:r>
              <a:rPr lang="en-US" altLang="zh-CN" sz="1600" dirty="0">
                <a:ea typeface="黑体" pitchFamily="2" charset="-122"/>
              </a:rPr>
              <a:t>2</a:t>
            </a:r>
            <a:r>
              <a:rPr lang="zh-CN" altLang="en-US" sz="1600" dirty="0">
                <a:ea typeface="黑体" pitchFamily="2" charset="-122"/>
              </a:rPr>
              <a:t>行</a:t>
            </a:r>
            <a:endParaRPr lang="zh-CN" altLang="en-US" sz="1600" dirty="0">
              <a:solidFill>
                <a:srgbClr val="FF0000"/>
              </a:solidFill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uiExpand="1" build="p"/>
      <p:bldP spid="21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ChangeArrowheads="1"/>
          </p:cNvSpPr>
          <p:nvPr/>
        </p:nvSpPr>
        <p:spPr bwMode="auto">
          <a:xfrm>
            <a:off x="225364" y="3446889"/>
            <a:ext cx="876054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评分办法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期中考试，第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周周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晚上，开卷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1600" dirty="0">
                <a:solidFill>
                  <a:srgbClr val="7030A0"/>
                </a:solidFill>
                <a:latin typeface="黑体" pitchFamily="2" charset="-122"/>
                <a:ea typeface="黑体" pitchFamily="2" charset="-122"/>
              </a:rPr>
              <a:t>教科书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，卷面成绩占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20%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2.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期末考试，第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17-18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周，开卷</a:t>
            </a:r>
            <a:r>
              <a:rPr lang="zh-CN" altLang="en-US" sz="16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1600" dirty="0">
                <a:solidFill>
                  <a:srgbClr val="7030A0"/>
                </a:solidFill>
                <a:latin typeface="黑体" pitchFamily="2" charset="-122"/>
                <a:ea typeface="黑体" pitchFamily="2" charset="-122"/>
              </a:rPr>
              <a:t>教科书</a:t>
            </a:r>
            <a:r>
              <a:rPr lang="zh-CN" altLang="en-US" sz="1600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）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，卷面成绩占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50%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平时成绩占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30%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习题集作业 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10%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计算机绘图实践 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20%</a:t>
            </a:r>
          </a:p>
        </p:txBody>
      </p:sp>
      <p:sp>
        <p:nvSpPr>
          <p:cNvPr id="195588" name="Rectangle 4"/>
          <p:cNvSpPr>
            <a:spLocks noChangeArrowheads="1"/>
          </p:cNvSpPr>
          <p:nvPr/>
        </p:nvSpPr>
        <p:spPr bwMode="auto">
          <a:xfrm>
            <a:off x="243384" y="262428"/>
            <a:ext cx="8900616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教学资源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课件、习题答案、辅助材料、教学建议和意见：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华文行楷" pitchFamily="2" charset="-122"/>
                <a:ea typeface="华文行楷" pitchFamily="2" charset="-122"/>
              </a:rPr>
              <a:t>    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清华大学信息门户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→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网络学堂 </a:t>
            </a:r>
            <a:r>
              <a:rPr lang="zh-CN" altLang="en-US" sz="2400" dirty="0">
                <a:ea typeface="黑体" pitchFamily="2" charset="-122"/>
              </a:rPr>
              <a:t>（</a:t>
            </a:r>
            <a:r>
              <a:rPr lang="en-US" altLang="zh-CN" sz="2400" u="sng" dirty="0">
                <a:solidFill>
                  <a:srgbClr val="FF0000"/>
                </a:solidFill>
                <a:ea typeface="黑体" pitchFamily="2" charset="-122"/>
              </a:rPr>
              <a:t>http://info.tsinghua.edu.cn</a:t>
            </a:r>
            <a:r>
              <a:rPr lang="zh-CN" altLang="en-US" sz="2400" dirty="0">
                <a:ea typeface="黑体" pitchFamily="2" charset="-122"/>
              </a:rPr>
              <a:t>）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2. </a:t>
            </a:r>
            <a:r>
              <a:rPr lang="zh-CN" altLang="en-US" sz="2400" dirty="0">
                <a:ea typeface="黑体" pitchFamily="2" charset="-122"/>
              </a:rPr>
              <a:t>“工程制图” </a:t>
            </a:r>
            <a:r>
              <a:rPr lang="en-US" altLang="zh-CN" sz="2400" dirty="0">
                <a:ea typeface="黑体" pitchFamily="2" charset="-122"/>
              </a:rPr>
              <a:t>MOOC</a:t>
            </a:r>
            <a:r>
              <a:rPr lang="zh-CN" altLang="en-US" sz="2400" dirty="0">
                <a:ea typeface="黑体" pitchFamily="2" charset="-122"/>
              </a:rPr>
              <a:t>平台（提供全部内容的视频授课）：    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       </a:t>
            </a:r>
            <a:r>
              <a:rPr lang="zh-CN" altLang="en-US" sz="2400" dirty="0">
                <a:ea typeface="黑体" pitchFamily="2" charset="-122"/>
              </a:rPr>
              <a:t>进入“学堂在线”（</a:t>
            </a:r>
            <a:r>
              <a:rPr lang="en-US" altLang="zh-CN" sz="2400" u="sng" dirty="0">
                <a:solidFill>
                  <a:srgbClr val="FF0000"/>
                </a:solidFill>
                <a:ea typeface="黑体" pitchFamily="2" charset="-122"/>
              </a:rPr>
              <a:t>https://next.xuetangx.com</a:t>
            </a:r>
            <a:r>
              <a:rPr lang="zh-CN" altLang="en-US" sz="2400" dirty="0">
                <a:ea typeface="黑体" pitchFamily="2" charset="-122"/>
              </a:rPr>
              <a:t>），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        </a:t>
            </a:r>
            <a:r>
              <a:rPr lang="zh-CN" altLang="en-US" sz="2400" dirty="0">
                <a:ea typeface="黑体" pitchFamily="2" charset="-122"/>
              </a:rPr>
              <a:t>搜索“工程制图”。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5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5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5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5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5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5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55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6" grpId="0" build="p"/>
      <p:bldP spid="19558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5"/>
          <p:cNvSpPr>
            <a:spLocks noChangeArrowheads="1"/>
          </p:cNvSpPr>
          <p:nvPr/>
        </p:nvSpPr>
        <p:spPr bwMode="auto">
          <a:xfrm>
            <a:off x="715993" y="154876"/>
            <a:ext cx="82554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2026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年秋季“机械设计基础（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）”教学日历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(3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学时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周）</a:t>
            </a:r>
          </a:p>
        </p:txBody>
      </p:sp>
      <p:graphicFrame>
        <p:nvGraphicFramePr>
          <p:cNvPr id="21573" name="Group 6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993167"/>
              </p:ext>
            </p:extLst>
          </p:nvPr>
        </p:nvGraphicFramePr>
        <p:xfrm>
          <a:off x="1644760" y="921518"/>
          <a:ext cx="5669903" cy="5172693"/>
        </p:xfrm>
        <a:graphic>
          <a:graphicData uri="http://schemas.openxmlformats.org/drawingml/2006/table">
            <a:tbl>
              <a:tblPr/>
              <a:tblGrid>
                <a:gridCol w="60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序号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讲课内容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序号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讲课内容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9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绪论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点、直线和平面的投影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9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78963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组合体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78963"/>
                        </a:buClr>
                        <a:buSzTx/>
                        <a:buFont typeface="Monotype Sorts" pitchFamily="2" charset="2"/>
                        <a:buNone/>
                        <a:tabLst/>
                        <a:defRPr/>
                      </a:pPr>
                      <a:endParaRPr kumimoji="1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几何元素相对位置关系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10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轴测图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换面法、综合问题求解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11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视图，剖视图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4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12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计算机绘图实践</a:t>
                      </a:r>
                      <a:r>
                        <a:rPr kumimoji="1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3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5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基本体的投影</a:t>
                      </a:r>
                      <a:endParaRPr lang="zh-CN" altLang="en-US" sz="1400" dirty="0"/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13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其他剖视图，断面图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规定画法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平面及直线与立体相交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14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尺寸标注</a:t>
                      </a:r>
                      <a:endParaRPr lang="zh-CN" altLang="en-US" dirty="0"/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2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7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计算机绘图实践</a:t>
                      </a:r>
                      <a:r>
                        <a:rPr kumimoji="1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15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计算机绘图实践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9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8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立体与立体相交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周六晚上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19:00-21:00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期中考试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16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课题总结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50835" y="6076044"/>
            <a:ext cx="503477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注：“计算机绘图实践”上课地点在“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CAD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教学中心”（李兆基科技大楼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A302-1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，容量：</a:t>
            </a:r>
            <a:r>
              <a:rPr lang="en-US" altLang="zh-CN" sz="1600" dirty="0">
                <a:latin typeface="黑体" pitchFamily="2" charset="-122"/>
                <a:ea typeface="黑体" pitchFamily="2" charset="-122"/>
              </a:rPr>
              <a:t>49</a:t>
            </a:r>
            <a:r>
              <a:rPr lang="zh-CN" altLang="en-US" sz="1600" dirty="0">
                <a:latin typeface="黑体" pitchFamily="2" charset="-122"/>
                <a:ea typeface="黑体" pitchFamily="2" charset="-122"/>
              </a:rPr>
              <a:t>人）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5116EB-8901-7694-0962-DA253850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9" t="7190" r="4658" b="11384"/>
          <a:stretch/>
        </p:blipFill>
        <p:spPr>
          <a:xfrm>
            <a:off x="2337758" y="2887476"/>
            <a:ext cx="1362974" cy="46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7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626" y="97952"/>
            <a:ext cx="8637588" cy="7715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第一讲</a:t>
            </a:r>
            <a:endParaRPr lang="zh-CN" altLang="en-US" sz="5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957430"/>
            <a:ext cx="8802687" cy="240190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CN" altLang="en-US" sz="36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内容：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绪论     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点的投影</a:t>
            </a: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直线的投影</a:t>
            </a: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平面的投影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endParaRPr lang="zh-CN" altLang="en-US" sz="28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4902354" y="984481"/>
            <a:ext cx="4164012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P.3-6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P.11-30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P.81-102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（* 建议：课件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看书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作业）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4979988" y="3525499"/>
            <a:ext cx="4164012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P4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2,3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P5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2,4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P6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7,8,10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P7: 4,5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P8: 7,8</a:t>
            </a:r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>
            <a:off x="341313" y="3587468"/>
            <a:ext cx="463867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下讲内容：</a:t>
            </a:r>
            <a:r>
              <a:rPr lang="en-US" altLang="zh-CN" sz="24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(P.103-115)</a:t>
            </a:r>
            <a:endParaRPr lang="zh-CN" altLang="en-US" sz="2400" dirty="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几何元素相对位置关系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（* 建议：本讲预习）</a:t>
            </a:r>
          </a:p>
        </p:txBody>
      </p:sp>
      <p:sp>
        <p:nvSpPr>
          <p:cNvPr id="2" name="矩形 1"/>
          <p:cNvSpPr/>
          <p:nvPr/>
        </p:nvSpPr>
        <p:spPr>
          <a:xfrm>
            <a:off x="4879612" y="6135707"/>
            <a:ext cx="4187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</a:rPr>
              <a:t>*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</a:rPr>
              <a:t>存在多解必须标出有几个解）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4605" y="67727"/>
            <a:ext cx="5867400" cy="7620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第一章  绪论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943" y="856329"/>
            <a:ext cx="8234362" cy="1153626"/>
          </a:xfrm>
          <a:noFill/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b="1" dirty="0">
                <a:ea typeface="黑体" pitchFamily="2" charset="-122"/>
              </a:rPr>
              <a:t>§1.1  </a:t>
            </a:r>
            <a:r>
              <a:rPr lang="zh-CN" altLang="en-US" b="1" dirty="0">
                <a:ea typeface="黑体" pitchFamily="2" charset="-122"/>
              </a:rPr>
              <a:t>课程的性质、任务、内容和要求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一．性质</a:t>
            </a:r>
          </a:p>
        </p:txBody>
      </p:sp>
      <p:pic>
        <p:nvPicPr>
          <p:cNvPr id="2" name="Picture 37" descr="990622en1">
            <a:extLst>
              <a:ext uri="{FF2B5EF4-FFF2-40B4-BE49-F238E27FC236}">
                <a16:creationId xmlns:a16="http://schemas.microsoft.com/office/drawing/2014/main" id="{00C1B648-54F1-5524-634E-E3DDE281D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9" b="14325"/>
          <a:stretch/>
        </p:blipFill>
        <p:spPr bwMode="auto">
          <a:xfrm>
            <a:off x="4891881" y="3519592"/>
            <a:ext cx="2284413" cy="241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7" descr="15">
            <a:extLst>
              <a:ext uri="{FF2B5EF4-FFF2-40B4-BE49-F238E27FC236}">
                <a16:creationId xmlns:a16="http://schemas.microsoft.com/office/drawing/2014/main" id="{4BE6CA54-7441-AB61-27DF-9517B78D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030" y="3731454"/>
            <a:ext cx="1162050" cy="174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 descr="The Great Wall - Beijing, China">
            <a:extLst>
              <a:ext uri="{FF2B5EF4-FFF2-40B4-BE49-F238E27FC236}">
                <a16:creationId xmlns:a16="http://schemas.microsoft.com/office/drawing/2014/main" id="{386C5E41-5DE6-7B0D-DAE6-FD407346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1705" y="2216979"/>
            <a:ext cx="1434410" cy="1514475"/>
          </a:xfrm>
          <a:prstGeom prst="rect">
            <a:avLst/>
          </a:prstGeom>
          <a:noFill/>
        </p:spPr>
      </p:pic>
      <p:pic>
        <p:nvPicPr>
          <p:cNvPr id="5" name="Picture 21" descr="2005715133452">
            <a:extLst>
              <a:ext uri="{FF2B5EF4-FFF2-40B4-BE49-F238E27FC236}">
                <a16:creationId xmlns:a16="http://schemas.microsoft.com/office/drawing/2014/main" id="{7E3BAD6C-18FA-5122-E714-2877BD650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405" y="3458434"/>
            <a:ext cx="2850252" cy="1529894"/>
          </a:xfrm>
          <a:prstGeom prst="rect">
            <a:avLst/>
          </a:prstGeom>
          <a:noFill/>
        </p:spPr>
      </p:pic>
      <p:pic>
        <p:nvPicPr>
          <p:cNvPr id="6" name="Picture 25" descr="589BCD8E9F48DB140AC78F8DB3390172">
            <a:extLst>
              <a:ext uri="{FF2B5EF4-FFF2-40B4-BE49-F238E27FC236}">
                <a16:creationId xmlns:a16="http://schemas.microsoft.com/office/drawing/2014/main" id="{D763C67C-90FD-D574-B55A-4060B9E57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20" b="12514"/>
          <a:stretch/>
        </p:blipFill>
        <p:spPr>
          <a:xfrm>
            <a:off x="278405" y="2216979"/>
            <a:ext cx="2841625" cy="1242968"/>
          </a:xfrm>
          <a:prstGeom prst="rect">
            <a:avLst/>
          </a:prstGeom>
          <a:noFill/>
        </p:spPr>
      </p:pic>
      <p:pic>
        <p:nvPicPr>
          <p:cNvPr id="8" name="Picture 29" descr="凯越前45度">
            <a:extLst>
              <a:ext uri="{FF2B5EF4-FFF2-40B4-BE49-F238E27FC236}">
                <a16:creationId xmlns:a16="http://schemas.microsoft.com/office/drawing/2014/main" id="{60E18597-3E5D-0049-C2D6-D017B05014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0" t="18788" r="7255" b="16281"/>
          <a:stretch/>
        </p:blipFill>
        <p:spPr bwMode="auto">
          <a:xfrm>
            <a:off x="4744529" y="1957411"/>
            <a:ext cx="2716723" cy="156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1" descr="DSCF0020">
            <a:extLst>
              <a:ext uri="{FF2B5EF4-FFF2-40B4-BE49-F238E27FC236}">
                <a16:creationId xmlns:a16="http://schemas.microsoft.com/office/drawing/2014/main" id="{C836A7EA-0330-0F73-67A6-978E97CE3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1784108"/>
            <a:ext cx="1568450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5" descr="nasa_002">
            <a:extLst>
              <a:ext uri="{FF2B5EF4-FFF2-40B4-BE49-F238E27FC236}">
                <a16:creationId xmlns:a16="http://schemas.microsoft.com/office/drawing/2014/main" id="{03149160-0360-6E08-248B-4E6887828B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9"/>
          <a:stretch/>
        </p:blipFill>
        <p:spPr bwMode="auto">
          <a:xfrm>
            <a:off x="7185818" y="3478888"/>
            <a:ext cx="1802607" cy="2467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7245C5AC-EE91-E577-C94B-1C126FC80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21" y="6043044"/>
            <a:ext cx="824865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非机械设计：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无动作的设计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 机械设计：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有动作的设计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AutoShape 3"/>
          <p:cNvSpPr>
            <a:spLocks noChangeArrowheads="1"/>
          </p:cNvSpPr>
          <p:nvPr/>
        </p:nvSpPr>
        <p:spPr bwMode="auto">
          <a:xfrm>
            <a:off x="809625" y="1782763"/>
            <a:ext cx="466725" cy="109537"/>
          </a:xfrm>
          <a:prstGeom prst="rightArrow">
            <a:avLst>
              <a:gd name="adj1" fmla="val 50000"/>
              <a:gd name="adj2" fmla="val 106522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98664" name="Rectangle 8"/>
          <p:cNvSpPr>
            <a:spLocks noChangeArrowheads="1"/>
          </p:cNvSpPr>
          <p:nvPr/>
        </p:nvSpPr>
        <p:spPr bwMode="auto">
          <a:xfrm>
            <a:off x="8218488" y="1206500"/>
            <a:ext cx="64928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制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造</a:t>
            </a:r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37475" y="60268"/>
            <a:ext cx="660486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华文隶书" pitchFamily="2" charset="-122"/>
                <a:ea typeface="华文隶书" pitchFamily="2" charset="-122"/>
              </a:rPr>
              <a:t>机械系统的设计和制造过程</a:t>
            </a:r>
          </a:p>
        </p:txBody>
      </p:sp>
      <p:sp>
        <p:nvSpPr>
          <p:cNvPr id="198672" name="Rectangle 16"/>
          <p:cNvSpPr>
            <a:spLocks noChangeArrowheads="1"/>
          </p:cNvSpPr>
          <p:nvPr/>
        </p:nvSpPr>
        <p:spPr bwMode="auto">
          <a:xfrm>
            <a:off x="185738" y="1152525"/>
            <a:ext cx="649287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zh-CN" sz="2400">
                <a:latin typeface="Arial Narrow" pitchFamily="34" charset="0"/>
                <a:ea typeface="楷体_GB2312" pitchFamily="49" charset="-122"/>
              </a:rPr>
              <a:t>F1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赛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车</a:t>
            </a:r>
          </a:p>
        </p:txBody>
      </p:sp>
      <p:sp>
        <p:nvSpPr>
          <p:cNvPr id="198673" name="Rectangle 17"/>
          <p:cNvSpPr>
            <a:spLocks noChangeArrowheads="1"/>
          </p:cNvSpPr>
          <p:nvPr/>
        </p:nvSpPr>
        <p:spPr bwMode="auto">
          <a:xfrm>
            <a:off x="1279525" y="930275"/>
            <a:ext cx="1751013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动力性能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燃料经济性能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制动性能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操纵稳定性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行驶平顺性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98674" name="Rectangle 18"/>
          <p:cNvSpPr>
            <a:spLocks noChangeArrowheads="1"/>
          </p:cNvSpPr>
          <p:nvPr/>
        </p:nvSpPr>
        <p:spPr bwMode="auto">
          <a:xfrm>
            <a:off x="3233738" y="933450"/>
            <a:ext cx="18700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发动机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底盘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轮胎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电器设备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98676" name="Rectangle 20"/>
          <p:cNvSpPr>
            <a:spLocks noChangeArrowheads="1"/>
          </p:cNvSpPr>
          <p:nvPr/>
        </p:nvSpPr>
        <p:spPr bwMode="auto">
          <a:xfrm>
            <a:off x="5267325" y="941388"/>
            <a:ext cx="2784475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结构参数优化和设计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零部件的强度校核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零部件的寿命预测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车身的美工造型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模拟计算和仿真分析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pic>
        <p:nvPicPr>
          <p:cNvPr id="198690" name="Picture 34" descr="F2007-3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5113" y="3116263"/>
            <a:ext cx="5764212" cy="3602037"/>
          </a:xfrm>
          <a:noFill/>
        </p:spPr>
      </p:pic>
      <p:sp>
        <p:nvSpPr>
          <p:cNvPr id="198695" name="Line 39"/>
          <p:cNvSpPr>
            <a:spLocks noChangeShapeType="1"/>
          </p:cNvSpPr>
          <p:nvPr/>
        </p:nvSpPr>
        <p:spPr bwMode="auto">
          <a:xfrm>
            <a:off x="2959100" y="18383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696" name="Line 40"/>
          <p:cNvSpPr>
            <a:spLocks noChangeShapeType="1"/>
          </p:cNvSpPr>
          <p:nvPr/>
        </p:nvSpPr>
        <p:spPr bwMode="auto">
          <a:xfrm>
            <a:off x="7799388" y="18637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697" name="Line 41"/>
          <p:cNvSpPr>
            <a:spLocks noChangeShapeType="1"/>
          </p:cNvSpPr>
          <p:nvPr/>
        </p:nvSpPr>
        <p:spPr bwMode="auto">
          <a:xfrm>
            <a:off x="4797425" y="18557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9" grpId="0" animBg="1"/>
      <p:bldP spid="198664" grpId="0"/>
      <p:bldP spid="198672" grpId="0"/>
      <p:bldP spid="198673" grpId="0"/>
      <p:bldP spid="198674" grpId="0"/>
      <p:bldP spid="198676" grpId="0"/>
      <p:bldP spid="198695" grpId="0" animBg="1"/>
      <p:bldP spid="198696" grpId="0" animBg="1"/>
      <p:bldP spid="19869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2"/>
          <p:cNvSpPr>
            <a:spLocks noChangeArrowheads="1"/>
          </p:cNvSpPr>
          <p:nvPr/>
        </p:nvSpPr>
        <p:spPr bwMode="auto">
          <a:xfrm>
            <a:off x="809625" y="1782763"/>
            <a:ext cx="466725" cy="109537"/>
          </a:xfrm>
          <a:prstGeom prst="rightArrow">
            <a:avLst>
              <a:gd name="adj1" fmla="val 50000"/>
              <a:gd name="adj2" fmla="val 106522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8218488" y="1206500"/>
            <a:ext cx="64928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制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造</a:t>
            </a: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185738" y="1152525"/>
            <a:ext cx="649287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zh-CN" sz="2400">
                <a:latin typeface="Arial Narrow" pitchFamily="34" charset="0"/>
                <a:ea typeface="楷体_GB2312" pitchFamily="49" charset="-122"/>
              </a:rPr>
              <a:t>F1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赛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车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1279525" y="930275"/>
            <a:ext cx="1751013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动力性能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燃料经济性能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制动性能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操纵稳定性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行驶平顺性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3233738" y="933450"/>
            <a:ext cx="187007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发动机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底盘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轮胎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电器设备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5267325" y="941388"/>
            <a:ext cx="2784475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结构参数优化和设计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零部件的强度校核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零部件的寿命预测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车身的美工造型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模拟计算和仿真分析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2959100" y="18383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7799388" y="186372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4797425" y="18557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35" name="AutoShape 15"/>
          <p:cNvSpPr>
            <a:spLocks noChangeArrowheads="1"/>
          </p:cNvSpPr>
          <p:nvPr/>
        </p:nvSpPr>
        <p:spPr bwMode="auto">
          <a:xfrm>
            <a:off x="1298150" y="4606925"/>
            <a:ext cx="466725" cy="109538"/>
          </a:xfrm>
          <a:prstGeom prst="rightArrow">
            <a:avLst>
              <a:gd name="adj1" fmla="val 50000"/>
              <a:gd name="adj2" fmla="val 106521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9936" name="Rectangle 16"/>
          <p:cNvSpPr>
            <a:spLocks noChangeArrowheads="1"/>
          </p:cNvSpPr>
          <p:nvPr/>
        </p:nvSpPr>
        <p:spPr bwMode="auto">
          <a:xfrm>
            <a:off x="7007891" y="4018651"/>
            <a:ext cx="48736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zh-CN" altLang="en-US" dirty="0">
                <a:latin typeface="Arial Narrow" pitchFamily="34" charset="0"/>
                <a:ea typeface="楷体_GB2312" pitchFamily="49" charset="-122"/>
              </a:rPr>
              <a:t>制</a:t>
            </a:r>
            <a:endParaRPr lang="en-US" altLang="zh-CN" dirty="0">
              <a:latin typeface="Arial Narrow" pitchFamily="34" charset="0"/>
              <a:ea typeface="楷体_GB2312" pitchFamily="49" charset="-122"/>
            </a:endParaRPr>
          </a:p>
          <a:p>
            <a:pPr marL="342900" indent="-342900" algn="ctr">
              <a:spcBef>
                <a:spcPct val="20000"/>
              </a:spcBef>
            </a:pPr>
            <a:endParaRPr lang="en-US" altLang="zh-CN" dirty="0">
              <a:latin typeface="Arial Narrow" pitchFamily="34" charset="0"/>
              <a:ea typeface="楷体_GB2312" pitchFamily="49" charset="-122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zh-CN" altLang="en-US" dirty="0">
                <a:latin typeface="Arial Narrow" pitchFamily="34" charset="0"/>
                <a:ea typeface="楷体_GB2312" pitchFamily="49" charset="-122"/>
              </a:rPr>
              <a:t>造</a:t>
            </a:r>
            <a:endParaRPr lang="en-US" altLang="zh-CN" dirty="0">
              <a:latin typeface="Arial Narrow" pitchFamily="34" charset="0"/>
              <a:ea typeface="楷体_GB2312" pitchFamily="49" charset="-122"/>
            </a:endParaRPr>
          </a:p>
          <a:p>
            <a:pPr marL="342900" indent="-342900" algn="ctr">
              <a:spcBef>
                <a:spcPct val="20000"/>
              </a:spcBef>
            </a:pPr>
            <a:endParaRPr lang="zh-CN" altLang="en-US" dirty="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37" name="Rectangle 17"/>
          <p:cNvSpPr>
            <a:spLocks noChangeArrowheads="1"/>
          </p:cNvSpPr>
          <p:nvPr/>
        </p:nvSpPr>
        <p:spPr bwMode="auto">
          <a:xfrm>
            <a:off x="674263" y="3976688"/>
            <a:ext cx="649287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需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>
                <a:latin typeface="Arial Narrow" pitchFamily="34" charset="0"/>
                <a:ea typeface="楷体_GB2312" pitchFamily="49" charset="-122"/>
              </a:rPr>
              <a:t>求</a:t>
            </a:r>
          </a:p>
        </p:txBody>
      </p:sp>
      <p:sp>
        <p:nvSpPr>
          <p:cNvPr id="209938" name="Rectangle 18"/>
          <p:cNvSpPr>
            <a:spLocks noChangeArrowheads="1"/>
          </p:cNvSpPr>
          <p:nvPr/>
        </p:nvSpPr>
        <p:spPr bwMode="auto">
          <a:xfrm>
            <a:off x="1736300" y="4216400"/>
            <a:ext cx="12319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需求分析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目标界定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39" name="Rectangle 19"/>
          <p:cNvSpPr>
            <a:spLocks noChangeArrowheads="1"/>
          </p:cNvSpPr>
          <p:nvPr/>
        </p:nvSpPr>
        <p:spPr bwMode="auto">
          <a:xfrm>
            <a:off x="3377775" y="4103688"/>
            <a:ext cx="131127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概念设计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总体设计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原理设计</a:t>
            </a:r>
          </a:p>
        </p:txBody>
      </p:sp>
      <p:sp>
        <p:nvSpPr>
          <p:cNvPr id="209940" name="Rectangle 20"/>
          <p:cNvSpPr>
            <a:spLocks noChangeArrowheads="1"/>
          </p:cNvSpPr>
          <p:nvPr/>
        </p:nvSpPr>
        <p:spPr bwMode="auto">
          <a:xfrm>
            <a:off x="5122438" y="4240213"/>
            <a:ext cx="1311275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结构设计</a:t>
            </a:r>
          </a:p>
          <a:p>
            <a:pPr algn="ctr" eaLnBrk="1" hangingPunct="1">
              <a:buClrTx/>
              <a:buFontTx/>
              <a:buNone/>
            </a:pPr>
            <a:r>
              <a:rPr lang="zh-CN" altLang="en-US" sz="2000">
                <a:latin typeface="Arial Narrow" pitchFamily="34" charset="0"/>
                <a:ea typeface="楷体_GB2312" pitchFamily="49" charset="-122"/>
              </a:rPr>
              <a:t>详细设计</a:t>
            </a:r>
            <a:endParaRPr lang="zh-CN" altLang="en-US" sz="2400">
              <a:latin typeface="Arial Narrow" pitchFamily="34" charset="0"/>
              <a:ea typeface="楷体_GB2312" pitchFamily="49" charset="-122"/>
            </a:endParaRPr>
          </a:p>
        </p:txBody>
      </p:sp>
      <p:sp>
        <p:nvSpPr>
          <p:cNvPr id="209943" name="Rectangle 23"/>
          <p:cNvSpPr>
            <a:spLocks noChangeArrowheads="1"/>
          </p:cNvSpPr>
          <p:nvPr/>
        </p:nvSpPr>
        <p:spPr bwMode="auto">
          <a:xfrm>
            <a:off x="8014366" y="4005263"/>
            <a:ext cx="48736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zh-CN" altLang="en-US" sz="2400" dirty="0">
                <a:latin typeface="Arial Narrow" pitchFamily="34" charset="0"/>
                <a:ea typeface="楷体_GB2312" pitchFamily="49" charset="-122"/>
              </a:rPr>
              <a:t>产</a:t>
            </a:r>
          </a:p>
          <a:p>
            <a:pPr algn="ctr" eaLnBrk="1" hangingPunct="1">
              <a:buClrTx/>
              <a:buFontTx/>
              <a:buNone/>
            </a:pPr>
            <a:endParaRPr lang="zh-CN" altLang="en-US" sz="2400" dirty="0">
              <a:latin typeface="Arial Narrow" pitchFamily="34" charset="0"/>
              <a:ea typeface="楷体_GB2312" pitchFamily="49" charset="-122"/>
            </a:endParaRPr>
          </a:p>
          <a:p>
            <a:pPr algn="ctr" eaLnBrk="1" hangingPunct="1">
              <a:buClrTx/>
              <a:buFontTx/>
              <a:buNone/>
            </a:pPr>
            <a:r>
              <a:rPr lang="zh-CN" altLang="en-US" sz="2400" dirty="0">
                <a:latin typeface="Arial Narrow" pitchFamily="34" charset="0"/>
                <a:ea typeface="楷体_GB2312" pitchFamily="49" charset="-122"/>
              </a:rPr>
              <a:t>品</a:t>
            </a:r>
          </a:p>
        </p:txBody>
      </p:sp>
      <p:sp>
        <p:nvSpPr>
          <p:cNvPr id="209944" name="Line 24"/>
          <p:cNvSpPr>
            <a:spLocks noChangeShapeType="1"/>
          </p:cNvSpPr>
          <p:nvPr/>
        </p:nvSpPr>
        <p:spPr bwMode="auto">
          <a:xfrm>
            <a:off x="2926925" y="4678363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5" name="Line 25"/>
          <p:cNvSpPr>
            <a:spLocks noChangeShapeType="1"/>
          </p:cNvSpPr>
          <p:nvPr/>
        </p:nvSpPr>
        <p:spPr bwMode="auto">
          <a:xfrm>
            <a:off x="4652538" y="4662488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6" name="Line 26"/>
          <p:cNvSpPr>
            <a:spLocks noChangeShapeType="1"/>
          </p:cNvSpPr>
          <p:nvPr/>
        </p:nvSpPr>
        <p:spPr bwMode="auto">
          <a:xfrm>
            <a:off x="7541291" y="4667250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9947" name="Line 27"/>
          <p:cNvSpPr>
            <a:spLocks noChangeShapeType="1"/>
          </p:cNvSpPr>
          <p:nvPr/>
        </p:nvSpPr>
        <p:spPr bwMode="auto">
          <a:xfrm>
            <a:off x="6340050" y="4651375"/>
            <a:ext cx="54610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25CDE07-3E35-EB89-7F75-FF62047B0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5" y="60268"/>
            <a:ext cx="660486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3600" dirty="0">
                <a:solidFill>
                  <a:srgbClr val="FF3300"/>
                </a:solidFill>
                <a:latin typeface="华文隶书" pitchFamily="2" charset="-122"/>
                <a:ea typeface="华文隶书" pitchFamily="2" charset="-122"/>
              </a:rPr>
              <a:t>机械系统的设计和制造过程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0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0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5" grpId="0" animBg="1"/>
      <p:bldP spid="209936" grpId="0"/>
      <p:bldP spid="209937" grpId="0"/>
      <p:bldP spid="209938" grpId="0"/>
      <p:bldP spid="209939" grpId="0"/>
      <p:bldP spid="209940" grpId="0"/>
      <p:bldP spid="209943" grpId="0"/>
      <p:bldP spid="209944" grpId="0" animBg="1"/>
      <p:bldP spid="209945" grpId="0" animBg="1"/>
      <p:bldP spid="209946" grpId="0" animBg="1"/>
      <p:bldP spid="2099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609600" y="681038"/>
            <a:ext cx="7921214" cy="430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0" dirty="0">
                <a:latin typeface="黑体" pitchFamily="2" charset="-122"/>
                <a:ea typeface="黑体" pitchFamily="2" charset="-122"/>
              </a:rPr>
              <a:t>二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．任务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</a:t>
            </a:r>
            <a:endParaRPr lang="en-US" altLang="zh-CN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传授工程设计表达的基本理论和方法。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培养空间的形象思维能力。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塑造严谨求实的科研作风。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425589"/>
            <a:ext cx="8802687" cy="684212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三．内容</a:t>
            </a:r>
            <a:endParaRPr lang="zh-CN" altLang="en-US" sz="32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650" y="1787664"/>
            <a:ext cx="8437563" cy="3856037"/>
          </a:xfrm>
        </p:spPr>
        <p:txBody>
          <a:bodyPr/>
          <a:lstStyle/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几何元素的投影 </a:t>
            </a:r>
            <a:r>
              <a:rPr lang="en-US" altLang="zh-CN" sz="2400" b="1" dirty="0">
                <a:ea typeface="黑体" pitchFamily="2" charset="-122"/>
              </a:rPr>
              <a:t>— </a:t>
            </a:r>
            <a:r>
              <a:rPr lang="zh-CN" altLang="en-US" sz="2400" b="1" dirty="0">
                <a:ea typeface="黑体" pitchFamily="2" charset="-122"/>
              </a:rPr>
              <a:t>点、线、面的投影规律及其相对位置关系。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 lvl="1" eaLnBrk="1" hangingPunct="1">
              <a:buFont typeface="Monotype Sorts" pitchFamily="2" charset="2"/>
              <a:buNone/>
            </a:pP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立体的投影 </a:t>
            </a:r>
            <a:r>
              <a:rPr lang="en-US" altLang="zh-CN" sz="2400" b="1" dirty="0">
                <a:ea typeface="黑体" pitchFamily="2" charset="-122"/>
              </a:rPr>
              <a:t>— </a:t>
            </a:r>
            <a:r>
              <a:rPr lang="zh-CN" altLang="en-US" sz="2400" b="1" dirty="0">
                <a:ea typeface="黑体" pitchFamily="2" charset="-122"/>
              </a:rPr>
              <a:t>立体的构成和投影规律。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形体表达 </a:t>
            </a:r>
            <a:r>
              <a:rPr lang="en-US" altLang="zh-CN" sz="2400" b="1" dirty="0">
                <a:ea typeface="黑体" pitchFamily="2" charset="-122"/>
              </a:rPr>
              <a:t>— </a:t>
            </a:r>
            <a:r>
              <a:rPr lang="zh-CN" altLang="en-US" sz="2400" b="1" dirty="0">
                <a:ea typeface="黑体" pitchFamily="2" charset="-122"/>
              </a:rPr>
              <a:t>在国家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标准指引下，如何表达复杂形体。</a:t>
            </a:r>
          </a:p>
          <a:p>
            <a:pPr lvl="1" eaLnBrk="1" hangingPunct="1">
              <a:buFont typeface="Monotype Sorts" pitchFamily="2" charset="2"/>
              <a:buNone/>
            </a:pP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4.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机械制图 </a:t>
            </a:r>
            <a:r>
              <a:rPr lang="en-US" altLang="zh-CN" sz="2400" b="1" dirty="0">
                <a:ea typeface="黑体" pitchFamily="2" charset="-122"/>
              </a:rPr>
              <a:t>— 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零件图、装配图的绘制和读图方法。</a:t>
            </a:r>
          </a:p>
          <a:p>
            <a:pPr lvl="1" eaLnBrk="1" hangingPunct="1">
              <a:buFont typeface="Monotype Sorts" pitchFamily="2" charset="2"/>
              <a:buNone/>
            </a:pPr>
            <a:endParaRPr lang="en-US" altLang="zh-CN" b="1" dirty="0">
              <a:latin typeface="黑体" pitchFamily="2" charset="-122"/>
              <a:ea typeface="黑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C83F031-BAC0-7E7A-AEB8-D831D78357A7}"/>
              </a:ext>
            </a:extLst>
          </p:cNvPr>
          <p:cNvCxnSpPr/>
          <p:nvPr/>
        </p:nvCxnSpPr>
        <p:spPr bwMode="auto">
          <a:xfrm>
            <a:off x="43032" y="4571990"/>
            <a:ext cx="9057939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16787" y="58201"/>
            <a:ext cx="8899525" cy="678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36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四．学习方法</a:t>
            </a:r>
          </a:p>
          <a:p>
            <a:pPr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     When I hear, I forget. When I see, I remember. When I do, I understand.                                   </a:t>
            </a:r>
            <a:r>
              <a:rPr lang="zh-CN" altLang="en-US" sz="2400" dirty="0">
                <a:ea typeface="黑体" pitchFamily="2" charset="-122"/>
              </a:rPr>
              <a:t>－ </a:t>
            </a:r>
            <a:r>
              <a:rPr lang="en-US" altLang="zh-CN" sz="2400" dirty="0">
                <a:ea typeface="黑体" pitchFamily="2" charset="-122"/>
              </a:rPr>
              <a:t>Ancient Chinese proverb</a:t>
            </a:r>
            <a:endParaRPr lang="zh-CN" altLang="en-US" sz="36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问题：</a:t>
            </a:r>
            <a:r>
              <a:rPr lang="zh-CN" altLang="en-US" sz="2800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如何快速提高形象思维能力？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形象思维的过程：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        形象感受－形象储存－形象判断－形象改造－形象描述。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原则一：增加形象感受的机会。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看典型立体模型。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模型室：新水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313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（周一至周五 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13:30 - 16:30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            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李兆基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A305 (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周一至周五 </a:t>
            </a:r>
            <a:r>
              <a:rPr lang="en-US" altLang="zh-CN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8:00 - 22:00)</a:t>
            </a:r>
          </a:p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    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作业认真。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       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重构立体模型</a:t>
            </a:r>
            <a:endParaRPr lang="en-US" altLang="zh-CN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None/>
            </a:pPr>
            <a:endParaRPr lang="zh-CN" altLang="en-US" sz="20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原则二：注重解题方法。</a:t>
            </a:r>
            <a:endParaRPr lang="en-US" altLang="zh-CN" sz="2400" dirty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                   </a:t>
            </a:r>
            <a:r>
              <a:rPr lang="en-US" altLang="zh-CN" sz="2400" dirty="0">
                <a:ea typeface="黑体" pitchFamily="2" charset="-122"/>
              </a:rPr>
              <a:t>3.  </a:t>
            </a:r>
            <a:r>
              <a:rPr lang="zh-CN" altLang="en-US" sz="2400" dirty="0">
                <a:ea typeface="黑体" pitchFamily="2" charset="-122"/>
              </a:rPr>
              <a:t>答疑。 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 欢迎答疑，我们一起解决问题）</a:t>
            </a:r>
            <a:endParaRPr lang="zh-CN" altLang="en-US" sz="2000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2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2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136911" y="69990"/>
            <a:ext cx="8802687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五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．要求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1.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作业拆成单页，写明学号、班号和姓名，全部保留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2.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上课携带：书、习题集、绘图用具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023" y="1578095"/>
            <a:ext cx="891857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绘图用具包括：</a:t>
            </a:r>
            <a:endParaRPr lang="zh-CN" altLang="en-US" sz="2400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ClrTx/>
              <a:buSzTx/>
              <a:buFontTx/>
              <a:buChar char="•"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  两支铅笔，一支画粗线（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HB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），一支画细线（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）；</a:t>
            </a:r>
            <a:endParaRPr lang="en-US" altLang="zh-CN" sz="2000" dirty="0">
              <a:latin typeface="黑体" pitchFamily="2" charset="-122"/>
              <a:ea typeface="黑体" pitchFamily="2" charset="-122"/>
            </a:endParaRPr>
          </a:p>
          <a:p>
            <a:pPr lvl="1" eaLnBrk="1" hangingPunct="1">
              <a:buClrTx/>
              <a:buSzTx/>
              <a:buFontTx/>
              <a:buChar char="•"/>
            </a:pP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zh-CN" sz="2000" dirty="0">
                <a:latin typeface="黑体" pitchFamily="2" charset="-122"/>
                <a:ea typeface="黑体" pitchFamily="2" charset="-122"/>
              </a:rPr>
              <a:t>削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笔</a:t>
            </a:r>
            <a:r>
              <a:rPr lang="zh-CN" altLang="zh-CN" sz="2000" dirty="0">
                <a:latin typeface="黑体" pitchFamily="2" charset="-122"/>
                <a:ea typeface="黑体" pitchFamily="2" charset="-122"/>
              </a:rPr>
              <a:t>刀，橡皮，三角尺（</a:t>
            </a:r>
            <a:r>
              <a:rPr lang="en-US" altLang="zh-CN" sz="2000" dirty="0">
                <a:latin typeface="黑体" pitchFamily="2" charset="-122"/>
                <a:ea typeface="黑体" pitchFamily="2" charset="-122"/>
              </a:rPr>
              <a:t>&gt;1</a:t>
            </a:r>
            <a:r>
              <a:rPr lang="zh-CN" altLang="zh-CN" sz="2000" i="1" dirty="0">
                <a:latin typeface="ISOCPEUR" pitchFamily="34" charset="0"/>
                <a:ea typeface="黑体" pitchFamily="2" charset="-122"/>
              </a:rPr>
              <a:t>50 </a:t>
            </a:r>
            <a:r>
              <a:rPr lang="en-US" altLang="zh-CN" sz="2000" dirty="0">
                <a:latin typeface="ISOCPEUR" pitchFamily="34" charset="0"/>
                <a:ea typeface="黑体" pitchFamily="2" charset="-122"/>
              </a:rPr>
              <a:t>mm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）、</a:t>
            </a:r>
            <a:r>
              <a:rPr lang="zh-CN" altLang="zh-CN" sz="2000" dirty="0">
                <a:latin typeface="黑体" pitchFamily="2" charset="-122"/>
                <a:ea typeface="黑体" pitchFamily="2" charset="-122"/>
              </a:rPr>
              <a:t>圆规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9" t="14403" r="7027" b="37505"/>
          <a:stretch>
            <a:fillRect/>
          </a:stretch>
        </p:blipFill>
        <p:spPr bwMode="auto">
          <a:xfrm>
            <a:off x="537860" y="3033623"/>
            <a:ext cx="4884438" cy="216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0" t="28714" r="16953" b="34866"/>
          <a:stretch>
            <a:fillRect/>
          </a:stretch>
        </p:blipFill>
        <p:spPr bwMode="auto">
          <a:xfrm>
            <a:off x="4699444" y="4227387"/>
            <a:ext cx="4402896" cy="170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8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137632"/>
              </p:ext>
            </p:extLst>
          </p:nvPr>
        </p:nvGraphicFramePr>
        <p:xfrm>
          <a:off x="1300163" y="1233965"/>
          <a:ext cx="60960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2" imgW="11134800" imgH="1876320" progId="Paint.Picture">
                  <p:embed/>
                </p:oleObj>
              </mc:Choice>
              <mc:Fallback>
                <p:oleObj name="BMP 图像" r:id="rId2" imgW="11134800" imgH="187632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233965"/>
                        <a:ext cx="60960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346289"/>
              </p:ext>
            </p:extLst>
          </p:nvPr>
        </p:nvGraphicFramePr>
        <p:xfrm>
          <a:off x="1436688" y="2408715"/>
          <a:ext cx="440848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4" imgW="7666667" imgH="1628571" progId="Paint.Picture">
                  <p:embed/>
                </p:oleObj>
              </mc:Choice>
              <mc:Fallback>
                <p:oleObj name="位图图像" r:id="rId4" imgW="7666667" imgH="1628571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2408715"/>
                        <a:ext cx="440848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735731"/>
              </p:ext>
            </p:extLst>
          </p:nvPr>
        </p:nvGraphicFramePr>
        <p:xfrm>
          <a:off x="1406525" y="3562828"/>
          <a:ext cx="44354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6" imgW="7714286" imgH="1647619" progId="Paint.Picture">
                  <p:embed/>
                </p:oleObj>
              </mc:Choice>
              <mc:Fallback>
                <p:oleObj name="位图图像" r:id="rId6" imgW="7714286" imgH="1647619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3562828"/>
                        <a:ext cx="443547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183962"/>
              </p:ext>
            </p:extLst>
          </p:nvPr>
        </p:nvGraphicFramePr>
        <p:xfrm>
          <a:off x="1398588" y="4742340"/>
          <a:ext cx="4443412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8" imgW="7725853" imgH="1924319" progId="Paint.Picture">
                  <p:embed/>
                </p:oleObj>
              </mc:Choice>
              <mc:Fallback>
                <p:oleObj name="位图图像" r:id="rId8" imgW="7725853" imgH="1924319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4742340"/>
                        <a:ext cx="4443412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153025" y="4737578"/>
            <a:ext cx="1230313" cy="517525"/>
            <a:chOff x="3246" y="2781"/>
            <a:chExt cx="775" cy="326"/>
          </a:xfrm>
        </p:grpSpPr>
        <p:sp>
          <p:nvSpPr>
            <p:cNvPr id="23570" name="Line 10"/>
            <p:cNvSpPr>
              <a:spLocks noChangeShapeType="1"/>
            </p:cNvSpPr>
            <p:nvPr/>
          </p:nvSpPr>
          <p:spPr bwMode="auto">
            <a:xfrm flipV="1">
              <a:off x="3246" y="2872"/>
              <a:ext cx="62" cy="23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11"/>
            <p:cNvSpPr>
              <a:spLocks noChangeShapeType="1"/>
            </p:cNvSpPr>
            <p:nvPr/>
          </p:nvSpPr>
          <p:spPr bwMode="auto">
            <a:xfrm>
              <a:off x="3246" y="3106"/>
              <a:ext cx="480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12"/>
            <p:cNvSpPr>
              <a:spLocks noChangeShapeType="1"/>
            </p:cNvSpPr>
            <p:nvPr/>
          </p:nvSpPr>
          <p:spPr bwMode="auto">
            <a:xfrm flipV="1">
              <a:off x="3397" y="2788"/>
              <a:ext cx="84" cy="3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Line 13"/>
            <p:cNvSpPr>
              <a:spLocks noChangeShapeType="1"/>
            </p:cNvSpPr>
            <p:nvPr/>
          </p:nvSpPr>
          <p:spPr bwMode="auto">
            <a:xfrm>
              <a:off x="3313" y="2870"/>
              <a:ext cx="141" cy="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Arc 14"/>
            <p:cNvSpPr>
              <a:spLocks/>
            </p:cNvSpPr>
            <p:nvPr/>
          </p:nvSpPr>
          <p:spPr bwMode="auto">
            <a:xfrm>
              <a:off x="3399" y="2825"/>
              <a:ext cx="287" cy="278"/>
            </a:xfrm>
            <a:custGeom>
              <a:avLst/>
              <a:gdLst>
                <a:gd name="T0" fmla="*/ 0 w 21600"/>
                <a:gd name="T1" fmla="*/ 0 h 20921"/>
                <a:gd name="T2" fmla="*/ 0 w 21600"/>
                <a:gd name="T3" fmla="*/ 0 h 20921"/>
                <a:gd name="T4" fmla="*/ 0 w 21600"/>
                <a:gd name="T5" fmla="*/ 0 h 209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921"/>
                <a:gd name="T11" fmla="*/ 21600 w 21600"/>
                <a:gd name="T12" fmla="*/ 20921 h 209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921" fill="none" extrusionOk="0">
                  <a:moveTo>
                    <a:pt x="5373" y="-1"/>
                  </a:moveTo>
                  <a:cubicBezTo>
                    <a:pt x="14923" y="2452"/>
                    <a:pt x="21600" y="11061"/>
                    <a:pt x="21600" y="20921"/>
                  </a:cubicBezTo>
                </a:path>
                <a:path w="21600" h="20921" stroke="0" extrusionOk="0">
                  <a:moveTo>
                    <a:pt x="5373" y="-1"/>
                  </a:moveTo>
                  <a:cubicBezTo>
                    <a:pt x="14923" y="2452"/>
                    <a:pt x="21600" y="11061"/>
                    <a:pt x="21600" y="20921"/>
                  </a:cubicBezTo>
                  <a:lnTo>
                    <a:pt x="0" y="20921"/>
                  </a:lnTo>
                  <a:lnTo>
                    <a:pt x="5373" y="-1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Text Box 15"/>
            <p:cNvSpPr txBox="1">
              <a:spLocks noChangeArrowheads="1"/>
            </p:cNvSpPr>
            <p:nvPr/>
          </p:nvSpPr>
          <p:spPr bwMode="auto">
            <a:xfrm>
              <a:off x="3569" y="2781"/>
              <a:ext cx="4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rPr>
                <a:t>75</a:t>
              </a:r>
              <a:r>
                <a:rPr lang="en-US" altLang="zh-CN" sz="2000" i="1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  <a:cs typeface="ISOCP" pitchFamily="2" charset="0"/>
                </a:rPr>
                <a:t>°</a:t>
              </a:r>
            </a:p>
          </p:txBody>
        </p:sp>
      </p:grpSp>
      <p:grpSp>
        <p:nvGrpSpPr>
          <p:cNvPr id="23563" name="Group 16"/>
          <p:cNvGrpSpPr>
            <a:grpSpLocks/>
          </p:cNvGrpSpPr>
          <p:nvPr/>
        </p:nvGrpSpPr>
        <p:grpSpPr bwMode="auto">
          <a:xfrm>
            <a:off x="341313" y="369888"/>
            <a:ext cx="8805862" cy="519112"/>
            <a:chOff x="215" y="233"/>
            <a:chExt cx="5547" cy="327"/>
          </a:xfrm>
        </p:grpSpPr>
        <p:sp>
          <p:nvSpPr>
            <p:cNvPr id="23568" name="Rectangle 17"/>
            <p:cNvSpPr>
              <a:spLocks noChangeArrowheads="1"/>
            </p:cNvSpPr>
            <p:nvPr/>
          </p:nvSpPr>
          <p:spPr bwMode="auto">
            <a:xfrm>
              <a:off x="215" y="233"/>
              <a:ext cx="55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latin typeface="黑体" pitchFamily="2" charset="-122"/>
                  <a:ea typeface="黑体" pitchFamily="2" charset="-122"/>
                </a:rPr>
                <a:t> 3.</a:t>
              </a:r>
              <a:r>
                <a:rPr lang="zh-CN" altLang="en-US" sz="2800" dirty="0">
                  <a:latin typeface="黑体" pitchFamily="2" charset="-122"/>
                  <a:ea typeface="黑体" pitchFamily="2" charset="-122"/>
                </a:rPr>
                <a:t>字迹工整：</a:t>
              </a:r>
              <a:r>
                <a:rPr lang="zh-CN" altLang="en-US" sz="2400" dirty="0">
                  <a:latin typeface="黑体" pitchFamily="2" charset="-122"/>
                  <a:ea typeface="黑体" pitchFamily="2" charset="-122"/>
                </a:rPr>
                <a:t>字高 </a:t>
              </a:r>
              <a:r>
                <a:rPr lang="en-US" altLang="zh-CN" sz="2400" i="1" dirty="0">
                  <a:latin typeface="ISOCPEUR" pitchFamily="34" charset="0"/>
                  <a:ea typeface="仿宋_GB2312" pitchFamily="49" charset="-122"/>
                </a:rPr>
                <a:t>h</a:t>
              </a:r>
              <a:r>
                <a:rPr lang="en-US" altLang="zh-CN" sz="2400" i="1" dirty="0">
                  <a:latin typeface="黑体" pitchFamily="2" charset="-122"/>
                  <a:ea typeface="黑体" pitchFamily="2" charset="-122"/>
                </a:rPr>
                <a:t> </a:t>
              </a:r>
              <a:r>
                <a:rPr lang="en-US" altLang="zh-CN" sz="2400" dirty="0">
                  <a:latin typeface="黑体" pitchFamily="2" charset="-122"/>
                  <a:ea typeface="黑体" pitchFamily="2" charset="-122"/>
                </a:rPr>
                <a:t>= </a:t>
              </a:r>
              <a:r>
                <a:rPr lang="en-US" altLang="zh-CN" sz="2400" i="1" dirty="0">
                  <a:latin typeface="ISOCPEUR" pitchFamily="34" charset="0"/>
                  <a:ea typeface="黑体" pitchFamily="2" charset="-122"/>
                </a:rPr>
                <a:t>3.5 </a:t>
              </a:r>
              <a:r>
                <a:rPr lang="en-US" altLang="zh-CN" sz="2400" dirty="0">
                  <a:latin typeface="ISOCPEUR" pitchFamily="34" charset="0"/>
                  <a:ea typeface="黑体" pitchFamily="2" charset="-122"/>
                </a:rPr>
                <a:t>mm</a:t>
              </a:r>
              <a:r>
                <a:rPr lang="zh-CN" altLang="en-US" sz="2400" dirty="0">
                  <a:latin typeface="ISOCPEUR" pitchFamily="34" charset="0"/>
                  <a:ea typeface="黑体" pitchFamily="2" charset="-122"/>
                </a:rPr>
                <a:t>（字宽 </a:t>
              </a:r>
              <a:r>
                <a:rPr lang="en-US" altLang="zh-CN" sz="2400" dirty="0">
                  <a:latin typeface="黑体" pitchFamily="2" charset="-122"/>
                  <a:ea typeface="黑体" pitchFamily="2" charset="-122"/>
                </a:rPr>
                <a:t>= </a:t>
              </a:r>
              <a:r>
                <a:rPr lang="en-US" altLang="zh-CN" sz="2400" i="1" dirty="0">
                  <a:latin typeface="ISOCPEUR" pitchFamily="34" charset="0"/>
                  <a:ea typeface="仿宋_GB2312" pitchFamily="49" charset="-122"/>
                </a:rPr>
                <a:t>h</a:t>
              </a:r>
              <a:r>
                <a:rPr lang="en-US" altLang="zh-CN" sz="2400" dirty="0">
                  <a:latin typeface="黑体" pitchFamily="2" charset="-122"/>
                  <a:ea typeface="黑体" pitchFamily="2" charset="-122"/>
                </a:rPr>
                <a:t> /  </a:t>
              </a:r>
              <a:r>
                <a:rPr lang="en-US" altLang="zh-CN" sz="2400" i="1" dirty="0">
                  <a:latin typeface="ISOCPEUR" pitchFamily="34" charset="0"/>
                  <a:ea typeface="黑体" pitchFamily="2" charset="-122"/>
                </a:rPr>
                <a:t>2 </a:t>
              </a:r>
              <a:r>
                <a:rPr lang="zh-CN" altLang="en-US" sz="2400" dirty="0">
                  <a:latin typeface="ISOCPEUR" pitchFamily="34" charset="0"/>
                  <a:ea typeface="黑体" pitchFamily="2" charset="-122"/>
                </a:rPr>
                <a:t>）</a:t>
              </a:r>
            </a:p>
          </p:txBody>
        </p:sp>
        <p:sp>
          <p:nvSpPr>
            <p:cNvPr id="23569" name="Freeform 18"/>
            <p:cNvSpPr>
              <a:spLocks/>
            </p:cNvSpPr>
            <p:nvPr/>
          </p:nvSpPr>
          <p:spPr bwMode="auto">
            <a:xfrm>
              <a:off x="4305" y="332"/>
              <a:ext cx="303" cy="163"/>
            </a:xfrm>
            <a:custGeom>
              <a:avLst/>
              <a:gdLst>
                <a:gd name="T0" fmla="*/ 0 w 303"/>
                <a:gd name="T1" fmla="*/ 94 h 178"/>
                <a:gd name="T2" fmla="*/ 44 w 303"/>
                <a:gd name="T3" fmla="*/ 58 h 178"/>
                <a:gd name="T4" fmla="*/ 67 w 303"/>
                <a:gd name="T5" fmla="*/ 125 h 178"/>
                <a:gd name="T6" fmla="*/ 133 w 303"/>
                <a:gd name="T7" fmla="*/ 0 h 178"/>
                <a:gd name="T8" fmla="*/ 303 w 303"/>
                <a:gd name="T9" fmla="*/ 0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3"/>
                <a:gd name="T16" fmla="*/ 0 h 178"/>
                <a:gd name="T17" fmla="*/ 303 w 303"/>
                <a:gd name="T18" fmla="*/ 178 h 1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3" h="178">
                  <a:moveTo>
                    <a:pt x="0" y="133"/>
                  </a:moveTo>
                  <a:lnTo>
                    <a:pt x="44" y="82"/>
                  </a:lnTo>
                  <a:lnTo>
                    <a:pt x="67" y="178"/>
                  </a:lnTo>
                  <a:lnTo>
                    <a:pt x="133" y="0"/>
                  </a:lnTo>
                  <a:lnTo>
                    <a:pt x="30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45D780EE-3D42-96E5-23A6-783D33A5981F}"/>
              </a:ext>
            </a:extLst>
          </p:cNvPr>
          <p:cNvSpPr txBox="1"/>
          <p:nvPr/>
        </p:nvSpPr>
        <p:spPr>
          <a:xfrm>
            <a:off x="1351441" y="6142911"/>
            <a:ext cx="6515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字体：至少按照楷体书写。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0"/>
          <p:cNvSpPr>
            <a:spLocks noChangeArrowheads="1"/>
          </p:cNvSpPr>
          <p:nvPr/>
        </p:nvSpPr>
        <p:spPr bwMode="auto">
          <a:xfrm>
            <a:off x="644372" y="2037579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</a:pP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粗实线</a:t>
            </a:r>
            <a:r>
              <a:rPr lang="zh-CN" altLang="en-US" sz="2400" dirty="0">
                <a:latin typeface="宋体" pitchFamily="2" charset="-122"/>
              </a:rPr>
              <a:t>：线宽</a:t>
            </a:r>
            <a:r>
              <a:rPr lang="en-US" altLang="zh-CN" sz="2400" dirty="0"/>
              <a:t>d=0.7mm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solidFill>
                <a:srgbClr val="FF0000"/>
              </a:solidFill>
              <a:latin typeface="宋体" pitchFamily="2" charset="-122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细线</a:t>
            </a:r>
            <a:r>
              <a:rPr lang="zh-CN" altLang="en-US" sz="2400" dirty="0">
                <a:latin typeface="宋体" pitchFamily="2" charset="-122"/>
              </a:rPr>
              <a:t>：线宽</a:t>
            </a:r>
            <a:r>
              <a:rPr lang="en-US" altLang="zh-CN" sz="2400" dirty="0"/>
              <a:t>d=0.35mm</a:t>
            </a:r>
            <a:endParaRPr lang="en-US" altLang="zh-CN" b="0" dirty="0"/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itchFamily="2" charset="-122"/>
              </a:rPr>
              <a:t>  细实线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itchFamily="2" charset="-122"/>
              </a:rPr>
              <a:t>  虚线  	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itchFamily="2" charset="-122"/>
              </a:rPr>
              <a:t>  细点划线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宋体" pitchFamily="2" charset="-122"/>
              </a:rPr>
              <a:t>  波浪线</a:t>
            </a:r>
          </a:p>
        </p:txBody>
      </p:sp>
      <p:sp>
        <p:nvSpPr>
          <p:cNvPr id="24580" name="Line 21"/>
          <p:cNvSpPr>
            <a:spLocks noChangeShapeType="1"/>
          </p:cNvSpPr>
          <p:nvPr/>
        </p:nvSpPr>
        <p:spPr bwMode="auto">
          <a:xfrm>
            <a:off x="4799013" y="2748779"/>
            <a:ext cx="137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Line 22"/>
          <p:cNvSpPr>
            <a:spLocks noChangeShapeType="1"/>
          </p:cNvSpPr>
          <p:nvPr/>
        </p:nvSpPr>
        <p:spPr bwMode="auto">
          <a:xfrm>
            <a:off x="3498850" y="4101329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2" name="Line 23"/>
          <p:cNvSpPr>
            <a:spLocks noChangeShapeType="1"/>
          </p:cNvSpPr>
          <p:nvPr/>
        </p:nvSpPr>
        <p:spPr bwMode="auto">
          <a:xfrm>
            <a:off x="3481388" y="4461692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3" name="Line 24"/>
          <p:cNvSpPr>
            <a:spLocks noChangeShapeType="1"/>
          </p:cNvSpPr>
          <p:nvPr/>
        </p:nvSpPr>
        <p:spPr bwMode="auto">
          <a:xfrm>
            <a:off x="3471863" y="4928417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4" name="Rectangle 25"/>
          <p:cNvSpPr>
            <a:spLocks noChangeArrowheads="1"/>
          </p:cNvSpPr>
          <p:nvPr/>
        </p:nvSpPr>
        <p:spPr bwMode="auto">
          <a:xfrm>
            <a:off x="631825" y="544513"/>
            <a:ext cx="20208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黑体" pitchFamily="2" charset="-122"/>
              </a:rPr>
              <a:t>4. </a:t>
            </a:r>
            <a:r>
              <a:rPr lang="zh-CN" altLang="zh-CN" dirty="0">
                <a:ea typeface="黑体" pitchFamily="2" charset="-122"/>
              </a:rPr>
              <a:t>线型</a:t>
            </a:r>
            <a:endParaRPr lang="zh-CN" altLang="en-US" dirty="0">
              <a:ea typeface="黑体" pitchFamily="2" charset="-122"/>
            </a:endParaRPr>
          </a:p>
        </p:txBody>
      </p:sp>
      <p:sp>
        <p:nvSpPr>
          <p:cNvPr id="24585" name="Freeform 26"/>
          <p:cNvSpPr>
            <a:spLocks/>
          </p:cNvSpPr>
          <p:nvPr/>
        </p:nvSpPr>
        <p:spPr bwMode="auto">
          <a:xfrm>
            <a:off x="3416300" y="5322117"/>
            <a:ext cx="1981200" cy="165100"/>
          </a:xfrm>
          <a:custGeom>
            <a:avLst/>
            <a:gdLst>
              <a:gd name="T0" fmla="*/ 0 w 1248"/>
              <a:gd name="T1" fmla="*/ 2147483647 h 104"/>
              <a:gd name="T2" fmla="*/ 2147483647 w 1248"/>
              <a:gd name="T3" fmla="*/ 2147483647 h 104"/>
              <a:gd name="T4" fmla="*/ 2147483647 w 1248"/>
              <a:gd name="T5" fmla="*/ 2147483647 h 104"/>
              <a:gd name="T6" fmla="*/ 2147483647 w 1248"/>
              <a:gd name="T7" fmla="*/ 2147483647 h 104"/>
              <a:gd name="T8" fmla="*/ 2147483647 w 1248"/>
              <a:gd name="T9" fmla="*/ 2147483647 h 104"/>
              <a:gd name="T10" fmla="*/ 2147483647 w 1248"/>
              <a:gd name="T11" fmla="*/ 2147483647 h 1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48"/>
              <a:gd name="T19" fmla="*/ 0 h 104"/>
              <a:gd name="T20" fmla="*/ 1248 w 1248"/>
              <a:gd name="T21" fmla="*/ 104 h 1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48" h="104">
                <a:moveTo>
                  <a:pt x="0" y="56"/>
                </a:moveTo>
                <a:cubicBezTo>
                  <a:pt x="40" y="32"/>
                  <a:pt x="80" y="8"/>
                  <a:pt x="144" y="8"/>
                </a:cubicBezTo>
                <a:cubicBezTo>
                  <a:pt x="208" y="8"/>
                  <a:pt x="296" y="56"/>
                  <a:pt x="384" y="56"/>
                </a:cubicBezTo>
                <a:cubicBezTo>
                  <a:pt x="472" y="56"/>
                  <a:pt x="576" y="0"/>
                  <a:pt x="672" y="8"/>
                </a:cubicBezTo>
                <a:cubicBezTo>
                  <a:pt x="768" y="16"/>
                  <a:pt x="864" y="104"/>
                  <a:pt x="960" y="104"/>
                </a:cubicBezTo>
                <a:cubicBezTo>
                  <a:pt x="1056" y="104"/>
                  <a:pt x="1152" y="56"/>
                  <a:pt x="1248" y="8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28206" y="1495323"/>
            <a:ext cx="53387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各种线型具有明确的物理含义。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976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595690"/>
              </p:ext>
            </p:extLst>
          </p:nvPr>
        </p:nvGraphicFramePr>
        <p:xfrm>
          <a:off x="223838" y="827088"/>
          <a:ext cx="8478837" cy="4441851"/>
        </p:xfrm>
        <a:graphic>
          <a:graphicData uri="http://schemas.openxmlformats.org/drawingml/2006/table">
            <a:tbl>
              <a:tblPr/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1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图线名称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图线型式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图线宽度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一般应用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粗实线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可见轮廓线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细实线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尺寸线及尺寸界线、剖面线、重合断面的轮廓线、螺纹的牙底线及齿轮的齿根线、引出线、分界线及范围线、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辅助线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、不连续的同一表面的连线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波浪线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断裂处的边界线、视图和剖视的分界线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双折线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断裂处的边界线、视图和剖视的分界线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虚线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不可见轮廓线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、不可见过渡线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9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点画线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轴线、对称中心线、轨迹线、节圆及节线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0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双点画线</a:t>
                      </a:r>
                    </a:p>
                  </a:txBody>
                  <a:tcPr marT="45716" marB="4571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0.5d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cs typeface="Times New Roman" pitchFamily="18" charset="0"/>
                        </a:rPr>
                        <a:t>相邻辅助零件的轮廓线、极限位置的轮廓线、坯料的轮廓线、假想投影轮廓线</a:t>
                      </a:r>
                    </a:p>
                  </a:txBody>
                  <a:tcPr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5650" name="Picture 57" descr="B1-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1520825"/>
            <a:ext cx="1038225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1" name="Picture 58" descr="B1-1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181225"/>
            <a:ext cx="1057275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2" name="Picture 59" descr="B1-1-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2860675"/>
            <a:ext cx="10763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3" name="Picture 60" descr="B1-1-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3333750"/>
            <a:ext cx="10668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4" name="Picture 61" descr="B1-1-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3886200"/>
            <a:ext cx="101917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5" name="Picture 62" descr="B1-1-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4422775"/>
            <a:ext cx="1057275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56" name="Picture 63" descr="B1-1-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4930775"/>
            <a:ext cx="1076325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1"/>
          <p:cNvSpPr>
            <a:spLocks noChangeArrowheads="1"/>
          </p:cNvSpPr>
          <p:nvPr/>
        </p:nvSpPr>
        <p:spPr bwMode="auto">
          <a:xfrm>
            <a:off x="203200" y="203200"/>
            <a:ext cx="42338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>
                <a:ea typeface="黑体" pitchFamily="2" charset="-122"/>
              </a:rPr>
              <a:t>§1.2</a:t>
            </a:r>
            <a:r>
              <a:rPr lang="en-US" altLang="zh-CN" sz="40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4000">
                <a:latin typeface="黑体" pitchFamily="2" charset="-122"/>
                <a:ea typeface="黑体" pitchFamily="2" charset="-122"/>
              </a:rPr>
              <a:t>投影基础</a:t>
            </a:r>
            <a:endParaRPr lang="zh-CN" altLang="en-US" sz="40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7728" name="Text Box 32"/>
          <p:cNvSpPr txBox="1">
            <a:spLocks noChangeArrowheads="1"/>
          </p:cNvSpPr>
          <p:nvPr/>
        </p:nvSpPr>
        <p:spPr bwMode="auto">
          <a:xfrm>
            <a:off x="436563" y="4719638"/>
            <a:ext cx="33369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</a:rPr>
              <a:t>Gaspard Monge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黑体" pitchFamily="2" charset="-122"/>
              </a:rPr>
              <a:t> (1746 – 1818)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法国数学家</a:t>
            </a:r>
            <a:endParaRPr lang="zh-CN" altLang="en-US" sz="2400">
              <a:ea typeface="黑体" pitchFamily="2" charset="-122"/>
            </a:endParaRPr>
          </a:p>
        </p:txBody>
      </p:sp>
      <p:graphicFrame>
        <p:nvGraphicFramePr>
          <p:cNvPr id="157729" name="Object 33"/>
          <p:cNvGraphicFramePr>
            <a:graphicFrameLocks noChangeAspect="1"/>
          </p:cNvGraphicFramePr>
          <p:nvPr/>
        </p:nvGraphicFramePr>
        <p:xfrm>
          <a:off x="669925" y="1295400"/>
          <a:ext cx="2552700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2553056" imgH="3104762" progId="MSPhotoEd.3">
                  <p:embed/>
                </p:oleObj>
              </mc:Choice>
              <mc:Fallback>
                <p:oleObj name="Photo Editor 照片" r:id="rId2" imgW="2553056" imgH="3104762" progId="MSPhotoEd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1295400"/>
                        <a:ext cx="2552700" cy="310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3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700556"/>
              </p:ext>
            </p:extLst>
          </p:nvPr>
        </p:nvGraphicFramePr>
        <p:xfrm>
          <a:off x="4111026" y="1038254"/>
          <a:ext cx="4667250" cy="569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6209524" imgH="7580952" progId="Photoshop.Image.6">
                  <p:embed/>
                </p:oleObj>
              </mc:Choice>
              <mc:Fallback>
                <p:oleObj name="Image" r:id="rId4" imgW="6209524" imgH="7580952" progId="Photoshop.Image.6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026" y="1038254"/>
                        <a:ext cx="4667250" cy="569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680200" y="161925"/>
            <a:ext cx="2133600" cy="4427538"/>
            <a:chOff x="3702" y="432"/>
            <a:chExt cx="1344" cy="2789"/>
          </a:xfrm>
        </p:grpSpPr>
        <p:sp>
          <p:nvSpPr>
            <p:cNvPr id="27678" name="Line 3"/>
            <p:cNvSpPr>
              <a:spLocks noChangeShapeType="1"/>
            </p:cNvSpPr>
            <p:nvPr/>
          </p:nvSpPr>
          <p:spPr bwMode="auto">
            <a:xfrm>
              <a:off x="3702" y="432"/>
              <a:ext cx="1344" cy="7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9" name="Line 4"/>
            <p:cNvSpPr>
              <a:spLocks noChangeShapeType="1"/>
            </p:cNvSpPr>
            <p:nvPr/>
          </p:nvSpPr>
          <p:spPr bwMode="auto">
            <a:xfrm>
              <a:off x="5046" y="1205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0" name="Freeform 5"/>
            <p:cNvSpPr>
              <a:spLocks/>
            </p:cNvSpPr>
            <p:nvPr/>
          </p:nvSpPr>
          <p:spPr bwMode="auto">
            <a:xfrm>
              <a:off x="3702" y="437"/>
              <a:ext cx="1344" cy="2784"/>
            </a:xfrm>
            <a:custGeom>
              <a:avLst/>
              <a:gdLst>
                <a:gd name="T0" fmla="*/ 0 w 1344"/>
                <a:gd name="T1" fmla="*/ 0 h 2784"/>
                <a:gd name="T2" fmla="*/ 1344 w 1344"/>
                <a:gd name="T3" fmla="*/ 768 h 2784"/>
                <a:gd name="T4" fmla="*/ 1344 w 1344"/>
                <a:gd name="T5" fmla="*/ 2784 h 2784"/>
                <a:gd name="T6" fmla="*/ 0 w 1344"/>
                <a:gd name="T7" fmla="*/ 2008 h 2784"/>
                <a:gd name="T8" fmla="*/ 0 w 1344"/>
                <a:gd name="T9" fmla="*/ 0 h 2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4"/>
                <a:gd name="T16" fmla="*/ 0 h 2784"/>
                <a:gd name="T17" fmla="*/ 1344 w 1344"/>
                <a:gd name="T18" fmla="*/ 2784 h 27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4" h="2784">
                  <a:moveTo>
                    <a:pt x="0" y="0"/>
                  </a:moveTo>
                  <a:lnTo>
                    <a:pt x="1344" y="768"/>
                  </a:lnTo>
                  <a:lnTo>
                    <a:pt x="1344" y="2784"/>
                  </a:lnTo>
                  <a:lnTo>
                    <a:pt x="0" y="200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8274050" y="3895725"/>
            <a:ext cx="34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endParaRPr lang="en-US" altLang="zh-CN" sz="2400">
              <a:latin typeface="ISOCPEUR" pitchFamily="34" charset="0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37075" y="1609725"/>
            <a:ext cx="914400" cy="1219200"/>
            <a:chOff x="2352" y="1344"/>
            <a:chExt cx="576" cy="768"/>
          </a:xfrm>
        </p:grpSpPr>
        <p:sp>
          <p:nvSpPr>
            <p:cNvPr id="27675" name="Freeform 8"/>
            <p:cNvSpPr>
              <a:spLocks/>
            </p:cNvSpPr>
            <p:nvPr/>
          </p:nvSpPr>
          <p:spPr bwMode="auto">
            <a:xfrm>
              <a:off x="2352" y="1344"/>
              <a:ext cx="576" cy="768"/>
            </a:xfrm>
            <a:custGeom>
              <a:avLst/>
              <a:gdLst>
                <a:gd name="T0" fmla="*/ 0 w 576"/>
                <a:gd name="T1" fmla="*/ 336 h 768"/>
                <a:gd name="T2" fmla="*/ 240 w 576"/>
                <a:gd name="T3" fmla="*/ 0 h 768"/>
                <a:gd name="T4" fmla="*/ 576 w 576"/>
                <a:gd name="T5" fmla="*/ 768 h 768"/>
                <a:gd name="T6" fmla="*/ 0 w 576"/>
                <a:gd name="T7" fmla="*/ 336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768"/>
                <a:gd name="T14" fmla="*/ 576 w 576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768">
                  <a:moveTo>
                    <a:pt x="0" y="336"/>
                  </a:moveTo>
                  <a:lnTo>
                    <a:pt x="240" y="0"/>
                  </a:lnTo>
                  <a:lnTo>
                    <a:pt x="576" y="768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6" name="Line 9"/>
            <p:cNvSpPr>
              <a:spLocks noChangeShapeType="1"/>
            </p:cNvSpPr>
            <p:nvPr/>
          </p:nvSpPr>
          <p:spPr bwMode="auto">
            <a:xfrm flipH="1">
              <a:off x="2355" y="1344"/>
              <a:ext cx="237" cy="3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7" name="Line 10"/>
            <p:cNvSpPr>
              <a:spLocks noChangeShapeType="1"/>
            </p:cNvSpPr>
            <p:nvPr/>
          </p:nvSpPr>
          <p:spPr bwMode="auto">
            <a:xfrm>
              <a:off x="2355" y="1686"/>
              <a:ext cx="561" cy="4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35" name="Line 11"/>
          <p:cNvSpPr>
            <a:spLocks noChangeShapeType="1"/>
          </p:cNvSpPr>
          <p:nvPr/>
        </p:nvSpPr>
        <p:spPr bwMode="auto">
          <a:xfrm>
            <a:off x="3060700" y="2033588"/>
            <a:ext cx="4370388" cy="143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36" name="Freeform 12"/>
          <p:cNvSpPr>
            <a:spLocks/>
          </p:cNvSpPr>
          <p:nvPr/>
        </p:nvSpPr>
        <p:spPr bwMode="auto">
          <a:xfrm>
            <a:off x="6996113" y="1116013"/>
            <a:ext cx="1198562" cy="2346325"/>
          </a:xfrm>
          <a:custGeom>
            <a:avLst/>
            <a:gdLst>
              <a:gd name="T0" fmla="*/ 0 w 755"/>
              <a:gd name="T1" fmla="*/ 0 h 1478"/>
              <a:gd name="T2" fmla="*/ 2147483647 w 755"/>
              <a:gd name="T3" fmla="*/ 2147483647 h 1478"/>
              <a:gd name="T4" fmla="*/ 2147483647 w 755"/>
              <a:gd name="T5" fmla="*/ 2147483647 h 1478"/>
              <a:gd name="T6" fmla="*/ 0 w 755"/>
              <a:gd name="T7" fmla="*/ 0 h 1478"/>
              <a:gd name="T8" fmla="*/ 0 60000 65536"/>
              <a:gd name="T9" fmla="*/ 0 60000 65536"/>
              <a:gd name="T10" fmla="*/ 0 60000 65536"/>
              <a:gd name="T11" fmla="*/ 0 60000 65536"/>
              <a:gd name="T12" fmla="*/ 0 w 755"/>
              <a:gd name="T13" fmla="*/ 0 h 1478"/>
              <a:gd name="T14" fmla="*/ 755 w 755"/>
              <a:gd name="T15" fmla="*/ 1478 h 14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5" h="1478">
                <a:moveTo>
                  <a:pt x="0" y="0"/>
                </a:moveTo>
                <a:lnTo>
                  <a:pt x="755" y="845"/>
                </a:lnTo>
                <a:lnTo>
                  <a:pt x="277" y="1478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37" name="Text Box 13"/>
          <p:cNvSpPr txBox="1">
            <a:spLocks noChangeArrowheads="1"/>
          </p:cNvSpPr>
          <p:nvPr/>
        </p:nvSpPr>
        <p:spPr bwMode="auto">
          <a:xfrm>
            <a:off x="2811463" y="1487488"/>
            <a:ext cx="430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S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205838" name="Text Box 14"/>
          <p:cNvSpPr txBox="1">
            <a:spLocks noChangeArrowheads="1"/>
          </p:cNvSpPr>
          <p:nvPr/>
        </p:nvSpPr>
        <p:spPr bwMode="auto">
          <a:xfrm>
            <a:off x="4643438" y="1189038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</a:p>
        </p:txBody>
      </p:sp>
      <p:sp>
        <p:nvSpPr>
          <p:cNvPr id="205839" name="Text Box 15"/>
          <p:cNvSpPr txBox="1">
            <a:spLocks noChangeArrowheads="1"/>
          </p:cNvSpPr>
          <p:nvPr/>
        </p:nvSpPr>
        <p:spPr bwMode="auto">
          <a:xfrm>
            <a:off x="4225925" y="1733550"/>
            <a:ext cx="34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B</a:t>
            </a:r>
          </a:p>
        </p:txBody>
      </p:sp>
      <p:sp>
        <p:nvSpPr>
          <p:cNvPr id="205840" name="Text Box 16"/>
          <p:cNvSpPr txBox="1">
            <a:spLocks noChangeArrowheads="1"/>
          </p:cNvSpPr>
          <p:nvPr/>
        </p:nvSpPr>
        <p:spPr bwMode="auto">
          <a:xfrm>
            <a:off x="5368925" y="2444750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C</a:t>
            </a:r>
          </a:p>
        </p:txBody>
      </p:sp>
      <p:sp>
        <p:nvSpPr>
          <p:cNvPr id="205841" name="Text Box 17"/>
          <p:cNvSpPr txBox="1">
            <a:spLocks noChangeArrowheads="1"/>
          </p:cNvSpPr>
          <p:nvPr/>
        </p:nvSpPr>
        <p:spPr bwMode="auto">
          <a:xfrm>
            <a:off x="6788150" y="77628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205842" name="Text Box 18"/>
          <p:cNvSpPr txBox="1">
            <a:spLocks noChangeArrowheads="1"/>
          </p:cNvSpPr>
          <p:nvPr/>
        </p:nvSpPr>
        <p:spPr bwMode="auto">
          <a:xfrm>
            <a:off x="7327900" y="340201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c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205843" name="AutoShape 19"/>
          <p:cNvSpPr>
            <a:spLocks noChangeArrowheads="1"/>
          </p:cNvSpPr>
          <p:nvPr/>
        </p:nvSpPr>
        <p:spPr bwMode="auto">
          <a:xfrm>
            <a:off x="7397750" y="3435350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5844" name="Text Box 20"/>
          <p:cNvSpPr txBox="1">
            <a:spLocks noChangeArrowheads="1"/>
          </p:cNvSpPr>
          <p:nvPr/>
        </p:nvSpPr>
        <p:spPr bwMode="auto">
          <a:xfrm>
            <a:off x="371475" y="4281488"/>
            <a:ext cx="6434138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投影条件及标注：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 b="0"/>
              <a:t>　</a:t>
            </a:r>
            <a:r>
              <a:rPr lang="zh-CN" altLang="en-US" sz="2400">
                <a:ea typeface="黑体" pitchFamily="2" charset="-122"/>
              </a:rPr>
              <a:t>投射线</a:t>
            </a:r>
            <a:r>
              <a:rPr lang="zh-CN" altLang="en-US" sz="2400"/>
              <a:t>（</a:t>
            </a:r>
            <a:r>
              <a:rPr lang="en-US" altLang="zh-CN" sz="2400" i="1">
                <a:latin typeface="ISOCPEUR" pitchFamily="34" charset="0"/>
              </a:rPr>
              <a:t>s</a:t>
            </a:r>
            <a:r>
              <a:rPr lang="zh-CN" altLang="en-US" sz="2400"/>
              <a:t>）、</a:t>
            </a:r>
            <a:r>
              <a:rPr lang="zh-CN" altLang="en-US" sz="2400">
                <a:ea typeface="黑体" pitchFamily="2" charset="-122"/>
              </a:rPr>
              <a:t>投射中心（</a:t>
            </a:r>
            <a:r>
              <a:rPr lang="en-US" altLang="zh-CN" sz="2400">
                <a:ea typeface="黑体" pitchFamily="2" charset="-122"/>
              </a:rPr>
              <a:t>S</a:t>
            </a:r>
            <a:r>
              <a:rPr lang="zh-CN" altLang="en-US" sz="2400"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/>
              <a:t>　</a:t>
            </a:r>
            <a:r>
              <a:rPr lang="zh-CN" altLang="en-US" sz="2400">
                <a:ea typeface="黑体" pitchFamily="2" charset="-122"/>
              </a:rPr>
              <a:t>空间几何元素</a:t>
            </a:r>
            <a:r>
              <a:rPr lang="zh-CN" altLang="en-US" sz="2400"/>
              <a:t>（</a:t>
            </a:r>
            <a:r>
              <a:rPr lang="zh-CN" altLang="en-US" sz="2400">
                <a:ea typeface="黑体" pitchFamily="2" charset="-122"/>
              </a:rPr>
              <a:t>大写</a:t>
            </a:r>
            <a:r>
              <a:rPr lang="zh-CN" altLang="en-US" sz="2400"/>
              <a:t> </a:t>
            </a:r>
            <a:r>
              <a:rPr lang="en-US" altLang="zh-CN" sz="2400" i="1">
                <a:latin typeface="ISOCPEUR" pitchFamily="34" charset="0"/>
              </a:rPr>
              <a:t>A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B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C</a:t>
            </a:r>
            <a:r>
              <a:rPr lang="en-US" altLang="zh-CN" sz="2400"/>
              <a:t>…</a:t>
            </a:r>
            <a:r>
              <a:rPr lang="zh-CN" altLang="en-US" sz="2400"/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/>
              <a:t>　</a:t>
            </a:r>
            <a:r>
              <a:rPr lang="zh-CN" altLang="en-US" sz="2400">
                <a:ea typeface="黑体" pitchFamily="2" charset="-122"/>
              </a:rPr>
              <a:t>投影面</a:t>
            </a:r>
            <a:r>
              <a:rPr lang="zh-CN" altLang="en-US" sz="2400"/>
              <a:t>（</a:t>
            </a:r>
            <a:r>
              <a:rPr lang="zh-CN" altLang="en-US" sz="2400">
                <a:ea typeface="黑体" pitchFamily="2" charset="-122"/>
              </a:rPr>
              <a:t>大写</a:t>
            </a:r>
            <a:r>
              <a:rPr lang="zh-CN" altLang="en-US" sz="2400"/>
              <a:t> </a:t>
            </a:r>
            <a:r>
              <a:rPr lang="en-US" altLang="zh-CN" sz="2400" i="1">
                <a:latin typeface="ISOCPEUR" pitchFamily="34" charset="0"/>
              </a:rPr>
              <a:t>P</a:t>
            </a:r>
            <a:r>
              <a:rPr lang="zh-CN" altLang="en-US" sz="2400" i="1">
                <a:latin typeface="ISOCP" pitchFamily="2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V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H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W</a:t>
            </a:r>
            <a:r>
              <a:rPr lang="en-US" altLang="zh-CN" sz="2400"/>
              <a:t>…</a:t>
            </a:r>
            <a:r>
              <a:rPr lang="zh-CN" altLang="en-US" sz="2400"/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/>
              <a:t>　</a:t>
            </a:r>
            <a:r>
              <a:rPr lang="zh-CN" altLang="en-US" sz="2400">
                <a:ea typeface="黑体" pitchFamily="2" charset="-122"/>
              </a:rPr>
              <a:t>投影</a:t>
            </a:r>
            <a:r>
              <a:rPr lang="zh-CN" altLang="en-US" sz="2400"/>
              <a:t>（</a:t>
            </a:r>
            <a:r>
              <a:rPr lang="zh-CN" altLang="en-US" sz="2400">
                <a:ea typeface="黑体" pitchFamily="2" charset="-122"/>
              </a:rPr>
              <a:t>小写</a:t>
            </a:r>
            <a:r>
              <a:rPr lang="en-US" altLang="zh-CN" sz="2400" i="1">
                <a:latin typeface="ISOCPEUR" pitchFamily="34" charset="0"/>
              </a:rPr>
              <a:t>a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b </a:t>
            </a:r>
            <a:r>
              <a:rPr lang="zh-CN" altLang="en-US" sz="2400" i="1">
                <a:latin typeface="ISOCPEUR" pitchFamily="34" charset="0"/>
              </a:rPr>
              <a:t>、</a:t>
            </a:r>
            <a:r>
              <a:rPr lang="en-US" altLang="zh-CN" sz="2400" i="1">
                <a:latin typeface="ISOCPEUR" pitchFamily="34" charset="0"/>
              </a:rPr>
              <a:t>c</a:t>
            </a:r>
            <a:r>
              <a:rPr lang="en-US" altLang="zh-CN" sz="2400" i="1">
                <a:latin typeface="ISOCP" pitchFamily="2" charset="0"/>
              </a:rPr>
              <a:t>  </a:t>
            </a:r>
            <a:r>
              <a:rPr lang="en-US" altLang="zh-CN" sz="2400"/>
              <a:t>…</a:t>
            </a:r>
            <a:r>
              <a:rPr lang="zh-CN" altLang="en-US" sz="2400"/>
              <a:t>）</a:t>
            </a:r>
            <a:endParaRPr lang="zh-CN" altLang="en-US" sz="2400" b="0"/>
          </a:p>
        </p:txBody>
      </p:sp>
      <p:sp>
        <p:nvSpPr>
          <p:cNvPr id="205845" name="Line 21"/>
          <p:cNvSpPr>
            <a:spLocks noChangeShapeType="1"/>
          </p:cNvSpPr>
          <p:nvPr/>
        </p:nvSpPr>
        <p:spPr bwMode="auto">
          <a:xfrm>
            <a:off x="3074988" y="2028825"/>
            <a:ext cx="5121275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060700" y="896938"/>
            <a:ext cx="3943350" cy="1136650"/>
            <a:chOff x="1422" y="895"/>
            <a:chExt cx="2484" cy="716"/>
          </a:xfrm>
        </p:grpSpPr>
        <p:sp>
          <p:nvSpPr>
            <p:cNvPr id="27672" name="Line 23"/>
            <p:cNvSpPr>
              <a:spLocks noChangeShapeType="1"/>
            </p:cNvSpPr>
            <p:nvPr/>
          </p:nvSpPr>
          <p:spPr bwMode="auto">
            <a:xfrm flipV="1">
              <a:off x="1422" y="1039"/>
              <a:ext cx="2484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3" name="Text Box 24"/>
            <p:cNvSpPr txBox="1">
              <a:spLocks noChangeArrowheads="1"/>
            </p:cNvSpPr>
            <p:nvPr/>
          </p:nvSpPr>
          <p:spPr bwMode="auto">
            <a:xfrm>
              <a:off x="2935" y="89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s</a:t>
              </a:r>
              <a:endParaRPr lang="en-US" altLang="zh-CN" sz="2400">
                <a:latin typeface="ISOCPEUR" pitchFamily="34" charset="0"/>
              </a:endParaRPr>
            </a:p>
          </p:txBody>
        </p:sp>
        <p:sp>
          <p:nvSpPr>
            <p:cNvPr id="27674" name="Line 25"/>
            <p:cNvSpPr>
              <a:spLocks noChangeShapeType="1"/>
            </p:cNvSpPr>
            <p:nvPr/>
          </p:nvSpPr>
          <p:spPr bwMode="auto">
            <a:xfrm flipV="1">
              <a:off x="2924" y="1076"/>
              <a:ext cx="348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850" name="AutoShape 26"/>
          <p:cNvSpPr>
            <a:spLocks noChangeArrowheads="1"/>
          </p:cNvSpPr>
          <p:nvPr/>
        </p:nvSpPr>
        <p:spPr bwMode="auto">
          <a:xfrm>
            <a:off x="3022600" y="1981200"/>
            <a:ext cx="95250" cy="1000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5851" name="Text Box 27"/>
          <p:cNvSpPr txBox="1">
            <a:spLocks noChangeArrowheads="1"/>
          </p:cNvSpPr>
          <p:nvPr/>
        </p:nvSpPr>
        <p:spPr bwMode="auto">
          <a:xfrm>
            <a:off x="8147050" y="21256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b</a:t>
            </a:r>
            <a:endParaRPr lang="en-US" altLang="zh-CN" sz="2000">
              <a:latin typeface="ISOCPEUR" pitchFamily="34" charset="0"/>
            </a:endParaRPr>
          </a:p>
        </p:txBody>
      </p:sp>
      <p:sp>
        <p:nvSpPr>
          <p:cNvPr id="205852" name="AutoShape 28"/>
          <p:cNvSpPr>
            <a:spLocks noChangeArrowheads="1"/>
          </p:cNvSpPr>
          <p:nvPr/>
        </p:nvSpPr>
        <p:spPr bwMode="auto">
          <a:xfrm>
            <a:off x="8147050" y="2419350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05853" name="AutoShape 29"/>
          <p:cNvSpPr>
            <a:spLocks noChangeArrowheads="1"/>
          </p:cNvSpPr>
          <p:nvPr/>
        </p:nvSpPr>
        <p:spPr bwMode="auto">
          <a:xfrm>
            <a:off x="6961188" y="1081088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7670" name="Rectangle 30"/>
          <p:cNvSpPr>
            <a:spLocks noChangeArrowheads="1"/>
          </p:cNvSpPr>
          <p:nvPr/>
        </p:nvSpPr>
        <p:spPr bwMode="auto">
          <a:xfrm>
            <a:off x="203200" y="203200"/>
            <a:ext cx="42338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>
                <a:ea typeface="黑体" pitchFamily="2" charset="-122"/>
              </a:rPr>
              <a:t>§1.2</a:t>
            </a:r>
            <a:r>
              <a:rPr lang="en-US" altLang="zh-CN" sz="40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4000">
                <a:latin typeface="黑体" pitchFamily="2" charset="-122"/>
                <a:ea typeface="黑体" pitchFamily="2" charset="-122"/>
              </a:rPr>
              <a:t>投影基础</a:t>
            </a:r>
            <a:endParaRPr lang="zh-CN" altLang="en-US" sz="4000" b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855" name="Text Box 31"/>
          <p:cNvSpPr txBox="1">
            <a:spLocks noChangeArrowheads="1"/>
          </p:cNvSpPr>
          <p:nvPr/>
        </p:nvSpPr>
        <p:spPr bwMode="auto">
          <a:xfrm>
            <a:off x="347663" y="3141663"/>
            <a:ext cx="6627812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投影法：</a:t>
            </a:r>
            <a:r>
              <a:rPr lang="zh-CN" altLang="en-US" sz="2400">
                <a:ea typeface="黑体" pitchFamily="2" charset="-122"/>
              </a:rPr>
              <a:t>利用投射线通过物体向选定的面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               投射，并在该面上得到图形的方法。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0" grpId="0" autoUpdateAnimBg="0"/>
      <p:bldP spid="205835" grpId="0" animBg="1"/>
      <p:bldP spid="205836" grpId="0" animBg="1"/>
      <p:bldP spid="205837" grpId="0" autoUpdateAnimBg="0"/>
      <p:bldP spid="205838" grpId="0" autoUpdateAnimBg="0"/>
      <p:bldP spid="205839" grpId="0" autoUpdateAnimBg="0"/>
      <p:bldP spid="205840" grpId="0" autoUpdateAnimBg="0"/>
      <p:bldP spid="205841" grpId="0" autoUpdateAnimBg="0"/>
      <p:bldP spid="205842" grpId="0" autoUpdateAnimBg="0"/>
      <p:bldP spid="205843" grpId="0" animBg="1"/>
      <p:bldP spid="205844" grpId="0" build="p" autoUpdateAnimBg="0"/>
      <p:bldP spid="205845" grpId="0" animBg="1"/>
      <p:bldP spid="205850" grpId="0" animBg="1"/>
      <p:bldP spid="205851" grpId="0" autoUpdateAnimBg="0"/>
      <p:bldP spid="205852" grpId="0" animBg="1"/>
      <p:bldP spid="205853" grpId="0" animBg="1"/>
      <p:bldP spid="20585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21" name="Rectangle 61"/>
          <p:cNvSpPr>
            <a:spLocks noChangeArrowheads="1"/>
          </p:cNvSpPr>
          <p:nvPr/>
        </p:nvSpPr>
        <p:spPr bwMode="auto">
          <a:xfrm>
            <a:off x="201613" y="169863"/>
            <a:ext cx="8802687" cy="234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itchFamily="2" charset="-122"/>
              </a:rPr>
              <a:t>一．中心投影</a:t>
            </a:r>
            <a:endParaRPr lang="zh-CN" altLang="en-US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/>
              <a:t>　　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投射线交于一点的投影方法，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称为</a:t>
            </a: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中心投影</a:t>
            </a:r>
            <a:r>
              <a:rPr lang="zh-CN" altLang="en-US" sz="2800">
                <a:ea typeface="黑体" pitchFamily="2" charset="-122"/>
              </a:rPr>
              <a:t>。</a:t>
            </a:r>
            <a:endParaRPr lang="zh-CN" altLang="en-US" sz="2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800"/>
          </a:p>
        </p:txBody>
      </p:sp>
      <p:sp>
        <p:nvSpPr>
          <p:cNvPr id="66622" name="Text Box 62"/>
          <p:cNvSpPr txBox="1">
            <a:spLocks noChangeArrowheads="1"/>
          </p:cNvSpPr>
          <p:nvPr/>
        </p:nvSpPr>
        <p:spPr bwMode="auto">
          <a:xfrm>
            <a:off x="341313" y="4922838"/>
            <a:ext cx="88026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2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．缺点：一般情况下，投影不反映物体的真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实大小，度量性不好，无等比性，无平行性。</a:t>
            </a:r>
          </a:p>
        </p:txBody>
      </p:sp>
      <p:sp>
        <p:nvSpPr>
          <p:cNvPr id="66623" name="Text Box 63"/>
          <p:cNvSpPr txBox="1">
            <a:spLocks noChangeArrowheads="1"/>
          </p:cNvSpPr>
          <p:nvPr/>
        </p:nvSpPr>
        <p:spPr bwMode="auto">
          <a:xfrm>
            <a:off x="4803775" y="1920875"/>
            <a:ext cx="42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D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6624" name="Text Box 64"/>
          <p:cNvSpPr txBox="1">
            <a:spLocks noChangeArrowheads="1"/>
          </p:cNvSpPr>
          <p:nvPr/>
        </p:nvSpPr>
        <p:spPr bwMode="auto">
          <a:xfrm>
            <a:off x="4316413" y="2660650"/>
            <a:ext cx="452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</a:p>
        </p:txBody>
      </p:sp>
      <p:sp>
        <p:nvSpPr>
          <p:cNvPr id="66626" name="Text Box 66"/>
          <p:cNvSpPr txBox="1">
            <a:spLocks noChangeArrowheads="1"/>
          </p:cNvSpPr>
          <p:nvPr/>
        </p:nvSpPr>
        <p:spPr bwMode="auto">
          <a:xfrm>
            <a:off x="6581775" y="1963738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d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6627" name="Text Box 67"/>
          <p:cNvSpPr txBox="1">
            <a:spLocks noChangeArrowheads="1"/>
          </p:cNvSpPr>
          <p:nvPr/>
        </p:nvSpPr>
        <p:spPr bwMode="auto">
          <a:xfrm>
            <a:off x="7554913" y="3259138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e</a:t>
            </a:r>
            <a:endParaRPr lang="en-US" altLang="zh-CN" sz="2400">
              <a:latin typeface="ISOCPEUR" pitchFamily="34" charset="0"/>
            </a:endParaRPr>
          </a:p>
        </p:txBody>
      </p:sp>
      <p:grpSp>
        <p:nvGrpSpPr>
          <p:cNvPr id="28681" name="Group 60"/>
          <p:cNvGrpSpPr>
            <a:grpSpLocks/>
          </p:cNvGrpSpPr>
          <p:nvPr/>
        </p:nvGrpSpPr>
        <p:grpSpPr bwMode="auto">
          <a:xfrm>
            <a:off x="2632075" y="492125"/>
            <a:ext cx="6002338" cy="4427538"/>
            <a:chOff x="1265" y="432"/>
            <a:chExt cx="3781" cy="2789"/>
          </a:xfrm>
        </p:grpSpPr>
        <p:grpSp>
          <p:nvGrpSpPr>
            <p:cNvPr id="28689" name="Group 3"/>
            <p:cNvGrpSpPr>
              <a:grpSpLocks/>
            </p:cNvGrpSpPr>
            <p:nvPr/>
          </p:nvGrpSpPr>
          <p:grpSpPr bwMode="auto">
            <a:xfrm>
              <a:off x="3702" y="432"/>
              <a:ext cx="1344" cy="2789"/>
              <a:chOff x="3702" y="432"/>
              <a:chExt cx="1344" cy="2789"/>
            </a:xfrm>
          </p:grpSpPr>
          <p:sp>
            <p:nvSpPr>
              <p:cNvPr id="28712" name="Line 4"/>
              <p:cNvSpPr>
                <a:spLocks noChangeShapeType="1"/>
              </p:cNvSpPr>
              <p:nvPr/>
            </p:nvSpPr>
            <p:spPr bwMode="auto">
              <a:xfrm>
                <a:off x="3702" y="432"/>
                <a:ext cx="1344" cy="7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3" name="Line 5"/>
              <p:cNvSpPr>
                <a:spLocks noChangeShapeType="1"/>
              </p:cNvSpPr>
              <p:nvPr/>
            </p:nvSpPr>
            <p:spPr bwMode="auto">
              <a:xfrm>
                <a:off x="5046" y="1205"/>
                <a:ext cx="0" cy="20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4" name="Freeform 6"/>
              <p:cNvSpPr>
                <a:spLocks/>
              </p:cNvSpPr>
              <p:nvPr/>
            </p:nvSpPr>
            <p:spPr bwMode="auto">
              <a:xfrm>
                <a:off x="3702" y="437"/>
                <a:ext cx="1344" cy="2784"/>
              </a:xfrm>
              <a:custGeom>
                <a:avLst/>
                <a:gdLst>
                  <a:gd name="T0" fmla="*/ 0 w 1344"/>
                  <a:gd name="T1" fmla="*/ 0 h 2784"/>
                  <a:gd name="T2" fmla="*/ 1344 w 1344"/>
                  <a:gd name="T3" fmla="*/ 768 h 2784"/>
                  <a:gd name="T4" fmla="*/ 1344 w 1344"/>
                  <a:gd name="T5" fmla="*/ 2784 h 2784"/>
                  <a:gd name="T6" fmla="*/ 0 w 1344"/>
                  <a:gd name="T7" fmla="*/ 2008 h 2784"/>
                  <a:gd name="T8" fmla="*/ 0 w 1344"/>
                  <a:gd name="T9" fmla="*/ 0 h 27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2784"/>
                  <a:gd name="T17" fmla="*/ 1344 w 1344"/>
                  <a:gd name="T18" fmla="*/ 2784 h 27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2784">
                    <a:moveTo>
                      <a:pt x="0" y="0"/>
                    </a:moveTo>
                    <a:lnTo>
                      <a:pt x="1344" y="768"/>
                    </a:lnTo>
                    <a:lnTo>
                      <a:pt x="1344" y="2784"/>
                    </a:lnTo>
                    <a:lnTo>
                      <a:pt x="0" y="20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0" name="Text Box 7"/>
            <p:cNvSpPr txBox="1">
              <a:spLocks noChangeArrowheads="1"/>
            </p:cNvSpPr>
            <p:nvPr/>
          </p:nvSpPr>
          <p:spPr bwMode="auto">
            <a:xfrm>
              <a:off x="4706" y="2784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</a:t>
              </a:r>
              <a:endParaRPr lang="en-US" altLang="zh-CN" sz="2400" b="0">
                <a:latin typeface="ISOCPEUR" pitchFamily="34" charset="0"/>
              </a:endParaRPr>
            </a:p>
          </p:txBody>
        </p:sp>
        <p:grpSp>
          <p:nvGrpSpPr>
            <p:cNvPr id="28691" name="Group 8"/>
            <p:cNvGrpSpPr>
              <a:grpSpLocks/>
            </p:cNvGrpSpPr>
            <p:nvPr/>
          </p:nvGrpSpPr>
          <p:grpSpPr bwMode="auto">
            <a:xfrm>
              <a:off x="2352" y="1344"/>
              <a:ext cx="576" cy="768"/>
              <a:chOff x="2352" y="1344"/>
              <a:chExt cx="576" cy="768"/>
            </a:xfrm>
          </p:grpSpPr>
          <p:sp>
            <p:nvSpPr>
              <p:cNvPr id="28709" name="Freeform 9"/>
              <p:cNvSpPr>
                <a:spLocks/>
              </p:cNvSpPr>
              <p:nvPr/>
            </p:nvSpPr>
            <p:spPr bwMode="auto">
              <a:xfrm>
                <a:off x="2352" y="1344"/>
                <a:ext cx="576" cy="768"/>
              </a:xfrm>
              <a:custGeom>
                <a:avLst/>
                <a:gdLst>
                  <a:gd name="T0" fmla="*/ 0 w 576"/>
                  <a:gd name="T1" fmla="*/ 336 h 768"/>
                  <a:gd name="T2" fmla="*/ 240 w 576"/>
                  <a:gd name="T3" fmla="*/ 0 h 768"/>
                  <a:gd name="T4" fmla="*/ 576 w 576"/>
                  <a:gd name="T5" fmla="*/ 768 h 768"/>
                  <a:gd name="T6" fmla="*/ 0 w 576"/>
                  <a:gd name="T7" fmla="*/ 336 h 7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768"/>
                  <a:gd name="T14" fmla="*/ 576 w 576"/>
                  <a:gd name="T15" fmla="*/ 768 h 7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768">
                    <a:moveTo>
                      <a:pt x="0" y="336"/>
                    </a:moveTo>
                    <a:lnTo>
                      <a:pt x="240" y="0"/>
                    </a:lnTo>
                    <a:lnTo>
                      <a:pt x="576" y="768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0" name="Line 10"/>
              <p:cNvSpPr>
                <a:spLocks noChangeShapeType="1"/>
              </p:cNvSpPr>
              <p:nvPr/>
            </p:nvSpPr>
            <p:spPr bwMode="auto">
              <a:xfrm flipH="1">
                <a:off x="2355" y="1344"/>
                <a:ext cx="237" cy="3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1" name="Line 11"/>
              <p:cNvSpPr>
                <a:spLocks noChangeShapeType="1"/>
              </p:cNvSpPr>
              <p:nvPr/>
            </p:nvSpPr>
            <p:spPr bwMode="auto">
              <a:xfrm>
                <a:off x="2355" y="1686"/>
                <a:ext cx="561" cy="4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2" name="Line 12"/>
            <p:cNvSpPr>
              <a:spLocks noChangeShapeType="1"/>
            </p:cNvSpPr>
            <p:nvPr/>
          </p:nvSpPr>
          <p:spPr bwMode="auto">
            <a:xfrm flipV="1">
              <a:off x="1422" y="1039"/>
              <a:ext cx="2484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3" name="Line 13"/>
            <p:cNvSpPr>
              <a:spLocks noChangeShapeType="1"/>
            </p:cNvSpPr>
            <p:nvPr/>
          </p:nvSpPr>
          <p:spPr bwMode="auto">
            <a:xfrm>
              <a:off x="1422" y="1611"/>
              <a:ext cx="2753" cy="9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Freeform 14"/>
            <p:cNvSpPr>
              <a:spLocks/>
            </p:cNvSpPr>
            <p:nvPr/>
          </p:nvSpPr>
          <p:spPr bwMode="auto">
            <a:xfrm>
              <a:off x="3901" y="1033"/>
              <a:ext cx="755" cy="1478"/>
            </a:xfrm>
            <a:custGeom>
              <a:avLst/>
              <a:gdLst>
                <a:gd name="T0" fmla="*/ 0 w 755"/>
                <a:gd name="T1" fmla="*/ 0 h 1478"/>
                <a:gd name="T2" fmla="*/ 755 w 755"/>
                <a:gd name="T3" fmla="*/ 845 h 1478"/>
                <a:gd name="T4" fmla="*/ 277 w 755"/>
                <a:gd name="T5" fmla="*/ 1478 h 1478"/>
                <a:gd name="T6" fmla="*/ 0 w 755"/>
                <a:gd name="T7" fmla="*/ 0 h 14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5"/>
                <a:gd name="T13" fmla="*/ 0 h 1478"/>
                <a:gd name="T14" fmla="*/ 755 w 755"/>
                <a:gd name="T15" fmla="*/ 1478 h 14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5" h="1478">
                  <a:moveTo>
                    <a:pt x="0" y="0"/>
                  </a:moveTo>
                  <a:lnTo>
                    <a:pt x="755" y="845"/>
                  </a:lnTo>
                  <a:lnTo>
                    <a:pt x="277" y="1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Text Box 15"/>
            <p:cNvSpPr txBox="1">
              <a:spLocks noChangeArrowheads="1"/>
            </p:cNvSpPr>
            <p:nvPr/>
          </p:nvSpPr>
          <p:spPr bwMode="auto">
            <a:xfrm>
              <a:off x="1265" y="1267"/>
              <a:ext cx="2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S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696" name="Text Box 16"/>
            <p:cNvSpPr txBox="1">
              <a:spLocks noChangeArrowheads="1"/>
            </p:cNvSpPr>
            <p:nvPr/>
          </p:nvSpPr>
          <p:spPr bwMode="auto">
            <a:xfrm>
              <a:off x="2419" y="1079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8697" name="Text Box 17"/>
            <p:cNvSpPr txBox="1">
              <a:spLocks noChangeArrowheads="1"/>
            </p:cNvSpPr>
            <p:nvPr/>
          </p:nvSpPr>
          <p:spPr bwMode="auto">
            <a:xfrm>
              <a:off x="2156" y="142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8698" name="Text Box 18"/>
            <p:cNvSpPr txBox="1">
              <a:spLocks noChangeArrowheads="1"/>
            </p:cNvSpPr>
            <p:nvPr/>
          </p:nvSpPr>
          <p:spPr bwMode="auto">
            <a:xfrm>
              <a:off x="2687" y="2067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  <p:sp>
          <p:nvSpPr>
            <p:cNvPr id="28699" name="Text Box 19"/>
            <p:cNvSpPr txBox="1">
              <a:spLocks noChangeArrowheads="1"/>
            </p:cNvSpPr>
            <p:nvPr/>
          </p:nvSpPr>
          <p:spPr bwMode="auto">
            <a:xfrm>
              <a:off x="3770" y="81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700" name="Text Box 20"/>
            <p:cNvSpPr txBox="1">
              <a:spLocks noChangeArrowheads="1"/>
            </p:cNvSpPr>
            <p:nvPr/>
          </p:nvSpPr>
          <p:spPr bwMode="auto">
            <a:xfrm>
              <a:off x="4110" y="2473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c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701" name="AutoShape 21"/>
            <p:cNvSpPr>
              <a:spLocks noChangeArrowheads="1"/>
            </p:cNvSpPr>
            <p:nvPr/>
          </p:nvSpPr>
          <p:spPr bwMode="auto">
            <a:xfrm>
              <a:off x="3879" y="1011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8702" name="AutoShape 22"/>
            <p:cNvSpPr>
              <a:spLocks noChangeArrowheads="1"/>
            </p:cNvSpPr>
            <p:nvPr/>
          </p:nvSpPr>
          <p:spPr bwMode="auto">
            <a:xfrm>
              <a:off x="4154" y="2494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8703" name="Text Box 23"/>
            <p:cNvSpPr txBox="1">
              <a:spLocks noChangeArrowheads="1"/>
            </p:cNvSpPr>
            <p:nvPr/>
          </p:nvSpPr>
          <p:spPr bwMode="auto">
            <a:xfrm>
              <a:off x="2935" y="89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s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8704" name="Line 25"/>
            <p:cNvSpPr>
              <a:spLocks noChangeShapeType="1"/>
            </p:cNvSpPr>
            <p:nvPr/>
          </p:nvSpPr>
          <p:spPr bwMode="auto">
            <a:xfrm>
              <a:off x="1431" y="1608"/>
              <a:ext cx="3226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5" name="Line 26"/>
            <p:cNvSpPr>
              <a:spLocks noChangeShapeType="1"/>
            </p:cNvSpPr>
            <p:nvPr/>
          </p:nvSpPr>
          <p:spPr bwMode="auto">
            <a:xfrm flipV="1">
              <a:off x="2924" y="1076"/>
              <a:ext cx="348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6" name="AutoShape 27"/>
            <p:cNvSpPr>
              <a:spLocks noChangeArrowheads="1"/>
            </p:cNvSpPr>
            <p:nvPr/>
          </p:nvSpPr>
          <p:spPr bwMode="auto">
            <a:xfrm>
              <a:off x="1398" y="1578"/>
              <a:ext cx="60" cy="63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8707" name="Text Box 28"/>
            <p:cNvSpPr txBox="1">
              <a:spLocks noChangeArrowheads="1"/>
            </p:cNvSpPr>
            <p:nvPr/>
          </p:nvSpPr>
          <p:spPr bwMode="auto">
            <a:xfrm>
              <a:off x="4626" y="166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b</a:t>
              </a:r>
              <a:endParaRPr lang="en-US" altLang="zh-CN" sz="2000" b="0">
                <a:latin typeface="ISOCPEUR" pitchFamily="34" charset="0"/>
              </a:endParaRPr>
            </a:p>
          </p:txBody>
        </p:sp>
        <p:sp>
          <p:nvSpPr>
            <p:cNvPr id="28708" name="AutoShape 29"/>
            <p:cNvSpPr>
              <a:spLocks noChangeArrowheads="1"/>
            </p:cNvSpPr>
            <p:nvPr/>
          </p:nvSpPr>
          <p:spPr bwMode="auto">
            <a:xfrm>
              <a:off x="4626" y="1854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</p:grpSp>
      <p:sp>
        <p:nvSpPr>
          <p:cNvPr id="66625" name="Line 65"/>
          <p:cNvSpPr>
            <a:spLocks noChangeShapeType="1"/>
          </p:cNvSpPr>
          <p:nvPr/>
        </p:nvSpPr>
        <p:spPr bwMode="auto">
          <a:xfrm flipH="1">
            <a:off x="4652963" y="2319338"/>
            <a:ext cx="250825" cy="384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29" name="Line 69"/>
          <p:cNvSpPr>
            <a:spLocks noChangeShapeType="1"/>
          </p:cNvSpPr>
          <p:nvPr/>
        </p:nvSpPr>
        <p:spPr bwMode="auto">
          <a:xfrm flipV="1">
            <a:off x="2940050" y="2265363"/>
            <a:ext cx="4032250" cy="93662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0" name="Line 70"/>
          <p:cNvSpPr>
            <a:spLocks noChangeShapeType="1"/>
          </p:cNvSpPr>
          <p:nvPr/>
        </p:nvSpPr>
        <p:spPr bwMode="auto">
          <a:xfrm>
            <a:off x="2935288" y="2370138"/>
            <a:ext cx="4667250" cy="8890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28" name="Line 68"/>
          <p:cNvSpPr>
            <a:spLocks noChangeShapeType="1"/>
          </p:cNvSpPr>
          <p:nvPr/>
        </p:nvSpPr>
        <p:spPr bwMode="auto">
          <a:xfrm>
            <a:off x="6980238" y="2263775"/>
            <a:ext cx="663575" cy="1022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31" name="AutoShape 71"/>
          <p:cNvSpPr>
            <a:spLocks noChangeArrowheads="1"/>
          </p:cNvSpPr>
          <p:nvPr/>
        </p:nvSpPr>
        <p:spPr bwMode="auto">
          <a:xfrm>
            <a:off x="6926263" y="2222500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66632" name="AutoShape 72"/>
          <p:cNvSpPr>
            <a:spLocks noChangeArrowheads="1"/>
          </p:cNvSpPr>
          <p:nvPr/>
        </p:nvSpPr>
        <p:spPr bwMode="auto">
          <a:xfrm>
            <a:off x="7602538" y="3230563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66633" name="Rectangle 73"/>
          <p:cNvSpPr>
            <a:spLocks noChangeArrowheads="1"/>
          </p:cNvSpPr>
          <p:nvPr/>
        </p:nvSpPr>
        <p:spPr bwMode="auto">
          <a:xfrm>
            <a:off x="341313" y="4302125"/>
            <a:ext cx="8802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1</a:t>
            </a:r>
            <a:r>
              <a:rPr lang="zh-CN" altLang="en-US" sz="2800">
                <a:ea typeface="黑体" pitchFamily="2" charset="-122"/>
              </a:rPr>
              <a:t>．优点：实体感强、逼真；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21" grpId="0" build="p" autoUpdateAnimBg="0"/>
      <p:bldP spid="66622" grpId="0" autoUpdateAnimBg="0"/>
      <p:bldP spid="66623" grpId="0" autoUpdateAnimBg="0"/>
      <p:bldP spid="66624" grpId="0" autoUpdateAnimBg="0"/>
      <p:bldP spid="66626" grpId="0" autoUpdateAnimBg="0"/>
      <p:bldP spid="66627" grpId="0" autoUpdateAnimBg="0"/>
      <p:bldP spid="66625" grpId="0" animBg="1"/>
      <p:bldP spid="66629" grpId="0" animBg="1"/>
      <p:bldP spid="66630" grpId="0" animBg="1"/>
      <p:bldP spid="66628" grpId="0" animBg="1"/>
      <p:bldP spid="66631" grpId="0" animBg="1"/>
      <p:bldP spid="66632" grpId="0" animBg="1"/>
      <p:bldP spid="6663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9725" y="2992438"/>
            <a:ext cx="3030538" cy="1695450"/>
            <a:chOff x="0" y="1357"/>
            <a:chExt cx="2131" cy="1179"/>
          </a:xfrm>
        </p:grpSpPr>
        <p:sp>
          <p:nvSpPr>
            <p:cNvPr id="29784" name="AutoShape 3"/>
            <p:cNvSpPr>
              <a:spLocks noChangeArrowheads="1"/>
            </p:cNvSpPr>
            <p:nvPr/>
          </p:nvSpPr>
          <p:spPr bwMode="auto">
            <a:xfrm>
              <a:off x="0" y="1784"/>
              <a:ext cx="2131" cy="752"/>
            </a:xfrm>
            <a:prstGeom prst="wedgeRoundRectCallout">
              <a:avLst>
                <a:gd name="adj1" fmla="val 27815"/>
                <a:gd name="adj2" fmla="val -39972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若将投影中心“</a:t>
              </a:r>
              <a:r>
                <a:rPr lang="en-US" altLang="zh-CN" sz="2400">
                  <a:latin typeface="ISOCPEUR" pitchFamily="34" charset="0"/>
                  <a:ea typeface="黑体" pitchFamily="2" charset="-122"/>
                </a:rPr>
                <a:t>S</a:t>
              </a:r>
              <a:r>
                <a:rPr lang="en-US" altLang="zh-CN" sz="2400">
                  <a:ea typeface="黑体" pitchFamily="2" charset="-122"/>
                </a:rPr>
                <a:t>”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ea typeface="黑体" pitchFamily="2" charset="-122"/>
                </a:rPr>
                <a:t>向左移至无穷远处</a:t>
              </a:r>
            </a:p>
          </p:txBody>
        </p:sp>
        <p:sp>
          <p:nvSpPr>
            <p:cNvPr id="29785" name="Line 4"/>
            <p:cNvSpPr>
              <a:spLocks noChangeShapeType="1"/>
            </p:cNvSpPr>
            <p:nvPr/>
          </p:nvSpPr>
          <p:spPr bwMode="auto">
            <a:xfrm flipV="1">
              <a:off x="1429" y="1357"/>
              <a:ext cx="499" cy="4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8005" name="Oval 5"/>
          <p:cNvSpPr>
            <a:spLocks noChangeArrowheads="1"/>
          </p:cNvSpPr>
          <p:nvPr/>
        </p:nvSpPr>
        <p:spPr bwMode="auto">
          <a:xfrm>
            <a:off x="-165100" y="2919413"/>
            <a:ext cx="88900" cy="889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3132138" y="2917825"/>
            <a:ext cx="6011862" cy="550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47975" y="1096963"/>
            <a:ext cx="6002338" cy="4427537"/>
            <a:chOff x="1265" y="432"/>
            <a:chExt cx="3781" cy="2789"/>
          </a:xfrm>
        </p:grpSpPr>
        <p:sp>
          <p:nvSpPr>
            <p:cNvPr id="29747" name="Text Box 8"/>
            <p:cNvSpPr txBox="1">
              <a:spLocks noChangeArrowheads="1"/>
            </p:cNvSpPr>
            <p:nvPr/>
          </p:nvSpPr>
          <p:spPr bwMode="auto">
            <a:xfrm>
              <a:off x="2633" y="1332"/>
              <a:ext cx="2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9748" name="Text Box 9"/>
            <p:cNvSpPr txBox="1">
              <a:spLocks noChangeArrowheads="1"/>
            </p:cNvSpPr>
            <p:nvPr/>
          </p:nvSpPr>
          <p:spPr bwMode="auto">
            <a:xfrm>
              <a:off x="2326" y="1798"/>
              <a:ext cx="2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E</a:t>
              </a:r>
            </a:p>
          </p:txBody>
        </p:sp>
        <p:sp>
          <p:nvSpPr>
            <p:cNvPr id="29749" name="Text Box 10"/>
            <p:cNvSpPr txBox="1">
              <a:spLocks noChangeArrowheads="1"/>
            </p:cNvSpPr>
            <p:nvPr/>
          </p:nvSpPr>
          <p:spPr bwMode="auto">
            <a:xfrm>
              <a:off x="3753" y="1359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d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29750" name="Text Box 11"/>
            <p:cNvSpPr txBox="1">
              <a:spLocks noChangeArrowheads="1"/>
            </p:cNvSpPr>
            <p:nvPr/>
          </p:nvSpPr>
          <p:spPr bwMode="auto">
            <a:xfrm>
              <a:off x="4366" y="217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</a:rPr>
                <a:t>e</a:t>
              </a:r>
              <a:endParaRPr lang="en-US" altLang="zh-CN" sz="2400" b="0">
                <a:latin typeface="ISOCPEUR" pitchFamily="34" charset="0"/>
              </a:endParaRPr>
            </a:p>
          </p:txBody>
        </p:sp>
        <p:grpSp>
          <p:nvGrpSpPr>
            <p:cNvPr id="29751" name="Group 12"/>
            <p:cNvGrpSpPr>
              <a:grpSpLocks/>
            </p:cNvGrpSpPr>
            <p:nvPr/>
          </p:nvGrpSpPr>
          <p:grpSpPr bwMode="auto">
            <a:xfrm>
              <a:off x="1265" y="432"/>
              <a:ext cx="3781" cy="2789"/>
              <a:chOff x="1265" y="432"/>
              <a:chExt cx="3781" cy="2789"/>
            </a:xfrm>
          </p:grpSpPr>
          <p:grpSp>
            <p:nvGrpSpPr>
              <p:cNvPr id="29758" name="Group 13"/>
              <p:cNvGrpSpPr>
                <a:grpSpLocks/>
              </p:cNvGrpSpPr>
              <p:nvPr/>
            </p:nvGrpSpPr>
            <p:grpSpPr bwMode="auto">
              <a:xfrm>
                <a:off x="3702" y="432"/>
                <a:ext cx="1344" cy="2789"/>
                <a:chOff x="3702" y="432"/>
                <a:chExt cx="1344" cy="2789"/>
              </a:xfrm>
            </p:grpSpPr>
            <p:sp>
              <p:nvSpPr>
                <p:cNvPr id="29781" name="Line 14"/>
                <p:cNvSpPr>
                  <a:spLocks noChangeShapeType="1"/>
                </p:cNvSpPr>
                <p:nvPr/>
              </p:nvSpPr>
              <p:spPr bwMode="auto">
                <a:xfrm>
                  <a:off x="3702" y="432"/>
                  <a:ext cx="1344" cy="7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2" name="Line 15"/>
                <p:cNvSpPr>
                  <a:spLocks noChangeShapeType="1"/>
                </p:cNvSpPr>
                <p:nvPr/>
              </p:nvSpPr>
              <p:spPr bwMode="auto">
                <a:xfrm>
                  <a:off x="5046" y="1205"/>
                  <a:ext cx="0" cy="20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3" name="Freeform 16"/>
                <p:cNvSpPr>
                  <a:spLocks/>
                </p:cNvSpPr>
                <p:nvPr/>
              </p:nvSpPr>
              <p:spPr bwMode="auto">
                <a:xfrm>
                  <a:off x="3702" y="437"/>
                  <a:ext cx="1344" cy="2784"/>
                </a:xfrm>
                <a:custGeom>
                  <a:avLst/>
                  <a:gdLst>
                    <a:gd name="T0" fmla="*/ 0 w 1344"/>
                    <a:gd name="T1" fmla="*/ 0 h 2784"/>
                    <a:gd name="T2" fmla="*/ 1344 w 1344"/>
                    <a:gd name="T3" fmla="*/ 768 h 2784"/>
                    <a:gd name="T4" fmla="*/ 1344 w 1344"/>
                    <a:gd name="T5" fmla="*/ 2784 h 2784"/>
                    <a:gd name="T6" fmla="*/ 0 w 1344"/>
                    <a:gd name="T7" fmla="*/ 2008 h 2784"/>
                    <a:gd name="T8" fmla="*/ 0 w 1344"/>
                    <a:gd name="T9" fmla="*/ 0 h 27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44"/>
                    <a:gd name="T16" fmla="*/ 0 h 2784"/>
                    <a:gd name="T17" fmla="*/ 1344 w 1344"/>
                    <a:gd name="T18" fmla="*/ 2784 h 27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44" h="2784">
                      <a:moveTo>
                        <a:pt x="0" y="0"/>
                      </a:moveTo>
                      <a:lnTo>
                        <a:pt x="1344" y="768"/>
                      </a:lnTo>
                      <a:lnTo>
                        <a:pt x="1344" y="2784"/>
                      </a:lnTo>
                      <a:lnTo>
                        <a:pt x="0" y="200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9759" name="Text Box 17"/>
              <p:cNvSpPr txBox="1">
                <a:spLocks noChangeArrowheads="1"/>
              </p:cNvSpPr>
              <p:nvPr/>
            </p:nvSpPr>
            <p:spPr bwMode="auto">
              <a:xfrm>
                <a:off x="4706" y="278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grpSp>
            <p:nvGrpSpPr>
              <p:cNvPr id="29760" name="Group 18"/>
              <p:cNvGrpSpPr>
                <a:grpSpLocks/>
              </p:cNvGrpSpPr>
              <p:nvPr/>
            </p:nvGrpSpPr>
            <p:grpSpPr bwMode="auto">
              <a:xfrm>
                <a:off x="2352" y="1344"/>
                <a:ext cx="576" cy="768"/>
                <a:chOff x="2352" y="1344"/>
                <a:chExt cx="576" cy="768"/>
              </a:xfrm>
            </p:grpSpPr>
            <p:sp>
              <p:nvSpPr>
                <p:cNvPr id="29778" name="Freeform 19"/>
                <p:cNvSpPr>
                  <a:spLocks/>
                </p:cNvSpPr>
                <p:nvPr/>
              </p:nvSpPr>
              <p:spPr bwMode="auto">
                <a:xfrm>
                  <a:off x="2352" y="1344"/>
                  <a:ext cx="576" cy="768"/>
                </a:xfrm>
                <a:custGeom>
                  <a:avLst/>
                  <a:gdLst>
                    <a:gd name="T0" fmla="*/ 0 w 576"/>
                    <a:gd name="T1" fmla="*/ 336 h 768"/>
                    <a:gd name="T2" fmla="*/ 240 w 576"/>
                    <a:gd name="T3" fmla="*/ 0 h 768"/>
                    <a:gd name="T4" fmla="*/ 576 w 576"/>
                    <a:gd name="T5" fmla="*/ 768 h 768"/>
                    <a:gd name="T6" fmla="*/ 0 w 576"/>
                    <a:gd name="T7" fmla="*/ 336 h 7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76"/>
                    <a:gd name="T13" fmla="*/ 0 h 768"/>
                    <a:gd name="T14" fmla="*/ 576 w 576"/>
                    <a:gd name="T15" fmla="*/ 768 h 7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76" h="768">
                      <a:moveTo>
                        <a:pt x="0" y="336"/>
                      </a:moveTo>
                      <a:lnTo>
                        <a:pt x="240" y="0"/>
                      </a:lnTo>
                      <a:lnTo>
                        <a:pt x="576" y="768"/>
                      </a:lnTo>
                      <a:lnTo>
                        <a:pt x="0" y="33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79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2355" y="1344"/>
                  <a:ext cx="237" cy="34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80" name="Line 21"/>
                <p:cNvSpPr>
                  <a:spLocks noChangeShapeType="1"/>
                </p:cNvSpPr>
                <p:nvPr/>
              </p:nvSpPr>
              <p:spPr bwMode="auto">
                <a:xfrm>
                  <a:off x="2355" y="1686"/>
                  <a:ext cx="561" cy="41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9761" name="Line 22"/>
              <p:cNvSpPr>
                <a:spLocks noChangeShapeType="1"/>
              </p:cNvSpPr>
              <p:nvPr/>
            </p:nvSpPr>
            <p:spPr bwMode="auto">
              <a:xfrm flipV="1">
                <a:off x="1422" y="1039"/>
                <a:ext cx="2484" cy="5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62" name="Line 23"/>
              <p:cNvSpPr>
                <a:spLocks noChangeShapeType="1"/>
              </p:cNvSpPr>
              <p:nvPr/>
            </p:nvSpPr>
            <p:spPr bwMode="auto">
              <a:xfrm>
                <a:off x="1422" y="1611"/>
                <a:ext cx="2753" cy="9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63" name="Freeform 24"/>
              <p:cNvSpPr>
                <a:spLocks/>
              </p:cNvSpPr>
              <p:nvPr/>
            </p:nvSpPr>
            <p:spPr bwMode="auto">
              <a:xfrm>
                <a:off x="3901" y="1033"/>
                <a:ext cx="755" cy="1478"/>
              </a:xfrm>
              <a:custGeom>
                <a:avLst/>
                <a:gdLst>
                  <a:gd name="T0" fmla="*/ 0 w 755"/>
                  <a:gd name="T1" fmla="*/ 0 h 1478"/>
                  <a:gd name="T2" fmla="*/ 755 w 755"/>
                  <a:gd name="T3" fmla="*/ 845 h 1478"/>
                  <a:gd name="T4" fmla="*/ 277 w 755"/>
                  <a:gd name="T5" fmla="*/ 1478 h 1478"/>
                  <a:gd name="T6" fmla="*/ 0 w 755"/>
                  <a:gd name="T7" fmla="*/ 0 h 14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5"/>
                  <a:gd name="T13" fmla="*/ 0 h 1478"/>
                  <a:gd name="T14" fmla="*/ 755 w 755"/>
                  <a:gd name="T15" fmla="*/ 1478 h 14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5" h="1478">
                    <a:moveTo>
                      <a:pt x="0" y="0"/>
                    </a:moveTo>
                    <a:lnTo>
                      <a:pt x="755" y="845"/>
                    </a:lnTo>
                    <a:lnTo>
                      <a:pt x="277" y="14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64" name="Text Box 25"/>
              <p:cNvSpPr txBox="1">
                <a:spLocks noChangeArrowheads="1"/>
              </p:cNvSpPr>
              <p:nvPr/>
            </p:nvSpPr>
            <p:spPr bwMode="auto">
              <a:xfrm>
                <a:off x="1265" y="1267"/>
                <a:ext cx="27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  <a:ea typeface="黑体" pitchFamily="2" charset="-122"/>
                  </a:rPr>
                  <a:t>S</a:t>
                </a:r>
                <a:endParaRPr lang="en-US" altLang="zh-CN" sz="2400" b="0">
                  <a:latin typeface="ISOCPEUR" pitchFamily="34" charset="0"/>
                  <a:ea typeface="黑体" pitchFamily="2" charset="-122"/>
                </a:endParaRPr>
              </a:p>
            </p:txBody>
          </p:sp>
          <p:sp>
            <p:nvSpPr>
              <p:cNvPr id="29765" name="Text Box 26"/>
              <p:cNvSpPr txBox="1">
                <a:spLocks noChangeArrowheads="1"/>
              </p:cNvSpPr>
              <p:nvPr/>
            </p:nvSpPr>
            <p:spPr bwMode="auto">
              <a:xfrm>
                <a:off x="2414" y="1079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9766" name="Text Box 27"/>
              <p:cNvSpPr txBox="1">
                <a:spLocks noChangeArrowheads="1"/>
              </p:cNvSpPr>
              <p:nvPr/>
            </p:nvSpPr>
            <p:spPr bwMode="auto">
              <a:xfrm>
                <a:off x="2156" y="1422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9767" name="Text Box 28"/>
              <p:cNvSpPr txBox="1">
                <a:spLocks noChangeArrowheads="1"/>
              </p:cNvSpPr>
              <p:nvPr/>
            </p:nvSpPr>
            <p:spPr bwMode="auto">
              <a:xfrm>
                <a:off x="2687" y="2067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  <p:sp>
            <p:nvSpPr>
              <p:cNvPr id="29768" name="Text Box 29"/>
              <p:cNvSpPr txBox="1">
                <a:spLocks noChangeArrowheads="1"/>
              </p:cNvSpPr>
              <p:nvPr/>
            </p:nvSpPr>
            <p:spPr bwMode="auto">
              <a:xfrm>
                <a:off x="3770" y="819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29769" name="Text Box 30"/>
              <p:cNvSpPr txBox="1">
                <a:spLocks noChangeArrowheads="1"/>
              </p:cNvSpPr>
              <p:nvPr/>
            </p:nvSpPr>
            <p:spPr bwMode="auto">
              <a:xfrm>
                <a:off x="4110" y="2473"/>
                <a:ext cx="1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c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29770" name="AutoShape 31"/>
              <p:cNvSpPr>
                <a:spLocks noChangeArrowheads="1"/>
              </p:cNvSpPr>
              <p:nvPr/>
            </p:nvSpPr>
            <p:spPr bwMode="auto">
              <a:xfrm>
                <a:off x="3879" y="1011"/>
                <a:ext cx="47" cy="48"/>
              </a:xfrm>
              <a:prstGeom prst="flowChartConnector">
                <a:avLst/>
              </a:prstGeom>
              <a:solidFill>
                <a:srgbClr val="CC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  <p:sp>
            <p:nvSpPr>
              <p:cNvPr id="29771" name="AutoShape 32"/>
              <p:cNvSpPr>
                <a:spLocks noChangeArrowheads="1"/>
              </p:cNvSpPr>
              <p:nvPr/>
            </p:nvSpPr>
            <p:spPr bwMode="auto">
              <a:xfrm>
                <a:off x="4154" y="2494"/>
                <a:ext cx="47" cy="48"/>
              </a:xfrm>
              <a:prstGeom prst="flowChartConnector">
                <a:avLst/>
              </a:prstGeom>
              <a:solidFill>
                <a:srgbClr val="CC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  <p:sp>
            <p:nvSpPr>
              <p:cNvPr id="29772" name="Text Box 33"/>
              <p:cNvSpPr txBox="1">
                <a:spLocks noChangeArrowheads="1"/>
              </p:cNvSpPr>
              <p:nvPr/>
            </p:nvSpPr>
            <p:spPr bwMode="auto">
              <a:xfrm>
                <a:off x="2935" y="895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s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29773" name="Line 34"/>
              <p:cNvSpPr>
                <a:spLocks noChangeShapeType="1"/>
              </p:cNvSpPr>
              <p:nvPr/>
            </p:nvSpPr>
            <p:spPr bwMode="auto">
              <a:xfrm>
                <a:off x="1431" y="1608"/>
                <a:ext cx="3226" cy="2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74" name="Line 35"/>
              <p:cNvSpPr>
                <a:spLocks noChangeShapeType="1"/>
              </p:cNvSpPr>
              <p:nvPr/>
            </p:nvSpPr>
            <p:spPr bwMode="auto">
              <a:xfrm flipV="1">
                <a:off x="2924" y="1076"/>
                <a:ext cx="348" cy="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75" name="AutoShape 36"/>
              <p:cNvSpPr>
                <a:spLocks noChangeArrowheads="1"/>
              </p:cNvSpPr>
              <p:nvPr/>
            </p:nvSpPr>
            <p:spPr bwMode="auto">
              <a:xfrm>
                <a:off x="1398" y="1578"/>
                <a:ext cx="60" cy="63"/>
              </a:xfrm>
              <a:prstGeom prst="flowChartConnector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  <p:sp>
            <p:nvSpPr>
              <p:cNvPr id="29776" name="Text Box 37"/>
              <p:cNvSpPr txBox="1">
                <a:spLocks noChangeArrowheads="1"/>
              </p:cNvSpPr>
              <p:nvPr/>
            </p:nvSpPr>
            <p:spPr bwMode="auto">
              <a:xfrm>
                <a:off x="4626" y="1669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b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  <p:sp>
            <p:nvSpPr>
              <p:cNvPr id="29777" name="AutoShape 38"/>
              <p:cNvSpPr>
                <a:spLocks noChangeArrowheads="1"/>
              </p:cNvSpPr>
              <p:nvPr/>
            </p:nvSpPr>
            <p:spPr bwMode="auto">
              <a:xfrm>
                <a:off x="4626" y="1854"/>
                <a:ext cx="47" cy="48"/>
              </a:xfrm>
              <a:prstGeom prst="flowChartConnector">
                <a:avLst/>
              </a:prstGeom>
              <a:solidFill>
                <a:srgbClr val="CCFF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2400">
                  <a:ea typeface="黑体" pitchFamily="2" charset="-122"/>
                </a:endParaRPr>
              </a:p>
            </p:txBody>
          </p:sp>
        </p:grpSp>
        <p:sp>
          <p:nvSpPr>
            <p:cNvPr id="29752" name="Line 39"/>
            <p:cNvSpPr>
              <a:spLocks noChangeShapeType="1"/>
            </p:cNvSpPr>
            <p:nvPr/>
          </p:nvSpPr>
          <p:spPr bwMode="auto">
            <a:xfrm flipH="1">
              <a:off x="2538" y="1583"/>
              <a:ext cx="158" cy="2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3" name="Line 40"/>
            <p:cNvSpPr>
              <a:spLocks noChangeShapeType="1"/>
            </p:cNvSpPr>
            <p:nvPr/>
          </p:nvSpPr>
          <p:spPr bwMode="auto">
            <a:xfrm flipV="1">
              <a:off x="1459" y="1549"/>
              <a:ext cx="2540" cy="59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4" name="Line 41"/>
            <p:cNvSpPr>
              <a:spLocks noChangeShapeType="1"/>
            </p:cNvSpPr>
            <p:nvPr/>
          </p:nvSpPr>
          <p:spPr bwMode="auto">
            <a:xfrm>
              <a:off x="1456" y="1615"/>
              <a:ext cx="2940" cy="5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Line 42"/>
            <p:cNvSpPr>
              <a:spLocks noChangeShapeType="1"/>
            </p:cNvSpPr>
            <p:nvPr/>
          </p:nvSpPr>
          <p:spPr bwMode="auto">
            <a:xfrm>
              <a:off x="4004" y="1548"/>
              <a:ext cx="418" cy="6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6" name="AutoShape 43"/>
            <p:cNvSpPr>
              <a:spLocks noChangeArrowheads="1"/>
            </p:cNvSpPr>
            <p:nvPr/>
          </p:nvSpPr>
          <p:spPr bwMode="auto">
            <a:xfrm>
              <a:off x="3970" y="1522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29757" name="AutoShape 44"/>
            <p:cNvSpPr>
              <a:spLocks noChangeArrowheads="1"/>
            </p:cNvSpPr>
            <p:nvPr/>
          </p:nvSpPr>
          <p:spPr bwMode="auto">
            <a:xfrm>
              <a:off x="4396" y="2157"/>
              <a:ext cx="47" cy="48"/>
            </a:xfrm>
            <a:prstGeom prst="flowChartConnector">
              <a:avLst/>
            </a:prstGeom>
            <a:solidFill>
              <a:srgbClr val="CC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</p:grpSp>
      <p:sp>
        <p:nvSpPr>
          <p:cNvPr id="128045" name="Rectangle 45"/>
          <p:cNvSpPr>
            <a:spLocks noChangeArrowheads="1"/>
          </p:cNvSpPr>
          <p:nvPr/>
        </p:nvSpPr>
        <p:spPr bwMode="auto">
          <a:xfrm>
            <a:off x="63500" y="981075"/>
            <a:ext cx="9028113" cy="4813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128046" name="Line 46"/>
          <p:cNvSpPr>
            <a:spLocks noChangeShapeType="1"/>
          </p:cNvSpPr>
          <p:nvPr/>
        </p:nvSpPr>
        <p:spPr bwMode="auto">
          <a:xfrm>
            <a:off x="3240088" y="2535238"/>
            <a:ext cx="3868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47" name="Line 47"/>
          <p:cNvSpPr>
            <a:spLocks noChangeShapeType="1"/>
          </p:cNvSpPr>
          <p:nvPr/>
        </p:nvSpPr>
        <p:spPr bwMode="auto">
          <a:xfrm>
            <a:off x="3257550" y="3746500"/>
            <a:ext cx="41544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48" name="Rectangle 48"/>
          <p:cNvSpPr>
            <a:spLocks noChangeArrowheads="1"/>
          </p:cNvSpPr>
          <p:nvPr/>
        </p:nvSpPr>
        <p:spPr bwMode="auto">
          <a:xfrm>
            <a:off x="5637213" y="198596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s</a:t>
            </a:r>
          </a:p>
        </p:txBody>
      </p:sp>
      <p:sp>
        <p:nvSpPr>
          <p:cNvPr id="29707" name="Text Box 49"/>
          <p:cNvSpPr txBox="1">
            <a:spLocks noChangeArrowheads="1"/>
          </p:cNvSpPr>
          <p:nvPr/>
        </p:nvSpPr>
        <p:spPr bwMode="auto">
          <a:xfrm>
            <a:off x="292100" y="282575"/>
            <a:ext cx="8851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0">
                <a:ea typeface="黑体" pitchFamily="2" charset="-122"/>
              </a:rPr>
              <a:t>二．</a:t>
            </a:r>
            <a:r>
              <a:rPr lang="zh-CN" altLang="en-US">
                <a:ea typeface="黑体" pitchFamily="2" charset="-122"/>
              </a:rPr>
              <a:t>平行投影法</a:t>
            </a:r>
            <a:endParaRPr lang="zh-CN" altLang="en-US" b="0">
              <a:ea typeface="黑体" pitchFamily="2" charset="-122"/>
            </a:endParaRPr>
          </a:p>
        </p:txBody>
      </p:sp>
      <p:sp>
        <p:nvSpPr>
          <p:cNvPr id="128050" name="Text Box 50"/>
          <p:cNvSpPr txBox="1">
            <a:spLocks noChangeArrowheads="1"/>
          </p:cNvSpPr>
          <p:nvPr/>
        </p:nvSpPr>
        <p:spPr bwMode="auto">
          <a:xfrm>
            <a:off x="323850" y="1531938"/>
            <a:ext cx="88201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ea typeface="黑体" pitchFamily="2" charset="-122"/>
              </a:rPr>
              <a:t>平行投影</a:t>
            </a:r>
            <a:r>
              <a:rPr lang="en-US" altLang="zh-CN" sz="2400">
                <a:solidFill>
                  <a:srgbClr val="FF3300"/>
                </a:solidFill>
                <a:ea typeface="黑体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ISOCP" pitchFamily="2" charset="0"/>
                <a:ea typeface="黑体" pitchFamily="2" charset="-122"/>
              </a:rPr>
              <a:t>投射线相互平行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ISOCP" pitchFamily="2" charset="0"/>
                <a:ea typeface="黑体" pitchFamily="2" charset="-122"/>
              </a:rPr>
              <a:t>的投影方法</a:t>
            </a:r>
          </a:p>
        </p:txBody>
      </p:sp>
      <p:sp>
        <p:nvSpPr>
          <p:cNvPr id="128051" name="Text Box 51"/>
          <p:cNvSpPr txBox="1">
            <a:spLocks noChangeArrowheads="1"/>
          </p:cNvSpPr>
          <p:nvPr/>
        </p:nvSpPr>
        <p:spPr bwMode="auto">
          <a:xfrm>
            <a:off x="198438" y="4084638"/>
            <a:ext cx="8677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优点：具有平行性、等比性、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实形性（当空间的面、线与投影面平行时）。</a:t>
            </a:r>
          </a:p>
        </p:txBody>
      </p:sp>
      <p:sp>
        <p:nvSpPr>
          <p:cNvPr id="128053" name="Text Box 53"/>
          <p:cNvSpPr txBox="1">
            <a:spLocks noChangeArrowheads="1"/>
          </p:cNvSpPr>
          <p:nvPr/>
        </p:nvSpPr>
        <p:spPr bwMode="auto">
          <a:xfrm>
            <a:off x="6927850" y="21336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4" name="Text Box 54"/>
          <p:cNvSpPr txBox="1">
            <a:spLocks noChangeArrowheads="1"/>
          </p:cNvSpPr>
          <p:nvPr/>
        </p:nvSpPr>
        <p:spPr bwMode="auto">
          <a:xfrm>
            <a:off x="8274050" y="274637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b</a:t>
            </a:r>
            <a:endParaRPr lang="en-US" altLang="zh-CN" sz="2000" b="0">
              <a:latin typeface="ISOCPEUR" pitchFamily="34" charset="0"/>
            </a:endParaRPr>
          </a:p>
        </p:txBody>
      </p:sp>
      <p:sp>
        <p:nvSpPr>
          <p:cNvPr id="128055" name="Text Box 55"/>
          <p:cNvSpPr txBox="1">
            <a:spLocks noChangeArrowheads="1"/>
          </p:cNvSpPr>
          <p:nvPr/>
        </p:nvSpPr>
        <p:spPr bwMode="auto">
          <a:xfrm>
            <a:off x="7200900" y="366395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c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6" name="Text Box 56"/>
          <p:cNvSpPr txBox="1">
            <a:spLocks noChangeArrowheads="1"/>
          </p:cNvSpPr>
          <p:nvPr/>
        </p:nvSpPr>
        <p:spPr bwMode="auto">
          <a:xfrm>
            <a:off x="6773863" y="2597150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d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7" name="Text Box 57"/>
          <p:cNvSpPr txBox="1">
            <a:spLocks noChangeArrowheads="1"/>
          </p:cNvSpPr>
          <p:nvPr/>
        </p:nvSpPr>
        <p:spPr bwMode="auto">
          <a:xfrm>
            <a:off x="7931150" y="31877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e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58" name="Line 58"/>
          <p:cNvSpPr>
            <a:spLocks noChangeShapeType="1"/>
          </p:cNvSpPr>
          <p:nvPr/>
        </p:nvSpPr>
        <p:spPr bwMode="auto">
          <a:xfrm>
            <a:off x="7197725" y="2901950"/>
            <a:ext cx="842963" cy="376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59" name="Freeform 59"/>
          <p:cNvSpPr>
            <a:spLocks/>
          </p:cNvSpPr>
          <p:nvPr/>
        </p:nvSpPr>
        <p:spPr bwMode="auto">
          <a:xfrm>
            <a:off x="7110413" y="2528888"/>
            <a:ext cx="1219200" cy="1219200"/>
          </a:xfrm>
          <a:custGeom>
            <a:avLst/>
            <a:gdLst>
              <a:gd name="T0" fmla="*/ 0 w 768"/>
              <a:gd name="T1" fmla="*/ 0 h 768"/>
              <a:gd name="T2" fmla="*/ 2147483647 w 768"/>
              <a:gd name="T3" fmla="*/ 2147483647 h 768"/>
              <a:gd name="T4" fmla="*/ 2147483647 w 768"/>
              <a:gd name="T5" fmla="*/ 2147483647 h 768"/>
              <a:gd name="T6" fmla="*/ 0 w 768"/>
              <a:gd name="T7" fmla="*/ 0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768"/>
              <a:gd name="T14" fmla="*/ 768 w 768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768">
                <a:moveTo>
                  <a:pt x="0" y="0"/>
                </a:moveTo>
                <a:lnTo>
                  <a:pt x="189" y="768"/>
                </a:lnTo>
                <a:lnTo>
                  <a:pt x="768" y="333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4252913" y="1082675"/>
            <a:ext cx="4587875" cy="4427538"/>
            <a:chOff x="2679" y="154"/>
            <a:chExt cx="2890" cy="2789"/>
          </a:xfrm>
        </p:grpSpPr>
        <p:grpSp>
          <p:nvGrpSpPr>
            <p:cNvPr id="29732" name="Group 61"/>
            <p:cNvGrpSpPr>
              <a:grpSpLocks/>
            </p:cNvGrpSpPr>
            <p:nvPr/>
          </p:nvGrpSpPr>
          <p:grpSpPr bwMode="auto">
            <a:xfrm>
              <a:off x="4225" y="154"/>
              <a:ext cx="1344" cy="2789"/>
              <a:chOff x="3600" y="619"/>
              <a:chExt cx="1344" cy="2789"/>
            </a:xfrm>
          </p:grpSpPr>
          <p:sp>
            <p:nvSpPr>
              <p:cNvPr id="29744" name="Line 62"/>
              <p:cNvSpPr>
                <a:spLocks noChangeShapeType="1"/>
              </p:cNvSpPr>
              <p:nvPr/>
            </p:nvSpPr>
            <p:spPr bwMode="auto">
              <a:xfrm>
                <a:off x="3600" y="619"/>
                <a:ext cx="1344" cy="7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5" name="Line 63"/>
              <p:cNvSpPr>
                <a:spLocks noChangeShapeType="1"/>
              </p:cNvSpPr>
              <p:nvPr/>
            </p:nvSpPr>
            <p:spPr bwMode="auto">
              <a:xfrm>
                <a:off x="4944" y="1392"/>
                <a:ext cx="0" cy="20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6" name="Freeform 64"/>
              <p:cNvSpPr>
                <a:spLocks/>
              </p:cNvSpPr>
              <p:nvPr/>
            </p:nvSpPr>
            <p:spPr bwMode="auto">
              <a:xfrm>
                <a:off x="3600" y="624"/>
                <a:ext cx="1344" cy="2784"/>
              </a:xfrm>
              <a:custGeom>
                <a:avLst/>
                <a:gdLst>
                  <a:gd name="T0" fmla="*/ 0 w 1344"/>
                  <a:gd name="T1" fmla="*/ 0 h 2784"/>
                  <a:gd name="T2" fmla="*/ 1344 w 1344"/>
                  <a:gd name="T3" fmla="*/ 768 h 2784"/>
                  <a:gd name="T4" fmla="*/ 1344 w 1344"/>
                  <a:gd name="T5" fmla="*/ 2784 h 2784"/>
                  <a:gd name="T6" fmla="*/ 0 w 1344"/>
                  <a:gd name="T7" fmla="*/ 2008 h 2784"/>
                  <a:gd name="T8" fmla="*/ 0 w 1344"/>
                  <a:gd name="T9" fmla="*/ 0 h 27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4"/>
                  <a:gd name="T16" fmla="*/ 0 h 2784"/>
                  <a:gd name="T17" fmla="*/ 1344 w 1344"/>
                  <a:gd name="T18" fmla="*/ 2784 h 27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4" h="2784">
                    <a:moveTo>
                      <a:pt x="0" y="0"/>
                    </a:moveTo>
                    <a:lnTo>
                      <a:pt x="1344" y="768"/>
                    </a:lnTo>
                    <a:lnTo>
                      <a:pt x="1344" y="2784"/>
                    </a:lnTo>
                    <a:lnTo>
                      <a:pt x="0" y="200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33" name="Text Box 65"/>
            <p:cNvSpPr txBox="1">
              <a:spLocks noChangeArrowheads="1"/>
            </p:cNvSpPr>
            <p:nvPr/>
          </p:nvSpPr>
          <p:spPr bwMode="auto">
            <a:xfrm>
              <a:off x="5225" y="2506"/>
              <a:ext cx="2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</a:t>
              </a:r>
            </a:p>
          </p:txBody>
        </p:sp>
        <p:grpSp>
          <p:nvGrpSpPr>
            <p:cNvPr id="29734" name="Group 66"/>
            <p:cNvGrpSpPr>
              <a:grpSpLocks/>
            </p:cNvGrpSpPr>
            <p:nvPr/>
          </p:nvGrpSpPr>
          <p:grpSpPr bwMode="auto">
            <a:xfrm>
              <a:off x="2875" y="1066"/>
              <a:ext cx="576" cy="768"/>
              <a:chOff x="2352" y="1344"/>
              <a:chExt cx="576" cy="768"/>
            </a:xfrm>
          </p:grpSpPr>
          <p:sp>
            <p:nvSpPr>
              <p:cNvPr id="29741" name="Freeform 67"/>
              <p:cNvSpPr>
                <a:spLocks/>
              </p:cNvSpPr>
              <p:nvPr/>
            </p:nvSpPr>
            <p:spPr bwMode="auto">
              <a:xfrm>
                <a:off x="2352" y="1344"/>
                <a:ext cx="576" cy="768"/>
              </a:xfrm>
              <a:custGeom>
                <a:avLst/>
                <a:gdLst>
                  <a:gd name="T0" fmla="*/ 0 w 576"/>
                  <a:gd name="T1" fmla="*/ 336 h 768"/>
                  <a:gd name="T2" fmla="*/ 240 w 576"/>
                  <a:gd name="T3" fmla="*/ 0 h 768"/>
                  <a:gd name="T4" fmla="*/ 576 w 576"/>
                  <a:gd name="T5" fmla="*/ 768 h 768"/>
                  <a:gd name="T6" fmla="*/ 0 w 576"/>
                  <a:gd name="T7" fmla="*/ 336 h 7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768"/>
                  <a:gd name="T14" fmla="*/ 576 w 576"/>
                  <a:gd name="T15" fmla="*/ 768 h 7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768">
                    <a:moveTo>
                      <a:pt x="0" y="336"/>
                    </a:moveTo>
                    <a:lnTo>
                      <a:pt x="240" y="0"/>
                    </a:lnTo>
                    <a:lnTo>
                      <a:pt x="576" y="768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2" name="Line 68"/>
              <p:cNvSpPr>
                <a:spLocks noChangeShapeType="1"/>
              </p:cNvSpPr>
              <p:nvPr/>
            </p:nvSpPr>
            <p:spPr bwMode="auto">
              <a:xfrm flipH="1">
                <a:off x="2352" y="1344"/>
                <a:ext cx="24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3" name="Line 69"/>
              <p:cNvSpPr>
                <a:spLocks noChangeShapeType="1"/>
              </p:cNvSpPr>
              <p:nvPr/>
            </p:nvSpPr>
            <p:spPr bwMode="auto">
              <a:xfrm>
                <a:off x="2352" y="1680"/>
                <a:ext cx="576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35" name="Text Box 70"/>
            <p:cNvSpPr txBox="1">
              <a:spLocks noChangeArrowheads="1"/>
            </p:cNvSpPr>
            <p:nvPr/>
          </p:nvSpPr>
          <p:spPr bwMode="auto">
            <a:xfrm>
              <a:off x="2941" y="801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9736" name="Text Box 71"/>
            <p:cNvSpPr txBox="1">
              <a:spLocks noChangeArrowheads="1"/>
            </p:cNvSpPr>
            <p:nvPr/>
          </p:nvSpPr>
          <p:spPr bwMode="auto">
            <a:xfrm>
              <a:off x="2679" y="1144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9737" name="Text Box 72"/>
            <p:cNvSpPr txBox="1">
              <a:spLocks noChangeArrowheads="1"/>
            </p:cNvSpPr>
            <p:nvPr/>
          </p:nvSpPr>
          <p:spPr bwMode="auto">
            <a:xfrm>
              <a:off x="3209" y="1789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  <p:sp>
          <p:nvSpPr>
            <p:cNvPr id="29738" name="Line 73"/>
            <p:cNvSpPr>
              <a:spLocks noChangeShapeType="1"/>
            </p:cNvSpPr>
            <p:nvPr/>
          </p:nvSpPr>
          <p:spPr bwMode="auto">
            <a:xfrm flipH="1">
              <a:off x="3053" y="1304"/>
              <a:ext cx="164" cy="2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9" name="Text Box 74"/>
            <p:cNvSpPr txBox="1">
              <a:spLocks noChangeArrowheads="1"/>
            </p:cNvSpPr>
            <p:nvPr/>
          </p:nvSpPr>
          <p:spPr bwMode="auto">
            <a:xfrm>
              <a:off x="3174" y="1054"/>
              <a:ext cx="2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</a:p>
          </p:txBody>
        </p:sp>
        <p:sp>
          <p:nvSpPr>
            <p:cNvPr id="29740" name="Text Box 75"/>
            <p:cNvSpPr txBox="1">
              <a:spLocks noChangeArrowheads="1"/>
            </p:cNvSpPr>
            <p:nvPr/>
          </p:nvSpPr>
          <p:spPr bwMode="auto">
            <a:xfrm>
              <a:off x="2861" y="156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E</a:t>
              </a:r>
            </a:p>
          </p:txBody>
        </p:sp>
      </p:grpSp>
      <p:sp>
        <p:nvSpPr>
          <p:cNvPr id="128076" name="Line 76"/>
          <p:cNvSpPr>
            <a:spLocks noChangeShapeType="1"/>
          </p:cNvSpPr>
          <p:nvPr/>
        </p:nvSpPr>
        <p:spPr bwMode="auto">
          <a:xfrm>
            <a:off x="3227388" y="3273425"/>
            <a:ext cx="4802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77" name="Line 77"/>
          <p:cNvSpPr>
            <a:spLocks noChangeShapeType="1"/>
          </p:cNvSpPr>
          <p:nvPr/>
        </p:nvSpPr>
        <p:spPr bwMode="auto">
          <a:xfrm>
            <a:off x="3240088" y="2906713"/>
            <a:ext cx="3944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78" name="Line 78"/>
          <p:cNvSpPr>
            <a:spLocks noChangeShapeType="1"/>
          </p:cNvSpPr>
          <p:nvPr/>
        </p:nvSpPr>
        <p:spPr bwMode="auto">
          <a:xfrm>
            <a:off x="3241675" y="3062288"/>
            <a:ext cx="5087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79" name="AutoShape 79"/>
          <p:cNvSpPr>
            <a:spLocks noChangeArrowheads="1"/>
          </p:cNvSpPr>
          <p:nvPr/>
        </p:nvSpPr>
        <p:spPr bwMode="auto">
          <a:xfrm>
            <a:off x="8278813" y="3022600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1" name="Line 81"/>
          <p:cNvSpPr>
            <a:spLocks noChangeShapeType="1"/>
          </p:cNvSpPr>
          <p:nvPr/>
        </p:nvSpPr>
        <p:spPr bwMode="auto">
          <a:xfrm>
            <a:off x="7200900" y="2905125"/>
            <a:ext cx="842963" cy="365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2" name="AutoShape 82"/>
          <p:cNvSpPr>
            <a:spLocks noChangeArrowheads="1"/>
          </p:cNvSpPr>
          <p:nvPr/>
        </p:nvSpPr>
        <p:spPr bwMode="auto">
          <a:xfrm>
            <a:off x="7377113" y="3708400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3" name="AutoShape 83"/>
          <p:cNvSpPr>
            <a:spLocks noChangeArrowheads="1"/>
          </p:cNvSpPr>
          <p:nvPr/>
        </p:nvSpPr>
        <p:spPr bwMode="auto">
          <a:xfrm>
            <a:off x="7078663" y="2497138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4" name="AutoShape 84"/>
          <p:cNvSpPr>
            <a:spLocks noChangeArrowheads="1"/>
          </p:cNvSpPr>
          <p:nvPr/>
        </p:nvSpPr>
        <p:spPr bwMode="auto">
          <a:xfrm>
            <a:off x="7164388" y="2865438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5" name="AutoShape 85"/>
          <p:cNvSpPr>
            <a:spLocks noChangeArrowheads="1"/>
          </p:cNvSpPr>
          <p:nvPr/>
        </p:nvSpPr>
        <p:spPr bwMode="auto">
          <a:xfrm>
            <a:off x="7991475" y="3233738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28086" name="Line 86"/>
          <p:cNvSpPr>
            <a:spLocks noChangeShapeType="1"/>
          </p:cNvSpPr>
          <p:nvPr/>
        </p:nvSpPr>
        <p:spPr bwMode="auto">
          <a:xfrm>
            <a:off x="5322888" y="2390775"/>
            <a:ext cx="89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7" name="Text Box 87"/>
          <p:cNvSpPr txBox="1">
            <a:spLocks noChangeArrowheads="1"/>
          </p:cNvSpPr>
          <p:nvPr/>
        </p:nvSpPr>
        <p:spPr bwMode="auto">
          <a:xfrm>
            <a:off x="3551238" y="1347788"/>
            <a:ext cx="55927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空间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AB∥DE,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投</a:t>
            </a:r>
            <a:r>
              <a:rPr lang="zh-CN" altLang="zh-CN" sz="2000">
                <a:latin typeface="黑体" pitchFamily="2" charset="-122"/>
                <a:ea typeface="黑体" pitchFamily="2" charset="-122"/>
              </a:rPr>
              <a:t>影</a:t>
            </a:r>
            <a:r>
              <a:rPr lang="en-US" altLang="zh-CN" sz="2000">
                <a:latin typeface="黑体" pitchFamily="2" charset="-122"/>
                <a:ea typeface="黑体" pitchFamily="2" charset="-122"/>
              </a:rPr>
              <a:t>ab∥de</a:t>
            </a:r>
          </a:p>
        </p:txBody>
      </p:sp>
      <p:sp>
        <p:nvSpPr>
          <p:cNvPr id="128088" name="Text Box 88"/>
          <p:cNvSpPr txBox="1">
            <a:spLocks noChangeArrowheads="1"/>
          </p:cNvSpPr>
          <p:nvPr/>
        </p:nvSpPr>
        <p:spPr bwMode="auto">
          <a:xfrm>
            <a:off x="3536950" y="1735138"/>
            <a:ext cx="560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 AD/DC = ad/dc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 animBg="1"/>
      <p:bldP spid="128045" grpId="0" animBg="1" autoUpdateAnimBg="0"/>
      <p:bldP spid="128046" grpId="0" animBg="1"/>
      <p:bldP spid="128047" grpId="0" animBg="1"/>
      <p:bldP spid="128048" grpId="0" autoUpdateAnimBg="0"/>
      <p:bldP spid="128050" grpId="0" autoUpdateAnimBg="0"/>
      <p:bldP spid="128051" grpId="0" autoUpdateAnimBg="0"/>
      <p:bldP spid="128054" grpId="0" autoUpdateAnimBg="0"/>
      <p:bldP spid="128055" grpId="0" autoUpdateAnimBg="0"/>
      <p:bldP spid="128056" grpId="0" autoUpdateAnimBg="0"/>
      <p:bldP spid="128057" grpId="0" autoUpdateAnimBg="0"/>
      <p:bldP spid="128058" grpId="0" animBg="1"/>
      <p:bldP spid="128059" grpId="0" animBg="1"/>
      <p:bldP spid="128076" grpId="0" animBg="1"/>
      <p:bldP spid="128077" grpId="0" animBg="1"/>
      <p:bldP spid="128078" grpId="0" animBg="1"/>
      <p:bldP spid="128079" grpId="0" animBg="1"/>
      <p:bldP spid="128081" grpId="0" animBg="1"/>
      <p:bldP spid="128082" grpId="0" animBg="1"/>
      <p:bldP spid="128083" grpId="0" animBg="1"/>
      <p:bldP spid="128084" grpId="0" animBg="1"/>
      <p:bldP spid="128085" grpId="0" animBg="1"/>
      <p:bldP spid="128086" grpId="0" animBg="1"/>
      <p:bldP spid="128087" grpId="0" autoUpdateAnimBg="0"/>
      <p:bldP spid="12808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96" name="Text Box 176"/>
          <p:cNvSpPr txBox="1">
            <a:spLocks noChangeArrowheads="1"/>
          </p:cNvSpPr>
          <p:nvPr/>
        </p:nvSpPr>
        <p:spPr bwMode="auto">
          <a:xfrm>
            <a:off x="1038225" y="441007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斜投影法</a:t>
            </a:r>
          </a:p>
        </p:txBody>
      </p:sp>
      <p:sp>
        <p:nvSpPr>
          <p:cNvPr id="30724" name="AutoShape 179"/>
          <p:cNvSpPr>
            <a:spLocks noChangeArrowheads="1"/>
          </p:cNvSpPr>
          <p:nvPr/>
        </p:nvSpPr>
        <p:spPr bwMode="auto">
          <a:xfrm rot="-1332053">
            <a:off x="6042025" y="1471613"/>
            <a:ext cx="1676400" cy="6858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25" name="Line 181"/>
          <p:cNvSpPr>
            <a:spLocks noChangeShapeType="1"/>
          </p:cNvSpPr>
          <p:nvPr/>
        </p:nvSpPr>
        <p:spPr bwMode="auto">
          <a:xfrm>
            <a:off x="6727825" y="3367088"/>
            <a:ext cx="15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AutoShape 182"/>
          <p:cNvSpPr>
            <a:spLocks noChangeArrowheads="1"/>
          </p:cNvSpPr>
          <p:nvPr/>
        </p:nvSpPr>
        <p:spPr bwMode="auto">
          <a:xfrm>
            <a:off x="4822825" y="2767013"/>
            <a:ext cx="3657600" cy="1066800"/>
          </a:xfrm>
          <a:prstGeom prst="parallelogram">
            <a:avLst>
              <a:gd name="adj" fmla="val 99349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27" name="AutoShape 183"/>
          <p:cNvSpPr>
            <a:spLocks noChangeArrowheads="1"/>
          </p:cNvSpPr>
          <p:nvPr/>
        </p:nvSpPr>
        <p:spPr bwMode="auto">
          <a:xfrm rot="-1332053">
            <a:off x="6042025" y="2614613"/>
            <a:ext cx="1676400" cy="6858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28" name="Line 184"/>
          <p:cNvSpPr>
            <a:spLocks noChangeShapeType="1"/>
          </p:cNvSpPr>
          <p:nvPr/>
        </p:nvSpPr>
        <p:spPr bwMode="auto">
          <a:xfrm>
            <a:off x="5972175" y="183356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Line 185"/>
          <p:cNvSpPr>
            <a:spLocks noChangeShapeType="1"/>
          </p:cNvSpPr>
          <p:nvPr/>
        </p:nvSpPr>
        <p:spPr bwMode="auto">
          <a:xfrm>
            <a:off x="6246813" y="246221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0" name="Line 186"/>
          <p:cNvSpPr>
            <a:spLocks noChangeShapeType="1"/>
          </p:cNvSpPr>
          <p:nvPr/>
        </p:nvSpPr>
        <p:spPr bwMode="auto">
          <a:xfrm>
            <a:off x="7800975" y="1814513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907" name="Line 187"/>
          <p:cNvSpPr>
            <a:spLocks noChangeShapeType="1"/>
          </p:cNvSpPr>
          <p:nvPr/>
        </p:nvSpPr>
        <p:spPr bwMode="auto">
          <a:xfrm flipH="1">
            <a:off x="1355725" y="1824038"/>
            <a:ext cx="3048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908" name="Line 188"/>
          <p:cNvSpPr>
            <a:spLocks noChangeShapeType="1"/>
          </p:cNvSpPr>
          <p:nvPr/>
        </p:nvSpPr>
        <p:spPr bwMode="auto">
          <a:xfrm>
            <a:off x="5521325" y="1814513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3" name="AutoShape 192"/>
          <p:cNvSpPr>
            <a:spLocks noChangeArrowheads="1"/>
          </p:cNvSpPr>
          <p:nvPr/>
        </p:nvSpPr>
        <p:spPr bwMode="auto">
          <a:xfrm>
            <a:off x="622300" y="2690813"/>
            <a:ext cx="3657600" cy="1066800"/>
          </a:xfrm>
          <a:prstGeom prst="parallelogram">
            <a:avLst>
              <a:gd name="adj" fmla="val 99349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34" name="AutoShape 193"/>
          <p:cNvSpPr>
            <a:spLocks noChangeArrowheads="1"/>
          </p:cNvSpPr>
          <p:nvPr/>
        </p:nvSpPr>
        <p:spPr bwMode="auto">
          <a:xfrm rot="-1961588">
            <a:off x="2374900" y="1319213"/>
            <a:ext cx="1524000" cy="8382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35" name="Line 195"/>
          <p:cNvSpPr>
            <a:spLocks noChangeShapeType="1"/>
          </p:cNvSpPr>
          <p:nvPr/>
        </p:nvSpPr>
        <p:spPr bwMode="auto">
          <a:xfrm flipV="1">
            <a:off x="1824038" y="1787525"/>
            <a:ext cx="446087" cy="1149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6" name="Line 196"/>
          <p:cNvSpPr>
            <a:spLocks noChangeShapeType="1"/>
          </p:cNvSpPr>
          <p:nvPr/>
        </p:nvSpPr>
        <p:spPr bwMode="auto">
          <a:xfrm flipV="1">
            <a:off x="3608388" y="1679575"/>
            <a:ext cx="406400" cy="1154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7" name="Line 197"/>
          <p:cNvSpPr>
            <a:spLocks noChangeShapeType="1"/>
          </p:cNvSpPr>
          <p:nvPr/>
        </p:nvSpPr>
        <p:spPr bwMode="auto">
          <a:xfrm>
            <a:off x="2219325" y="1852613"/>
            <a:ext cx="15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8" name="AutoShape 198"/>
          <p:cNvSpPr>
            <a:spLocks noChangeArrowheads="1"/>
          </p:cNvSpPr>
          <p:nvPr/>
        </p:nvSpPr>
        <p:spPr bwMode="auto">
          <a:xfrm rot="-1961588">
            <a:off x="1949450" y="2462213"/>
            <a:ext cx="1539875" cy="838200"/>
          </a:xfrm>
          <a:prstGeom prst="rtTriangle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0739" name="Line 199"/>
          <p:cNvSpPr>
            <a:spLocks noChangeShapeType="1"/>
          </p:cNvSpPr>
          <p:nvPr/>
        </p:nvSpPr>
        <p:spPr bwMode="auto">
          <a:xfrm>
            <a:off x="2373313" y="2005013"/>
            <a:ext cx="15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0" name="Line 200"/>
          <p:cNvSpPr>
            <a:spLocks noChangeShapeType="1"/>
          </p:cNvSpPr>
          <p:nvPr/>
        </p:nvSpPr>
        <p:spPr bwMode="auto">
          <a:xfrm flipV="1">
            <a:off x="2303463" y="2471738"/>
            <a:ext cx="417512" cy="1154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1" name="Text Box 201"/>
          <p:cNvSpPr txBox="1">
            <a:spLocks noChangeArrowheads="1"/>
          </p:cNvSpPr>
          <p:nvPr/>
        </p:nvSpPr>
        <p:spPr bwMode="auto">
          <a:xfrm>
            <a:off x="935038" y="328771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</a:p>
        </p:txBody>
      </p:sp>
      <p:sp>
        <p:nvSpPr>
          <p:cNvPr id="158925" name="Rectangle 205"/>
          <p:cNvSpPr>
            <a:spLocks noChangeArrowheads="1"/>
          </p:cNvSpPr>
          <p:nvPr/>
        </p:nvSpPr>
        <p:spPr bwMode="auto">
          <a:xfrm>
            <a:off x="1216025" y="1963738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s</a:t>
            </a:r>
          </a:p>
        </p:txBody>
      </p:sp>
      <p:sp>
        <p:nvSpPr>
          <p:cNvPr id="30743" name="Text Box 206"/>
          <p:cNvSpPr txBox="1">
            <a:spLocks noChangeArrowheads="1"/>
          </p:cNvSpPr>
          <p:nvPr/>
        </p:nvSpPr>
        <p:spPr bwMode="auto">
          <a:xfrm>
            <a:off x="5297488" y="3325813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</a:p>
        </p:txBody>
      </p:sp>
      <p:sp>
        <p:nvSpPr>
          <p:cNvPr id="158927" name="Rectangle 207"/>
          <p:cNvSpPr>
            <a:spLocks noChangeArrowheads="1"/>
          </p:cNvSpPr>
          <p:nvPr/>
        </p:nvSpPr>
        <p:spPr bwMode="auto">
          <a:xfrm>
            <a:off x="5172075" y="201295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s</a:t>
            </a:r>
          </a:p>
        </p:txBody>
      </p:sp>
      <p:sp>
        <p:nvSpPr>
          <p:cNvPr id="158928" name="Text Box 208"/>
          <p:cNvSpPr txBox="1">
            <a:spLocks noChangeArrowheads="1"/>
          </p:cNvSpPr>
          <p:nvPr/>
        </p:nvSpPr>
        <p:spPr bwMode="auto">
          <a:xfrm>
            <a:off x="5240338" y="437356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正投影法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8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8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8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8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896" grpId="0" autoUpdateAnimBg="0"/>
      <p:bldP spid="158907" grpId="0" animBg="1"/>
      <p:bldP spid="158908" grpId="0" animBg="1"/>
      <p:bldP spid="158925" grpId="0" autoUpdateAnimBg="0"/>
      <p:bldP spid="158927" grpId="0" autoUpdateAnimBg="0"/>
      <p:bldP spid="15892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Oval 25"/>
          <p:cNvSpPr>
            <a:spLocks noChangeArrowheads="1"/>
          </p:cNvSpPr>
          <p:nvPr/>
        </p:nvSpPr>
        <p:spPr bwMode="auto">
          <a:xfrm>
            <a:off x="1046163" y="442913"/>
            <a:ext cx="1622425" cy="758825"/>
          </a:xfrm>
          <a:prstGeom prst="ellipse">
            <a:avLst/>
          </a:prstGeom>
          <a:gradFill rotWithShape="0">
            <a:gsLst>
              <a:gs pos="0">
                <a:srgbClr val="FF9999"/>
              </a:gs>
              <a:gs pos="100000">
                <a:srgbClr val="764747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0794" name="Text Box 26"/>
          <p:cNvSpPr txBox="1">
            <a:spLocks noChangeArrowheads="1"/>
          </p:cNvSpPr>
          <p:nvPr/>
        </p:nvSpPr>
        <p:spPr bwMode="auto">
          <a:xfrm>
            <a:off x="2682875" y="4313238"/>
            <a:ext cx="28495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平行投影法</a:t>
            </a:r>
          </a:p>
        </p:txBody>
      </p:sp>
      <p:sp>
        <p:nvSpPr>
          <p:cNvPr id="160795" name="Text Box 27"/>
          <p:cNvSpPr txBox="1">
            <a:spLocks noChangeArrowheads="1"/>
          </p:cNvSpPr>
          <p:nvPr/>
        </p:nvSpPr>
        <p:spPr bwMode="auto">
          <a:xfrm>
            <a:off x="2724150" y="4830763"/>
            <a:ext cx="2351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投射线相互平行</a:t>
            </a:r>
          </a:p>
        </p:txBody>
      </p:sp>
      <p:sp>
        <p:nvSpPr>
          <p:cNvPr id="160797" name="Text Box 29"/>
          <p:cNvSpPr txBox="1">
            <a:spLocks noChangeArrowheads="1"/>
          </p:cNvSpPr>
          <p:nvPr/>
        </p:nvSpPr>
        <p:spPr bwMode="auto">
          <a:xfrm>
            <a:off x="2687638" y="3268663"/>
            <a:ext cx="24526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投射线汇交于投影中心</a:t>
            </a:r>
          </a:p>
        </p:txBody>
      </p:sp>
      <p:sp>
        <p:nvSpPr>
          <p:cNvPr id="160798" name="Text Box 30"/>
          <p:cNvSpPr txBox="1">
            <a:spLocks noChangeArrowheads="1"/>
          </p:cNvSpPr>
          <p:nvPr/>
        </p:nvSpPr>
        <p:spPr bwMode="auto">
          <a:xfrm>
            <a:off x="1265238" y="479425"/>
            <a:ext cx="1101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3600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归纳</a:t>
            </a:r>
          </a:p>
        </p:txBody>
      </p:sp>
      <p:sp>
        <p:nvSpPr>
          <p:cNvPr id="160799" name="Rectangle 31"/>
          <p:cNvSpPr>
            <a:spLocks noChangeArrowheads="1"/>
          </p:cNvSpPr>
          <p:nvPr/>
        </p:nvSpPr>
        <p:spPr bwMode="auto">
          <a:xfrm>
            <a:off x="511175" y="1417638"/>
            <a:ext cx="22240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投影法分类</a:t>
            </a:r>
          </a:p>
        </p:txBody>
      </p:sp>
      <p:sp>
        <p:nvSpPr>
          <p:cNvPr id="160800" name="Rectangle 32"/>
          <p:cNvSpPr>
            <a:spLocks noChangeArrowheads="1"/>
          </p:cNvSpPr>
          <p:nvPr/>
        </p:nvSpPr>
        <p:spPr bwMode="auto">
          <a:xfrm>
            <a:off x="3524250" y="1196975"/>
            <a:ext cx="5303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投射线类型（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汇交或平行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60801" name="Rectangle 33"/>
          <p:cNvSpPr>
            <a:spLocks noChangeArrowheads="1"/>
          </p:cNvSpPr>
          <p:nvPr/>
        </p:nvSpPr>
        <p:spPr bwMode="auto">
          <a:xfrm>
            <a:off x="3525838" y="1728788"/>
            <a:ext cx="5181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投影面与投射线的相对位置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倾斜或垂直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60802" name="Oval 34"/>
          <p:cNvSpPr>
            <a:spLocks noChangeArrowheads="1"/>
          </p:cNvSpPr>
          <p:nvPr/>
        </p:nvSpPr>
        <p:spPr bwMode="auto">
          <a:xfrm>
            <a:off x="3192463" y="1389063"/>
            <a:ext cx="215900" cy="2079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5E76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0803" name="Oval 35"/>
          <p:cNvSpPr>
            <a:spLocks noChangeArrowheads="1"/>
          </p:cNvSpPr>
          <p:nvPr/>
        </p:nvSpPr>
        <p:spPr bwMode="auto">
          <a:xfrm>
            <a:off x="3211513" y="1927225"/>
            <a:ext cx="207962" cy="2079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100000">
                <a:srgbClr val="5E765E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0804" name="Rectangle 36"/>
          <p:cNvSpPr>
            <a:spLocks noChangeArrowheads="1"/>
          </p:cNvSpPr>
          <p:nvPr/>
        </p:nvSpPr>
        <p:spPr bwMode="auto">
          <a:xfrm>
            <a:off x="2647950" y="2862263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中心投影法</a:t>
            </a:r>
          </a:p>
        </p:txBody>
      </p:sp>
      <p:sp>
        <p:nvSpPr>
          <p:cNvPr id="160805" name="Rectangle 37"/>
          <p:cNvSpPr>
            <a:spLocks noChangeArrowheads="1"/>
          </p:cNvSpPr>
          <p:nvPr/>
        </p:nvSpPr>
        <p:spPr bwMode="auto">
          <a:xfrm>
            <a:off x="5862638" y="371951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28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斜投影法</a:t>
            </a:r>
          </a:p>
        </p:txBody>
      </p:sp>
      <p:sp>
        <p:nvSpPr>
          <p:cNvPr id="160806" name="Text Box 38"/>
          <p:cNvSpPr txBox="1">
            <a:spLocks noChangeArrowheads="1"/>
          </p:cNvSpPr>
          <p:nvPr/>
        </p:nvSpPr>
        <p:spPr bwMode="auto">
          <a:xfrm>
            <a:off x="401638" y="3582988"/>
            <a:ext cx="14081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投影法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092325" y="3146425"/>
            <a:ext cx="585788" cy="1539875"/>
            <a:chOff x="1318" y="1760"/>
            <a:chExt cx="369" cy="1192"/>
          </a:xfrm>
        </p:grpSpPr>
        <p:sp>
          <p:nvSpPr>
            <p:cNvPr id="31770" name="Line 40"/>
            <p:cNvSpPr>
              <a:spLocks noChangeShapeType="1"/>
            </p:cNvSpPr>
            <p:nvPr/>
          </p:nvSpPr>
          <p:spPr bwMode="auto">
            <a:xfrm>
              <a:off x="1474" y="1760"/>
              <a:ext cx="0" cy="1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771" name="Group 41"/>
            <p:cNvGrpSpPr>
              <a:grpSpLocks/>
            </p:cNvGrpSpPr>
            <p:nvPr/>
          </p:nvGrpSpPr>
          <p:grpSpPr bwMode="auto">
            <a:xfrm>
              <a:off x="1318" y="1760"/>
              <a:ext cx="369" cy="1185"/>
              <a:chOff x="1318" y="1760"/>
              <a:chExt cx="369" cy="1185"/>
            </a:xfrm>
          </p:grpSpPr>
          <p:sp>
            <p:nvSpPr>
              <p:cNvPr id="31772" name="Line 42"/>
              <p:cNvSpPr>
                <a:spLocks noChangeShapeType="1"/>
              </p:cNvSpPr>
              <p:nvPr/>
            </p:nvSpPr>
            <p:spPr bwMode="auto">
              <a:xfrm flipH="1">
                <a:off x="1469" y="1760"/>
                <a:ext cx="21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3" name="Line 43"/>
              <p:cNvSpPr>
                <a:spLocks noChangeShapeType="1"/>
              </p:cNvSpPr>
              <p:nvPr/>
            </p:nvSpPr>
            <p:spPr bwMode="auto">
              <a:xfrm>
                <a:off x="1318" y="2315"/>
                <a:ext cx="1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4" name="Line 44"/>
              <p:cNvSpPr>
                <a:spLocks noChangeShapeType="1"/>
              </p:cNvSpPr>
              <p:nvPr/>
            </p:nvSpPr>
            <p:spPr bwMode="auto">
              <a:xfrm flipH="1">
                <a:off x="1469" y="2945"/>
                <a:ext cx="21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60813" name="Text Box 45"/>
          <p:cNvSpPr txBox="1">
            <a:spLocks noChangeArrowheads="1"/>
          </p:cNvSpPr>
          <p:nvPr/>
        </p:nvSpPr>
        <p:spPr bwMode="auto">
          <a:xfrm>
            <a:off x="5867400" y="4203700"/>
            <a:ext cx="22034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投射线倾斜</a:t>
            </a:r>
          </a:p>
          <a:p>
            <a:pPr>
              <a:spcBef>
                <a:spcPct val="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</a:rPr>
              <a:t>于投影面</a:t>
            </a:r>
          </a:p>
        </p:txBody>
      </p:sp>
      <p:sp>
        <p:nvSpPr>
          <p:cNvPr id="160814" name="Text Box 46"/>
          <p:cNvSpPr txBox="1">
            <a:spLocks noChangeArrowheads="1"/>
          </p:cNvSpPr>
          <p:nvPr/>
        </p:nvSpPr>
        <p:spPr bwMode="auto">
          <a:xfrm>
            <a:off x="5897563" y="5668963"/>
            <a:ext cx="1717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投射线垂直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于投影面</a:t>
            </a:r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5121275" y="3976688"/>
            <a:ext cx="727075" cy="1520825"/>
            <a:chOff x="3226" y="2505"/>
            <a:chExt cx="458" cy="958"/>
          </a:xfrm>
        </p:grpSpPr>
        <p:sp>
          <p:nvSpPr>
            <p:cNvPr id="31766" name="Line 48"/>
            <p:cNvSpPr>
              <a:spLocks noChangeShapeType="1"/>
            </p:cNvSpPr>
            <p:nvPr/>
          </p:nvSpPr>
          <p:spPr bwMode="auto">
            <a:xfrm flipH="1">
              <a:off x="3393" y="2510"/>
              <a:ext cx="2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7" name="Line 49"/>
            <p:cNvSpPr>
              <a:spLocks noChangeShapeType="1"/>
            </p:cNvSpPr>
            <p:nvPr/>
          </p:nvSpPr>
          <p:spPr bwMode="auto">
            <a:xfrm>
              <a:off x="3398" y="2505"/>
              <a:ext cx="0" cy="9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8" name="Line 50"/>
            <p:cNvSpPr>
              <a:spLocks noChangeShapeType="1"/>
            </p:cNvSpPr>
            <p:nvPr/>
          </p:nvSpPr>
          <p:spPr bwMode="auto">
            <a:xfrm flipH="1">
              <a:off x="3393" y="3463"/>
              <a:ext cx="2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Line 51"/>
            <p:cNvSpPr>
              <a:spLocks noChangeShapeType="1"/>
            </p:cNvSpPr>
            <p:nvPr/>
          </p:nvSpPr>
          <p:spPr bwMode="auto">
            <a:xfrm>
              <a:off x="3226" y="2966"/>
              <a:ext cx="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0820" name="Text Box 52"/>
          <p:cNvSpPr txBox="1">
            <a:spLocks noChangeArrowheads="1"/>
          </p:cNvSpPr>
          <p:nvPr/>
        </p:nvSpPr>
        <p:spPr bwMode="auto">
          <a:xfrm>
            <a:off x="5846763" y="5114925"/>
            <a:ext cx="2109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正投影法</a:t>
            </a:r>
          </a:p>
        </p:txBody>
      </p:sp>
      <p:sp>
        <p:nvSpPr>
          <p:cNvPr id="160821" name="Rectangle 53"/>
          <p:cNvSpPr>
            <a:spLocks noChangeArrowheads="1"/>
          </p:cNvSpPr>
          <p:nvPr/>
        </p:nvSpPr>
        <p:spPr bwMode="auto">
          <a:xfrm>
            <a:off x="5942013" y="5164138"/>
            <a:ext cx="1524000" cy="4333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6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0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0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300"/>
                                        <p:tgtEl>
                                          <p:spTgt spid="16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0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6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16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300"/>
                                        <p:tgtEl>
                                          <p:spTgt spid="160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94" grpId="0" autoUpdateAnimBg="0"/>
      <p:bldP spid="160795" grpId="0"/>
      <p:bldP spid="160797" grpId="0"/>
      <p:bldP spid="160798" grpId="0" autoUpdateAnimBg="0"/>
      <p:bldP spid="160799" grpId="0" autoUpdateAnimBg="0"/>
      <p:bldP spid="160800" grpId="0"/>
      <p:bldP spid="160801" grpId="0" autoUpdateAnimBg="0"/>
      <p:bldP spid="160802" grpId="0" animBg="1"/>
      <p:bldP spid="160803" grpId="0" animBg="1"/>
      <p:bldP spid="160804" grpId="0" autoUpdateAnimBg="0"/>
      <p:bldP spid="160805" grpId="0" autoUpdateAnimBg="0"/>
      <p:bldP spid="160806" grpId="0" autoUpdateAnimBg="0"/>
      <p:bldP spid="160813" grpId="0" autoUpdateAnimBg="0"/>
      <p:bldP spid="160814" grpId="0" autoUpdateAnimBg="0"/>
      <p:bldP spid="160820" grpId="0" autoUpdateAnimBg="0"/>
      <p:bldP spid="1608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341313" y="247650"/>
            <a:ext cx="6973887" cy="842963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第四章  点、直线和平面的投影</a:t>
            </a:r>
            <a:endParaRPr lang="zh-CN" altLang="en-US" sz="3600" b="1" dirty="0">
              <a:solidFill>
                <a:srgbClr val="FF3300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150" y="1876425"/>
            <a:ext cx="7932738" cy="649288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正投影法基本理论中最基础的部分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800" b="1" dirty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29735" name="Rectangle 39"/>
          <p:cNvSpPr>
            <a:spLocks noChangeArrowheads="1"/>
          </p:cNvSpPr>
          <p:nvPr/>
        </p:nvSpPr>
        <p:spPr bwMode="auto">
          <a:xfrm>
            <a:off x="715963" y="3044825"/>
            <a:ext cx="721042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要求：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掌握投影规律及作图方法。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根据多面正投影，想象空间位置。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进行相互关系的空间分析。</a:t>
            </a:r>
            <a:endParaRPr lang="zh-CN" altLang="en-US" sz="2800">
              <a:latin typeface="ISOCPEUR" pitchFamily="34" charset="0"/>
              <a:ea typeface="黑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9263" y="292100"/>
            <a:ext cx="7059612" cy="41148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§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4.1 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点的投影</a:t>
            </a:r>
          </a:p>
          <a:p>
            <a:pPr eaLnBrk="1" hangingPunct="1">
              <a:buFont typeface="Monotype Sorts" pitchFamily="2" charset="2"/>
              <a:buNone/>
            </a:pPr>
            <a:endParaRPr lang="zh-CN" altLang="en-US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一．点的投影图</a:t>
            </a:r>
          </a:p>
          <a:p>
            <a:pPr eaLnBrk="1" hangingPunct="1">
              <a:buFont typeface="Monotype Sorts" pitchFamily="2" charset="2"/>
              <a:buNone/>
            </a:pPr>
            <a:endParaRPr lang="zh-CN" altLang="en-US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点在一个投影面的投影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		</a:t>
            </a:r>
            <a:r>
              <a:rPr lang="en-US" altLang="zh-CN" sz="2400" b="1" i="1" dirty="0">
                <a:latin typeface="黑体" pitchFamily="2" charset="-122"/>
                <a:ea typeface="黑体" pitchFamily="2" charset="-122"/>
              </a:rPr>
              <a:t>A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→</a:t>
            </a:r>
            <a:r>
              <a:rPr lang="en-US" altLang="zh-CN" sz="2400" b="1" i="1" dirty="0">
                <a:latin typeface="ISOCPEUR" pitchFamily="34" charset="0"/>
                <a:ea typeface="黑体" pitchFamily="2" charset="-122"/>
              </a:rPr>
              <a:t>a</a:t>
            </a:r>
            <a:endParaRPr lang="en-US" altLang="zh-CN" sz="2400" b="1" dirty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162820" name="Line 4"/>
          <p:cNvSpPr>
            <a:spLocks noChangeShapeType="1"/>
          </p:cNvSpPr>
          <p:nvPr/>
        </p:nvSpPr>
        <p:spPr bwMode="auto">
          <a:xfrm flipH="1" flipV="1">
            <a:off x="6253163" y="2505075"/>
            <a:ext cx="757237" cy="757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6924675" y="283845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6122988" y="213677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62823" name="Line 7"/>
          <p:cNvSpPr>
            <a:spLocks noChangeShapeType="1"/>
          </p:cNvSpPr>
          <p:nvPr/>
        </p:nvSpPr>
        <p:spPr bwMode="auto">
          <a:xfrm>
            <a:off x="6269038" y="2522538"/>
            <a:ext cx="1552575" cy="155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824" name="Text Box 8"/>
          <p:cNvSpPr txBox="1">
            <a:spLocks noChangeArrowheads="1"/>
          </p:cNvSpPr>
          <p:nvPr/>
        </p:nvSpPr>
        <p:spPr bwMode="auto">
          <a:xfrm>
            <a:off x="7207250" y="3130550"/>
            <a:ext cx="450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  <a:r>
              <a:rPr lang="en-US" altLang="zh-CN" sz="2000" i="1">
                <a:latin typeface="ISOCPEUR" pitchFamily="34" charset="0"/>
              </a:rPr>
              <a:t>1</a:t>
            </a:r>
          </a:p>
        </p:txBody>
      </p:sp>
      <p:sp>
        <p:nvSpPr>
          <p:cNvPr id="162825" name="Text Box 9"/>
          <p:cNvSpPr txBox="1">
            <a:spLocks noChangeArrowheads="1"/>
          </p:cNvSpPr>
          <p:nvPr/>
        </p:nvSpPr>
        <p:spPr bwMode="auto">
          <a:xfrm>
            <a:off x="7443788" y="3448050"/>
            <a:ext cx="48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A</a:t>
            </a:r>
            <a:r>
              <a:rPr lang="en-US" altLang="zh-CN" sz="2000" i="1">
                <a:latin typeface="ISOCPEUR" pitchFamily="34" charset="0"/>
              </a:rPr>
              <a:t>2</a:t>
            </a:r>
          </a:p>
        </p:txBody>
      </p:sp>
      <p:sp>
        <p:nvSpPr>
          <p:cNvPr id="162826" name="AutoShape 10"/>
          <p:cNvSpPr>
            <a:spLocks noChangeArrowheads="1"/>
          </p:cNvSpPr>
          <p:nvPr/>
        </p:nvSpPr>
        <p:spPr bwMode="auto">
          <a:xfrm>
            <a:off x="7232650" y="3490913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27" name="AutoShape 11"/>
          <p:cNvSpPr>
            <a:spLocks noChangeArrowheads="1"/>
          </p:cNvSpPr>
          <p:nvPr/>
        </p:nvSpPr>
        <p:spPr bwMode="auto">
          <a:xfrm>
            <a:off x="7451725" y="3709988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28" name="AutoShape 12"/>
          <p:cNvSpPr>
            <a:spLocks noChangeArrowheads="1"/>
          </p:cNvSpPr>
          <p:nvPr/>
        </p:nvSpPr>
        <p:spPr bwMode="auto">
          <a:xfrm>
            <a:off x="6975475" y="3224213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29" name="AutoShape 13"/>
          <p:cNvSpPr>
            <a:spLocks noChangeArrowheads="1"/>
          </p:cNvSpPr>
          <p:nvPr/>
        </p:nvSpPr>
        <p:spPr bwMode="auto">
          <a:xfrm>
            <a:off x="6237288" y="2486025"/>
            <a:ext cx="74612" cy="74613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62830" name="Text Box 14"/>
          <p:cNvSpPr txBox="1">
            <a:spLocks noChangeArrowheads="1"/>
          </p:cNvSpPr>
          <p:nvPr/>
        </p:nvSpPr>
        <p:spPr bwMode="auto">
          <a:xfrm>
            <a:off x="811213" y="3762375"/>
            <a:ext cx="8332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反过来，就无法实现  </a:t>
            </a:r>
            <a:r>
              <a:rPr lang="en-US" altLang="zh-CN" sz="2800" i="1" dirty="0">
                <a:latin typeface="ISOCPEUR" pitchFamily="34" charset="0"/>
                <a:ea typeface="黑体" pitchFamily="2" charset="-122"/>
              </a:rPr>
              <a:t>a 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→</a:t>
            </a:r>
            <a:r>
              <a:rPr lang="en-US" altLang="zh-CN" sz="2800" i="1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！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113338" y="1460500"/>
            <a:ext cx="2525712" cy="2076450"/>
            <a:chOff x="3228" y="905"/>
            <a:chExt cx="1591" cy="1308"/>
          </a:xfrm>
        </p:grpSpPr>
        <p:sp>
          <p:nvSpPr>
            <p:cNvPr id="33809" name="Text Box 16"/>
            <p:cNvSpPr txBox="1">
              <a:spLocks noChangeArrowheads="1"/>
            </p:cNvSpPr>
            <p:nvPr/>
          </p:nvSpPr>
          <p:spPr bwMode="auto">
            <a:xfrm>
              <a:off x="3261" y="1098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3810" name="Freeform 17"/>
            <p:cNvSpPr>
              <a:spLocks/>
            </p:cNvSpPr>
            <p:nvPr/>
          </p:nvSpPr>
          <p:spPr bwMode="auto">
            <a:xfrm>
              <a:off x="3228" y="914"/>
              <a:ext cx="1582" cy="1299"/>
            </a:xfrm>
            <a:custGeom>
              <a:avLst/>
              <a:gdLst>
                <a:gd name="T0" fmla="*/ 0 w 1582"/>
                <a:gd name="T1" fmla="*/ 1299 h 1299"/>
                <a:gd name="T2" fmla="*/ 0 w 1582"/>
                <a:gd name="T3" fmla="*/ 183 h 1299"/>
                <a:gd name="T4" fmla="*/ 1582 w 1582"/>
                <a:gd name="T5" fmla="*/ 0 h 1299"/>
                <a:gd name="T6" fmla="*/ 0 60000 65536"/>
                <a:gd name="T7" fmla="*/ 0 60000 65536"/>
                <a:gd name="T8" fmla="*/ 0 60000 65536"/>
                <a:gd name="T9" fmla="*/ 0 w 1582"/>
                <a:gd name="T10" fmla="*/ 0 h 1299"/>
                <a:gd name="T11" fmla="*/ 1582 w 1582"/>
                <a:gd name="T12" fmla="*/ 1299 h 12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2" h="1299">
                  <a:moveTo>
                    <a:pt x="0" y="1299"/>
                  </a:moveTo>
                  <a:lnTo>
                    <a:pt x="0" y="183"/>
                  </a:lnTo>
                  <a:lnTo>
                    <a:pt x="1582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1" name="Freeform 18"/>
            <p:cNvSpPr>
              <a:spLocks/>
            </p:cNvSpPr>
            <p:nvPr/>
          </p:nvSpPr>
          <p:spPr bwMode="auto">
            <a:xfrm>
              <a:off x="3228" y="905"/>
              <a:ext cx="1591" cy="1308"/>
            </a:xfrm>
            <a:custGeom>
              <a:avLst/>
              <a:gdLst>
                <a:gd name="T0" fmla="*/ 0 w 1591"/>
                <a:gd name="T1" fmla="*/ 1308 h 1308"/>
                <a:gd name="T2" fmla="*/ 1591 w 1591"/>
                <a:gd name="T3" fmla="*/ 1143 h 1308"/>
                <a:gd name="T4" fmla="*/ 1591 w 1591"/>
                <a:gd name="T5" fmla="*/ 0 h 1308"/>
                <a:gd name="T6" fmla="*/ 0 60000 65536"/>
                <a:gd name="T7" fmla="*/ 0 60000 65536"/>
                <a:gd name="T8" fmla="*/ 0 60000 65536"/>
                <a:gd name="T9" fmla="*/ 0 w 1591"/>
                <a:gd name="T10" fmla="*/ 0 h 1308"/>
                <a:gd name="T11" fmla="*/ 1591 w 1591"/>
                <a:gd name="T12" fmla="*/ 1308 h 13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1" h="1308">
                  <a:moveTo>
                    <a:pt x="0" y="1308"/>
                  </a:moveTo>
                  <a:lnTo>
                    <a:pt x="1591" y="1143"/>
                  </a:lnTo>
                  <a:lnTo>
                    <a:pt x="15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2836" name="Text Box 20"/>
          <p:cNvSpPr txBox="1">
            <a:spLocks noChangeArrowheads="1"/>
          </p:cNvSpPr>
          <p:nvPr/>
        </p:nvSpPr>
        <p:spPr bwMode="auto">
          <a:xfrm>
            <a:off x="811213" y="4873625"/>
            <a:ext cx="8332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不符合可逆性要求，怎么办？</a:t>
            </a:r>
          </a:p>
        </p:txBody>
      </p:sp>
    </p:spTree>
    <p:extLst>
      <p:ext uri="{BB962C8B-B14F-4D97-AF65-F5344CB8AC3E}">
        <p14:creationId xmlns:p14="http://schemas.microsoft.com/office/powerpoint/2010/main" val="361311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  <p:bldP spid="162820" grpId="0" animBg="1"/>
      <p:bldP spid="162821" grpId="0" autoUpdateAnimBg="0"/>
      <p:bldP spid="162822" grpId="0" autoUpdateAnimBg="0"/>
      <p:bldP spid="162823" grpId="0" animBg="1"/>
      <p:bldP spid="162824" grpId="0" autoUpdateAnimBg="0"/>
      <p:bldP spid="162825" grpId="0" autoUpdateAnimBg="0"/>
      <p:bldP spid="162826" grpId="0" animBg="1" autoUpdateAnimBg="0"/>
      <p:bldP spid="162827" grpId="0" animBg="1" autoUpdateAnimBg="0"/>
      <p:bldP spid="162828" grpId="0" animBg="1" autoUpdateAnimBg="0"/>
      <p:bldP spid="162829" grpId="0" animBg="1" autoUpdateAnimBg="0"/>
      <p:bldP spid="162830" grpId="0" autoUpdateAnimBg="0"/>
      <p:bldP spid="16283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9263" y="353644"/>
            <a:ext cx="7059612" cy="648677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两投影面体系</a:t>
            </a:r>
            <a:endParaRPr lang="en-US" altLang="zh-CN" sz="2400" b="1" dirty="0">
              <a:latin typeface="ISOCPEUR" pitchFamily="34" charset="0"/>
              <a:ea typeface="黑体" pitchFamily="2" charset="-122"/>
            </a:endParaRPr>
          </a:p>
        </p:txBody>
      </p:sp>
      <p:grpSp>
        <p:nvGrpSpPr>
          <p:cNvPr id="56" name="Group 88"/>
          <p:cNvGrpSpPr>
            <a:grpSpLocks/>
          </p:cNvGrpSpPr>
          <p:nvPr/>
        </p:nvGrpSpPr>
        <p:grpSpPr bwMode="auto">
          <a:xfrm>
            <a:off x="5292080" y="2059984"/>
            <a:ext cx="884237" cy="457200"/>
            <a:chOff x="3871" y="2748"/>
            <a:chExt cx="557" cy="288"/>
          </a:xfrm>
        </p:grpSpPr>
        <p:sp>
          <p:nvSpPr>
            <p:cNvPr id="57" name="Text Box 80"/>
            <p:cNvSpPr txBox="1">
              <a:spLocks noChangeArrowheads="1"/>
            </p:cNvSpPr>
            <p:nvPr/>
          </p:nvSpPr>
          <p:spPr bwMode="auto">
            <a:xfrm>
              <a:off x="3871" y="2748"/>
              <a:ext cx="5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altLang="zh-CN" dirty="0">
                  <a:solidFill>
                    <a:srgbClr val="000066"/>
                  </a:solidFill>
                  <a:latin typeface="ISOCPEUR" pitchFamily="34" charset="0"/>
                  <a:ea typeface="宋体" charset="-122"/>
                </a:rPr>
                <a:t>V</a:t>
              </a:r>
              <a:r>
                <a:rPr lang="en-US" altLang="zh-CN" b="0" i="1" dirty="0">
                  <a:solidFill>
                    <a:srgbClr val="000066"/>
                  </a:solidFill>
                  <a:latin typeface="ISOCPEUR" pitchFamily="34" charset="0"/>
                  <a:ea typeface="宋体" charset="-122"/>
                  <a:cs typeface="Times New Roman" pitchFamily="18" charset="0"/>
                </a:rPr>
                <a:t> </a:t>
              </a:r>
              <a:r>
                <a:rPr lang="en-US" altLang="zh-CN" b="0" i="1" dirty="0">
                  <a:solidFill>
                    <a:srgbClr val="000000"/>
                  </a:solidFill>
                  <a:latin typeface="ISOCPEUR" pitchFamily="34" charset="0"/>
                  <a:ea typeface="宋体" charset="-122"/>
                  <a:cs typeface="Times New Roman" pitchFamily="18" charset="0"/>
                </a:rPr>
                <a:t>  </a:t>
              </a:r>
              <a:r>
                <a:rPr lang="en-US" altLang="zh-CN" dirty="0">
                  <a:solidFill>
                    <a:srgbClr val="000066"/>
                  </a:solidFill>
                  <a:latin typeface="ISOCPEUR" pitchFamily="34" charset="0"/>
                  <a:ea typeface="宋体" charset="-122"/>
                  <a:cs typeface="Times New Roman" pitchFamily="18" charset="0"/>
                </a:rPr>
                <a:t>H</a:t>
              </a:r>
            </a:p>
          </p:txBody>
        </p:sp>
        <p:grpSp>
          <p:nvGrpSpPr>
            <p:cNvPr id="58" name="Group 83"/>
            <p:cNvGrpSpPr>
              <a:grpSpLocks/>
            </p:cNvGrpSpPr>
            <p:nvPr/>
          </p:nvGrpSpPr>
          <p:grpSpPr bwMode="auto">
            <a:xfrm>
              <a:off x="4118" y="2838"/>
              <a:ext cx="114" cy="108"/>
              <a:chOff x="4872" y="1593"/>
              <a:chExt cx="114" cy="108"/>
            </a:xfrm>
          </p:grpSpPr>
          <p:sp>
            <p:nvSpPr>
              <p:cNvPr id="59" name="Line 81"/>
              <p:cNvSpPr>
                <a:spLocks noChangeShapeType="1"/>
              </p:cNvSpPr>
              <p:nvPr/>
            </p:nvSpPr>
            <p:spPr bwMode="auto">
              <a:xfrm>
                <a:off x="4929" y="1593"/>
                <a:ext cx="0" cy="105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spcBef>
                    <a:spcPct val="0"/>
                  </a:spcBef>
                </a:pPr>
                <a:endParaRPr lang="zh-CN" altLang="en-US" b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0" name="Line 82"/>
              <p:cNvSpPr>
                <a:spLocks noChangeShapeType="1"/>
              </p:cNvSpPr>
              <p:nvPr/>
            </p:nvSpPr>
            <p:spPr bwMode="auto">
              <a:xfrm>
                <a:off x="4872" y="1701"/>
                <a:ext cx="114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spcBef>
                    <a:spcPct val="0"/>
                  </a:spcBef>
                </a:pPr>
                <a:endParaRPr lang="zh-CN" altLang="en-US" b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61" name="Group 114"/>
          <p:cNvGrpSpPr>
            <a:grpSpLocks/>
          </p:cNvGrpSpPr>
          <p:nvPr/>
        </p:nvGrpSpPr>
        <p:grpSpPr bwMode="auto">
          <a:xfrm>
            <a:off x="1547664" y="1699944"/>
            <a:ext cx="2749550" cy="2233613"/>
            <a:chOff x="3349" y="1151"/>
            <a:chExt cx="1732" cy="1407"/>
          </a:xfrm>
        </p:grpSpPr>
        <p:grpSp>
          <p:nvGrpSpPr>
            <p:cNvPr id="62" name="Group 113"/>
            <p:cNvGrpSpPr>
              <a:grpSpLocks/>
            </p:cNvGrpSpPr>
            <p:nvPr/>
          </p:nvGrpSpPr>
          <p:grpSpPr bwMode="auto">
            <a:xfrm>
              <a:off x="3349" y="1151"/>
              <a:ext cx="1732" cy="1407"/>
              <a:chOff x="3349" y="1151"/>
              <a:chExt cx="1732" cy="1407"/>
            </a:xfrm>
          </p:grpSpPr>
          <p:grpSp>
            <p:nvGrpSpPr>
              <p:cNvPr id="65" name="Group 112"/>
              <p:cNvGrpSpPr>
                <a:grpSpLocks/>
              </p:cNvGrpSpPr>
              <p:nvPr/>
            </p:nvGrpSpPr>
            <p:grpSpPr bwMode="auto">
              <a:xfrm>
                <a:off x="3349" y="1151"/>
                <a:ext cx="1732" cy="1407"/>
                <a:chOff x="3349" y="1151"/>
                <a:chExt cx="1732" cy="1407"/>
              </a:xfrm>
            </p:grpSpPr>
            <p:sp>
              <p:nvSpPr>
                <p:cNvPr id="73" name="Line 51"/>
                <p:cNvSpPr>
                  <a:spLocks noChangeShapeType="1"/>
                </p:cNvSpPr>
                <p:nvPr/>
              </p:nvSpPr>
              <p:spPr bwMode="auto">
                <a:xfrm>
                  <a:off x="3876" y="1341"/>
                  <a:ext cx="0" cy="121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4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870" y="2363"/>
                  <a:ext cx="638" cy="1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5" name="Line 53"/>
                <p:cNvSpPr>
                  <a:spLocks noChangeShapeType="1"/>
                </p:cNvSpPr>
                <p:nvPr/>
              </p:nvSpPr>
              <p:spPr bwMode="auto">
                <a:xfrm flipV="1">
                  <a:off x="3867" y="1749"/>
                  <a:ext cx="641" cy="1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6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3869" y="1151"/>
                  <a:ext cx="636" cy="19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7" name="Line 55"/>
                <p:cNvSpPr>
                  <a:spLocks noChangeShapeType="1"/>
                </p:cNvSpPr>
                <p:nvPr/>
              </p:nvSpPr>
              <p:spPr bwMode="auto">
                <a:xfrm>
                  <a:off x="3349" y="1693"/>
                  <a:ext cx="1107" cy="52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8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3364" y="1531"/>
                  <a:ext cx="510" cy="15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9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4441" y="2026"/>
                  <a:ext cx="640" cy="19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80" name="Line 58"/>
                <p:cNvSpPr>
                  <a:spLocks noChangeShapeType="1"/>
                </p:cNvSpPr>
                <p:nvPr/>
              </p:nvSpPr>
              <p:spPr bwMode="auto">
                <a:xfrm>
                  <a:off x="4506" y="1151"/>
                  <a:ext cx="0" cy="59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81" name="Line 59"/>
                <p:cNvSpPr>
                  <a:spLocks noChangeShapeType="1"/>
                </p:cNvSpPr>
                <p:nvPr/>
              </p:nvSpPr>
              <p:spPr bwMode="auto">
                <a:xfrm>
                  <a:off x="4504" y="1748"/>
                  <a:ext cx="567" cy="27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82" name="Line 60"/>
                <p:cNvSpPr>
                  <a:spLocks noChangeShapeType="1"/>
                </p:cNvSpPr>
                <p:nvPr/>
              </p:nvSpPr>
              <p:spPr bwMode="auto">
                <a:xfrm>
                  <a:off x="4507" y="2194"/>
                  <a:ext cx="0" cy="16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</p:grpSp>
          <p:grpSp>
            <p:nvGrpSpPr>
              <p:cNvPr id="66" name="Group 75"/>
              <p:cNvGrpSpPr>
                <a:grpSpLocks/>
              </p:cNvGrpSpPr>
              <p:nvPr/>
            </p:nvGrpSpPr>
            <p:grpSpPr bwMode="auto">
              <a:xfrm>
                <a:off x="4415" y="1203"/>
                <a:ext cx="66" cy="127"/>
                <a:chOff x="4456" y="1523"/>
                <a:chExt cx="66" cy="127"/>
              </a:xfrm>
            </p:grpSpPr>
            <p:sp>
              <p:nvSpPr>
                <p:cNvPr id="71" name="Line 66"/>
                <p:cNvSpPr>
                  <a:spLocks noChangeShapeType="1"/>
                </p:cNvSpPr>
                <p:nvPr/>
              </p:nvSpPr>
              <p:spPr bwMode="auto">
                <a:xfrm>
                  <a:off x="4456" y="1546"/>
                  <a:ext cx="21" cy="10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2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4477" y="1523"/>
                  <a:ext cx="45" cy="127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</p:grpSp>
          <p:grpSp>
            <p:nvGrpSpPr>
              <p:cNvPr id="67" name="Group 77"/>
              <p:cNvGrpSpPr>
                <a:grpSpLocks/>
              </p:cNvGrpSpPr>
              <p:nvPr/>
            </p:nvGrpSpPr>
            <p:grpSpPr bwMode="auto">
              <a:xfrm>
                <a:off x="4826" y="1974"/>
                <a:ext cx="152" cy="65"/>
                <a:chOff x="4865" y="2282"/>
                <a:chExt cx="152" cy="65"/>
              </a:xfrm>
            </p:grpSpPr>
            <p:sp>
              <p:nvSpPr>
                <p:cNvPr id="68" name="Line 68"/>
                <p:cNvSpPr>
                  <a:spLocks noChangeShapeType="1"/>
                </p:cNvSpPr>
                <p:nvPr/>
              </p:nvSpPr>
              <p:spPr bwMode="auto">
                <a:xfrm>
                  <a:off x="4865" y="2302"/>
                  <a:ext cx="90" cy="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69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4911" y="2307"/>
                  <a:ext cx="64" cy="1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  <p:sp>
              <p:nvSpPr>
                <p:cNvPr id="70" name="Line 76"/>
                <p:cNvSpPr>
                  <a:spLocks noChangeShapeType="1"/>
                </p:cNvSpPr>
                <p:nvPr/>
              </p:nvSpPr>
              <p:spPr bwMode="auto">
                <a:xfrm>
                  <a:off x="4927" y="2282"/>
                  <a:ext cx="90" cy="4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charset="-122"/>
                  </a:endParaRPr>
                </a:p>
              </p:txBody>
            </p:sp>
          </p:grpSp>
        </p:grpSp>
        <p:sp>
          <p:nvSpPr>
            <p:cNvPr id="63" name="Text Box 94"/>
            <p:cNvSpPr txBox="1">
              <a:spLocks noChangeArrowheads="1"/>
            </p:cNvSpPr>
            <p:nvPr/>
          </p:nvSpPr>
          <p:spPr bwMode="auto">
            <a:xfrm>
              <a:off x="4480" y="1553"/>
              <a:ext cx="2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charset="-122"/>
                </a:rPr>
                <a:t>O</a:t>
              </a:r>
            </a:p>
          </p:txBody>
        </p:sp>
        <p:sp>
          <p:nvSpPr>
            <p:cNvPr id="64" name="Text Box 95"/>
            <p:cNvSpPr txBox="1">
              <a:spLocks noChangeArrowheads="1"/>
            </p:cNvSpPr>
            <p:nvPr/>
          </p:nvSpPr>
          <p:spPr bwMode="auto">
            <a:xfrm>
              <a:off x="3645" y="1898"/>
              <a:ext cx="2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charset="-122"/>
                </a:rPr>
                <a:t>X</a:t>
              </a:r>
            </a:p>
          </p:txBody>
        </p:sp>
      </p:grpSp>
      <p:grpSp>
        <p:nvGrpSpPr>
          <p:cNvPr id="83" name="Group 97"/>
          <p:cNvGrpSpPr>
            <a:grpSpLocks/>
          </p:cNvGrpSpPr>
          <p:nvPr/>
        </p:nvGrpSpPr>
        <p:grpSpPr bwMode="auto">
          <a:xfrm>
            <a:off x="1346051" y="1869807"/>
            <a:ext cx="2928938" cy="1903412"/>
            <a:chOff x="3194" y="1265"/>
            <a:chExt cx="1790" cy="1199"/>
          </a:xfrm>
        </p:grpSpPr>
        <p:sp>
          <p:nvSpPr>
            <p:cNvPr id="84" name="Text Box 90"/>
            <p:cNvSpPr txBox="1">
              <a:spLocks noChangeArrowheads="1"/>
            </p:cNvSpPr>
            <p:nvPr/>
          </p:nvSpPr>
          <p:spPr bwMode="auto">
            <a:xfrm>
              <a:off x="3194" y="1265"/>
              <a:ext cx="616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第二分角</a:t>
              </a:r>
            </a:p>
          </p:txBody>
        </p:sp>
        <p:sp>
          <p:nvSpPr>
            <p:cNvPr id="85" name="Text Box 91"/>
            <p:cNvSpPr txBox="1">
              <a:spLocks noChangeArrowheads="1"/>
            </p:cNvSpPr>
            <p:nvPr/>
          </p:nvSpPr>
          <p:spPr bwMode="auto">
            <a:xfrm>
              <a:off x="3204" y="2130"/>
              <a:ext cx="613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第三分角</a:t>
              </a:r>
            </a:p>
          </p:txBody>
        </p:sp>
        <p:sp>
          <p:nvSpPr>
            <p:cNvPr id="86" name="Text Box 92"/>
            <p:cNvSpPr txBox="1">
              <a:spLocks noChangeArrowheads="1"/>
            </p:cNvSpPr>
            <p:nvPr/>
          </p:nvSpPr>
          <p:spPr bwMode="auto">
            <a:xfrm>
              <a:off x="4277" y="2252"/>
              <a:ext cx="613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第四分角</a:t>
              </a:r>
            </a:p>
          </p:txBody>
        </p:sp>
        <p:sp>
          <p:nvSpPr>
            <p:cNvPr id="87" name="Text Box 89"/>
            <p:cNvSpPr txBox="1">
              <a:spLocks noChangeArrowheads="1"/>
            </p:cNvSpPr>
            <p:nvPr/>
          </p:nvSpPr>
          <p:spPr bwMode="auto">
            <a:xfrm>
              <a:off x="4356" y="1379"/>
              <a:ext cx="628" cy="2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ea typeface="宋体" charset="-122"/>
                </a:rPr>
                <a:t>第一分角</a:t>
              </a:r>
            </a:p>
          </p:txBody>
        </p:sp>
      </p:grpSp>
      <p:sp>
        <p:nvSpPr>
          <p:cNvPr id="88" name="Rectangle 104"/>
          <p:cNvSpPr>
            <a:spLocks noChangeArrowheads="1"/>
          </p:cNvSpPr>
          <p:nvPr/>
        </p:nvSpPr>
        <p:spPr bwMode="auto">
          <a:xfrm>
            <a:off x="3262164" y="2076182"/>
            <a:ext cx="990600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0"/>
              </a:spcBef>
            </a:pPr>
            <a:endParaRPr lang="zh-CN" altLang="en-US" b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89" name="Text Box 116"/>
          <p:cNvSpPr txBox="1">
            <a:spLocks noChangeArrowheads="1"/>
          </p:cNvSpPr>
          <p:nvPr/>
        </p:nvSpPr>
        <p:spPr bwMode="auto">
          <a:xfrm>
            <a:off x="5220072" y="3284120"/>
            <a:ext cx="2946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latin typeface="黑体" pitchFamily="2" charset="-122"/>
              </a:rPr>
              <a:t>将空间分为四个分角</a:t>
            </a:r>
            <a:endParaRPr lang="en-US" altLang="zh-CN" dirty="0">
              <a:solidFill>
                <a:srgbClr val="000000"/>
              </a:solidFill>
              <a:latin typeface="黑体" pitchFamily="2" charset="-122"/>
            </a:endParaRPr>
          </a:p>
        </p:txBody>
      </p:sp>
      <p:sp>
        <p:nvSpPr>
          <p:cNvPr id="90" name="Text Box 20"/>
          <p:cNvSpPr txBox="1">
            <a:spLocks noChangeArrowheads="1"/>
          </p:cNvSpPr>
          <p:nvPr/>
        </p:nvSpPr>
        <p:spPr bwMode="auto">
          <a:xfrm>
            <a:off x="811213" y="4902349"/>
            <a:ext cx="78843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在两投影面体系中，两个投影可以确定一点的空间位置。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  <p:bldP spid="88" grpId="0"/>
      <p:bldP spid="89" grpId="0"/>
      <p:bldP spid="9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Freeform 2"/>
          <p:cNvSpPr>
            <a:spLocks/>
          </p:cNvSpPr>
          <p:nvPr/>
        </p:nvSpPr>
        <p:spPr bwMode="auto">
          <a:xfrm>
            <a:off x="3689350" y="2168525"/>
            <a:ext cx="3822700" cy="1285875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0" name="AutoShape 3"/>
          <p:cNvSpPr>
            <a:spLocks noChangeArrowheads="1"/>
          </p:cNvSpPr>
          <p:nvPr/>
        </p:nvSpPr>
        <p:spPr bwMode="auto">
          <a:xfrm rot="5400000">
            <a:off x="2667001" y="3198812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4821" name="AutoShape 4"/>
          <p:cNvSpPr>
            <a:spLocks noChangeArrowheads="1"/>
          </p:cNvSpPr>
          <p:nvPr/>
        </p:nvSpPr>
        <p:spPr bwMode="auto">
          <a:xfrm rot="5400000">
            <a:off x="2684463" y="1165225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4822" name="Freeform 5"/>
          <p:cNvSpPr>
            <a:spLocks/>
          </p:cNvSpPr>
          <p:nvPr/>
        </p:nvSpPr>
        <p:spPr bwMode="auto">
          <a:xfrm>
            <a:off x="1173163" y="2168525"/>
            <a:ext cx="3810000" cy="1290638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2462213" y="1430338"/>
            <a:ext cx="5048250" cy="4065587"/>
          </a:xfrm>
          <a:prstGeom prst="rect">
            <a:avLst/>
          </a:prstGeom>
          <a:solidFill>
            <a:schemeClr val="fol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/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2498725" y="14208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V </a:t>
            </a:r>
          </a:p>
        </p:txBody>
      </p:sp>
      <p:sp>
        <p:nvSpPr>
          <p:cNvPr id="34825" name="Freeform 8"/>
          <p:cNvSpPr>
            <a:spLocks/>
          </p:cNvSpPr>
          <p:nvPr/>
        </p:nvSpPr>
        <p:spPr bwMode="auto">
          <a:xfrm>
            <a:off x="2457450" y="3459163"/>
            <a:ext cx="3836988" cy="1289050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AutoShape 9"/>
          <p:cNvSpPr>
            <a:spLocks noChangeArrowheads="1"/>
          </p:cNvSpPr>
          <p:nvPr/>
        </p:nvSpPr>
        <p:spPr bwMode="auto">
          <a:xfrm rot="5400000">
            <a:off x="3965576" y="4464050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34827" name="Freeform 10"/>
          <p:cNvSpPr>
            <a:spLocks/>
          </p:cNvSpPr>
          <p:nvPr/>
        </p:nvSpPr>
        <p:spPr bwMode="auto">
          <a:xfrm>
            <a:off x="4975225" y="3454400"/>
            <a:ext cx="3810000" cy="1285875"/>
          </a:xfrm>
          <a:custGeom>
            <a:avLst/>
            <a:gdLst>
              <a:gd name="T0" fmla="*/ 0 w 2400"/>
              <a:gd name="T1" fmla="*/ 0 h 810"/>
              <a:gd name="T2" fmla="*/ 2147483647 w 2400"/>
              <a:gd name="T3" fmla="*/ 0 h 810"/>
              <a:gd name="T4" fmla="*/ 2147483647 w 2400"/>
              <a:gd name="T5" fmla="*/ 2147483647 h 810"/>
              <a:gd name="T6" fmla="*/ 2147483647 w 2400"/>
              <a:gd name="T7" fmla="*/ 2147483647 h 810"/>
              <a:gd name="T8" fmla="*/ 0 w 2400"/>
              <a:gd name="T9" fmla="*/ 0 h 8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0"/>
              <a:gd name="T16" fmla="*/ 0 h 810"/>
              <a:gd name="T17" fmla="*/ 2400 w 2400"/>
              <a:gd name="T18" fmla="*/ 810 h 8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0" h="810">
                <a:moveTo>
                  <a:pt x="0" y="0"/>
                </a:moveTo>
                <a:lnTo>
                  <a:pt x="1590" y="0"/>
                </a:lnTo>
                <a:lnTo>
                  <a:pt x="2400" y="810"/>
                </a:lnTo>
                <a:lnTo>
                  <a:pt x="816" y="81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Freeform 11"/>
          <p:cNvSpPr>
            <a:spLocks/>
          </p:cNvSpPr>
          <p:nvPr/>
        </p:nvSpPr>
        <p:spPr bwMode="auto">
          <a:xfrm>
            <a:off x="2481263" y="1414463"/>
            <a:ext cx="5049837" cy="4070350"/>
          </a:xfrm>
          <a:custGeom>
            <a:avLst/>
            <a:gdLst>
              <a:gd name="T0" fmla="*/ 2147483647 w 3180"/>
              <a:gd name="T1" fmla="*/ 0 h 2564"/>
              <a:gd name="T2" fmla="*/ 0 w 3180"/>
              <a:gd name="T3" fmla="*/ 0 h 2564"/>
              <a:gd name="T4" fmla="*/ 0 w 3180"/>
              <a:gd name="T5" fmla="*/ 2147483647 h 2564"/>
              <a:gd name="T6" fmla="*/ 0 60000 65536"/>
              <a:gd name="T7" fmla="*/ 0 60000 65536"/>
              <a:gd name="T8" fmla="*/ 0 60000 65536"/>
              <a:gd name="T9" fmla="*/ 0 w 3180"/>
              <a:gd name="T10" fmla="*/ 0 h 2564"/>
              <a:gd name="T11" fmla="*/ 3180 w 3180"/>
              <a:gd name="T12" fmla="*/ 2564 h 25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0" h="2564">
                <a:moveTo>
                  <a:pt x="3180" y="0"/>
                </a:moveTo>
                <a:lnTo>
                  <a:pt x="0" y="0"/>
                </a:lnTo>
                <a:lnTo>
                  <a:pt x="0" y="25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9" name="Freeform 12"/>
          <p:cNvSpPr>
            <a:spLocks/>
          </p:cNvSpPr>
          <p:nvPr/>
        </p:nvSpPr>
        <p:spPr bwMode="auto">
          <a:xfrm>
            <a:off x="3695700" y="100013"/>
            <a:ext cx="2592388" cy="6664325"/>
          </a:xfrm>
          <a:custGeom>
            <a:avLst/>
            <a:gdLst>
              <a:gd name="T0" fmla="*/ 0 w 1633"/>
              <a:gd name="T1" fmla="*/ 0 h 4198"/>
              <a:gd name="T2" fmla="*/ 2147483647 w 1633"/>
              <a:gd name="T3" fmla="*/ 2147483647 h 4198"/>
              <a:gd name="T4" fmla="*/ 2147483647 w 1633"/>
              <a:gd name="T5" fmla="*/ 2147483647 h 4198"/>
              <a:gd name="T6" fmla="*/ 0 60000 65536"/>
              <a:gd name="T7" fmla="*/ 0 60000 65536"/>
              <a:gd name="T8" fmla="*/ 0 60000 65536"/>
              <a:gd name="T9" fmla="*/ 0 w 1633"/>
              <a:gd name="T10" fmla="*/ 0 h 4198"/>
              <a:gd name="T11" fmla="*/ 1633 w 1633"/>
              <a:gd name="T12" fmla="*/ 4198 h 41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3" h="4198">
                <a:moveTo>
                  <a:pt x="0" y="0"/>
                </a:moveTo>
                <a:lnTo>
                  <a:pt x="1633" y="1633"/>
                </a:lnTo>
                <a:lnTo>
                  <a:pt x="1633" y="419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0" name="Freeform 13"/>
          <p:cNvSpPr>
            <a:spLocks/>
          </p:cNvSpPr>
          <p:nvPr/>
        </p:nvSpPr>
        <p:spPr bwMode="auto">
          <a:xfrm>
            <a:off x="1201738" y="2141538"/>
            <a:ext cx="7578725" cy="2568575"/>
          </a:xfrm>
          <a:custGeom>
            <a:avLst/>
            <a:gdLst>
              <a:gd name="T0" fmla="*/ 0 w 4774"/>
              <a:gd name="T1" fmla="*/ 0 h 1618"/>
              <a:gd name="T2" fmla="*/ 2147483647 w 4774"/>
              <a:gd name="T3" fmla="*/ 2147483647 h 1618"/>
              <a:gd name="T4" fmla="*/ 2147483647 w 4774"/>
              <a:gd name="T5" fmla="*/ 2147483647 h 1618"/>
              <a:gd name="T6" fmla="*/ 0 60000 65536"/>
              <a:gd name="T7" fmla="*/ 0 60000 65536"/>
              <a:gd name="T8" fmla="*/ 0 60000 65536"/>
              <a:gd name="T9" fmla="*/ 0 w 4774"/>
              <a:gd name="T10" fmla="*/ 0 h 1618"/>
              <a:gd name="T11" fmla="*/ 4774 w 4774"/>
              <a:gd name="T12" fmla="*/ 1618 h 16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4" h="1618">
                <a:moveTo>
                  <a:pt x="0" y="0"/>
                </a:moveTo>
                <a:lnTo>
                  <a:pt x="1618" y="1618"/>
                </a:lnTo>
                <a:lnTo>
                  <a:pt x="4774" y="16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1" name="Freeform 14"/>
          <p:cNvSpPr>
            <a:spLocks/>
          </p:cNvSpPr>
          <p:nvPr/>
        </p:nvSpPr>
        <p:spPr bwMode="auto">
          <a:xfrm>
            <a:off x="2505075" y="2246313"/>
            <a:ext cx="5035550" cy="1290637"/>
          </a:xfrm>
          <a:custGeom>
            <a:avLst/>
            <a:gdLst>
              <a:gd name="T0" fmla="*/ 0 w 3172"/>
              <a:gd name="T1" fmla="*/ 0 h 813"/>
              <a:gd name="T2" fmla="*/ 2147483647 w 3172"/>
              <a:gd name="T3" fmla="*/ 0 h 813"/>
              <a:gd name="T4" fmla="*/ 2147483647 w 3172"/>
              <a:gd name="T5" fmla="*/ 2147483647 h 813"/>
              <a:gd name="T6" fmla="*/ 0 60000 65536"/>
              <a:gd name="T7" fmla="*/ 0 60000 65536"/>
              <a:gd name="T8" fmla="*/ 0 60000 65536"/>
              <a:gd name="T9" fmla="*/ 0 w 3172"/>
              <a:gd name="T10" fmla="*/ 0 h 813"/>
              <a:gd name="T11" fmla="*/ 3172 w 3172"/>
              <a:gd name="T12" fmla="*/ 813 h 8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2" h="813">
                <a:moveTo>
                  <a:pt x="0" y="0"/>
                </a:moveTo>
                <a:lnTo>
                  <a:pt x="2359" y="0"/>
                </a:lnTo>
                <a:lnTo>
                  <a:pt x="3172" y="81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2" name="Freeform 16"/>
          <p:cNvSpPr>
            <a:spLocks/>
          </p:cNvSpPr>
          <p:nvPr/>
        </p:nvSpPr>
        <p:spPr bwMode="auto">
          <a:xfrm>
            <a:off x="2466975" y="1431925"/>
            <a:ext cx="5022850" cy="4057650"/>
          </a:xfrm>
          <a:custGeom>
            <a:avLst/>
            <a:gdLst>
              <a:gd name="T0" fmla="*/ 2147483647 w 3164"/>
              <a:gd name="T1" fmla="*/ 0 h 2556"/>
              <a:gd name="T2" fmla="*/ 0 w 3164"/>
              <a:gd name="T3" fmla="*/ 0 h 2556"/>
              <a:gd name="T4" fmla="*/ 0 w 3164"/>
              <a:gd name="T5" fmla="*/ 2147483647 h 2556"/>
              <a:gd name="T6" fmla="*/ 0 60000 65536"/>
              <a:gd name="T7" fmla="*/ 0 60000 65536"/>
              <a:gd name="T8" fmla="*/ 0 60000 65536"/>
              <a:gd name="T9" fmla="*/ 0 w 3164"/>
              <a:gd name="T10" fmla="*/ 0 h 2556"/>
              <a:gd name="T11" fmla="*/ 3164 w 3164"/>
              <a:gd name="T12" fmla="*/ 2556 h 2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64" h="2556">
                <a:moveTo>
                  <a:pt x="3164" y="0"/>
                </a:moveTo>
                <a:lnTo>
                  <a:pt x="0" y="0"/>
                </a:lnTo>
                <a:lnTo>
                  <a:pt x="0" y="2556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7493000" y="1422400"/>
            <a:ext cx="0" cy="2041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4" name="Freeform 18"/>
          <p:cNvSpPr>
            <a:spLocks/>
          </p:cNvSpPr>
          <p:nvPr/>
        </p:nvSpPr>
        <p:spPr bwMode="auto">
          <a:xfrm>
            <a:off x="6224588" y="4737100"/>
            <a:ext cx="1277937" cy="738188"/>
          </a:xfrm>
          <a:custGeom>
            <a:avLst/>
            <a:gdLst>
              <a:gd name="T0" fmla="*/ 2147483647 w 805"/>
              <a:gd name="T1" fmla="*/ 0 h 465"/>
              <a:gd name="T2" fmla="*/ 2147483647 w 805"/>
              <a:gd name="T3" fmla="*/ 2147483647 h 465"/>
              <a:gd name="T4" fmla="*/ 0 w 805"/>
              <a:gd name="T5" fmla="*/ 2147483647 h 465"/>
              <a:gd name="T6" fmla="*/ 0 60000 65536"/>
              <a:gd name="T7" fmla="*/ 0 60000 65536"/>
              <a:gd name="T8" fmla="*/ 0 60000 65536"/>
              <a:gd name="T9" fmla="*/ 0 w 805"/>
              <a:gd name="T10" fmla="*/ 0 h 465"/>
              <a:gd name="T11" fmla="*/ 805 w 805"/>
              <a:gd name="T12" fmla="*/ 465 h 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5" h="465">
                <a:moveTo>
                  <a:pt x="805" y="0"/>
                </a:moveTo>
                <a:lnTo>
                  <a:pt x="805" y="465"/>
                </a:lnTo>
                <a:lnTo>
                  <a:pt x="0" y="465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>
            <a:off x="2460625" y="5481638"/>
            <a:ext cx="25130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>
            <a:off x="4970463" y="5472113"/>
            <a:ext cx="12954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7" name="Freeform 21"/>
          <p:cNvSpPr>
            <a:spLocks/>
          </p:cNvSpPr>
          <p:nvPr/>
        </p:nvSpPr>
        <p:spPr bwMode="auto">
          <a:xfrm>
            <a:off x="2457450" y="3460750"/>
            <a:ext cx="6313488" cy="1277938"/>
          </a:xfrm>
          <a:custGeom>
            <a:avLst/>
            <a:gdLst>
              <a:gd name="T0" fmla="*/ 0 w 3977"/>
              <a:gd name="T1" fmla="*/ 2147483647 h 805"/>
              <a:gd name="T2" fmla="*/ 2147483647 w 3977"/>
              <a:gd name="T3" fmla="*/ 2147483647 h 805"/>
              <a:gd name="T4" fmla="*/ 2147483647 w 3977"/>
              <a:gd name="T5" fmla="*/ 2147483647 h 805"/>
              <a:gd name="T6" fmla="*/ 2147483647 w 3977"/>
              <a:gd name="T7" fmla="*/ 0 h 805"/>
              <a:gd name="T8" fmla="*/ 0 60000 65536"/>
              <a:gd name="T9" fmla="*/ 0 60000 65536"/>
              <a:gd name="T10" fmla="*/ 0 60000 65536"/>
              <a:gd name="T11" fmla="*/ 0 60000 65536"/>
              <a:gd name="T12" fmla="*/ 0 w 3977"/>
              <a:gd name="T13" fmla="*/ 0 h 805"/>
              <a:gd name="T14" fmla="*/ 3977 w 3977"/>
              <a:gd name="T15" fmla="*/ 805 h 8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77" h="805">
                <a:moveTo>
                  <a:pt x="0" y="8"/>
                </a:moveTo>
                <a:lnTo>
                  <a:pt x="797" y="805"/>
                </a:lnTo>
                <a:lnTo>
                  <a:pt x="3977" y="805"/>
                </a:lnTo>
                <a:lnTo>
                  <a:pt x="3172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3694113" y="131763"/>
            <a:ext cx="0" cy="1290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 flipH="1" flipV="1">
            <a:off x="4978400" y="5475288"/>
            <a:ext cx="12954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0" name="Freeform 24"/>
          <p:cNvSpPr>
            <a:spLocks/>
          </p:cNvSpPr>
          <p:nvPr/>
        </p:nvSpPr>
        <p:spPr bwMode="auto">
          <a:xfrm>
            <a:off x="3694113" y="1409700"/>
            <a:ext cx="1289050" cy="4070350"/>
          </a:xfrm>
          <a:custGeom>
            <a:avLst/>
            <a:gdLst>
              <a:gd name="T0" fmla="*/ 0 w 812"/>
              <a:gd name="T1" fmla="*/ 0 h 2564"/>
              <a:gd name="T2" fmla="*/ 0 w 812"/>
              <a:gd name="T3" fmla="*/ 2147483647 h 2564"/>
              <a:gd name="T4" fmla="*/ 2147483647 w 812"/>
              <a:gd name="T5" fmla="*/ 2147483647 h 2564"/>
              <a:gd name="T6" fmla="*/ 0 60000 65536"/>
              <a:gd name="T7" fmla="*/ 0 60000 65536"/>
              <a:gd name="T8" fmla="*/ 0 60000 65536"/>
              <a:gd name="T9" fmla="*/ 0 w 812"/>
              <a:gd name="T10" fmla="*/ 0 h 2564"/>
              <a:gd name="T11" fmla="*/ 812 w 812"/>
              <a:gd name="T12" fmla="*/ 2564 h 25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2" h="2564">
                <a:moveTo>
                  <a:pt x="0" y="0"/>
                </a:moveTo>
                <a:lnTo>
                  <a:pt x="0" y="1752"/>
                </a:lnTo>
                <a:lnTo>
                  <a:pt x="812" y="2564"/>
                </a:lnTo>
              </a:path>
            </a:pathLst>
          </a:cu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1" name="Freeform 25"/>
          <p:cNvSpPr>
            <a:spLocks/>
          </p:cNvSpPr>
          <p:nvPr/>
        </p:nvSpPr>
        <p:spPr bwMode="auto">
          <a:xfrm>
            <a:off x="2452688" y="2166938"/>
            <a:ext cx="5048250" cy="1290637"/>
          </a:xfrm>
          <a:custGeom>
            <a:avLst/>
            <a:gdLst>
              <a:gd name="T0" fmla="*/ 0 w 3180"/>
              <a:gd name="T1" fmla="*/ 0 h 813"/>
              <a:gd name="T2" fmla="*/ 2147483647 w 3180"/>
              <a:gd name="T3" fmla="*/ 0 h 813"/>
              <a:gd name="T4" fmla="*/ 2147483647 w 3180"/>
              <a:gd name="T5" fmla="*/ 2147483647 h 813"/>
              <a:gd name="T6" fmla="*/ 0 60000 65536"/>
              <a:gd name="T7" fmla="*/ 0 60000 65536"/>
              <a:gd name="T8" fmla="*/ 0 60000 65536"/>
              <a:gd name="T9" fmla="*/ 0 w 3180"/>
              <a:gd name="T10" fmla="*/ 0 h 813"/>
              <a:gd name="T11" fmla="*/ 3180 w 3180"/>
              <a:gd name="T12" fmla="*/ 813 h 8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0" h="813">
                <a:moveTo>
                  <a:pt x="0" y="0"/>
                </a:moveTo>
                <a:lnTo>
                  <a:pt x="2367" y="0"/>
                </a:lnTo>
                <a:lnTo>
                  <a:pt x="3180" y="813"/>
                </a:lnTo>
              </a:path>
            </a:pathLst>
          </a:cu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0" name="Text Box 26"/>
          <p:cNvSpPr txBox="1">
            <a:spLocks noChangeArrowheads="1"/>
          </p:cNvSpPr>
          <p:nvPr/>
        </p:nvSpPr>
        <p:spPr bwMode="auto">
          <a:xfrm>
            <a:off x="3665538" y="4303713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H </a:t>
            </a:r>
          </a:p>
        </p:txBody>
      </p:sp>
      <p:sp>
        <p:nvSpPr>
          <p:cNvPr id="108571" name="Text Box 27"/>
          <p:cNvSpPr txBox="1">
            <a:spLocks noChangeArrowheads="1"/>
          </p:cNvSpPr>
          <p:nvPr/>
        </p:nvSpPr>
        <p:spPr bwMode="auto">
          <a:xfrm>
            <a:off x="2049463" y="32956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X </a:t>
            </a:r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 flipV="1">
            <a:off x="7493000" y="3448050"/>
            <a:ext cx="0" cy="1277938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2455863" y="3462338"/>
            <a:ext cx="25161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 flipV="1">
            <a:off x="4970463" y="1431925"/>
            <a:ext cx="0" cy="2028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>
            <a:off x="6232525" y="3462338"/>
            <a:ext cx="1265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 flipV="1">
            <a:off x="4972050" y="4738688"/>
            <a:ext cx="0" cy="7508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>
            <a:off x="4973638" y="3462338"/>
            <a:ext cx="1277937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4972050" y="3455988"/>
            <a:ext cx="0" cy="1277937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 flipH="1" flipV="1">
            <a:off x="3689350" y="2168525"/>
            <a:ext cx="1282700" cy="128270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0" name="Text Box 36"/>
          <p:cNvSpPr txBox="1">
            <a:spLocks noChangeArrowheads="1"/>
          </p:cNvSpPr>
          <p:nvPr/>
        </p:nvSpPr>
        <p:spPr bwMode="auto">
          <a:xfrm>
            <a:off x="4765675" y="939800"/>
            <a:ext cx="57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Z  </a:t>
            </a:r>
          </a:p>
        </p:txBody>
      </p:sp>
      <p:sp>
        <p:nvSpPr>
          <p:cNvPr id="108581" name="Text Box 37"/>
          <p:cNvSpPr txBox="1">
            <a:spLocks noChangeArrowheads="1"/>
          </p:cNvSpPr>
          <p:nvPr/>
        </p:nvSpPr>
        <p:spPr bwMode="auto">
          <a:xfrm>
            <a:off x="6269038" y="47101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 </a:t>
            </a:r>
          </a:p>
        </p:txBody>
      </p:sp>
      <p:sp>
        <p:nvSpPr>
          <p:cNvPr id="34854" name="AutoShape 38"/>
          <p:cNvSpPr>
            <a:spLocks noChangeArrowheads="1"/>
          </p:cNvSpPr>
          <p:nvPr/>
        </p:nvSpPr>
        <p:spPr bwMode="auto">
          <a:xfrm rot="5400000">
            <a:off x="3963988" y="2436812"/>
            <a:ext cx="3333750" cy="1298575"/>
          </a:xfrm>
          <a:prstGeom prst="parallelogram">
            <a:avLst>
              <a:gd name="adj" fmla="val 99623"/>
            </a:avLst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08583" name="Text Box 39"/>
          <p:cNvSpPr txBox="1">
            <a:spLocks noChangeArrowheads="1"/>
          </p:cNvSpPr>
          <p:nvPr/>
        </p:nvSpPr>
        <p:spPr bwMode="auto">
          <a:xfrm>
            <a:off x="5826125" y="2552700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W </a:t>
            </a:r>
          </a:p>
        </p:txBody>
      </p:sp>
      <p:sp>
        <p:nvSpPr>
          <p:cNvPr id="34856" name="Freeform 40"/>
          <p:cNvSpPr>
            <a:spLocks/>
          </p:cNvSpPr>
          <p:nvPr/>
        </p:nvSpPr>
        <p:spPr bwMode="auto">
          <a:xfrm>
            <a:off x="3689350" y="139700"/>
            <a:ext cx="2579688" cy="6638925"/>
          </a:xfrm>
          <a:custGeom>
            <a:avLst/>
            <a:gdLst>
              <a:gd name="T0" fmla="*/ 0 w 1625"/>
              <a:gd name="T1" fmla="*/ 0 h 4182"/>
              <a:gd name="T2" fmla="*/ 2147483647 w 1625"/>
              <a:gd name="T3" fmla="*/ 2147483647 h 4182"/>
              <a:gd name="T4" fmla="*/ 2147483647 w 1625"/>
              <a:gd name="T5" fmla="*/ 2147483647 h 4182"/>
              <a:gd name="T6" fmla="*/ 0 60000 65536"/>
              <a:gd name="T7" fmla="*/ 0 60000 65536"/>
              <a:gd name="T8" fmla="*/ 0 60000 65536"/>
              <a:gd name="T9" fmla="*/ 0 w 1625"/>
              <a:gd name="T10" fmla="*/ 0 h 4182"/>
              <a:gd name="T11" fmla="*/ 1625 w 1625"/>
              <a:gd name="T12" fmla="*/ 4182 h 4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5" h="4182">
                <a:moveTo>
                  <a:pt x="0" y="0"/>
                </a:moveTo>
                <a:lnTo>
                  <a:pt x="1625" y="1625"/>
                </a:lnTo>
                <a:lnTo>
                  <a:pt x="1625" y="4182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>
            <a:off x="4975225" y="3455988"/>
            <a:ext cx="1277938" cy="1277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6" name="Text Box 42"/>
          <p:cNvSpPr txBox="1">
            <a:spLocks noChangeArrowheads="1"/>
          </p:cNvSpPr>
          <p:nvPr/>
        </p:nvSpPr>
        <p:spPr bwMode="auto">
          <a:xfrm>
            <a:off x="4978400" y="3014663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O </a:t>
            </a:r>
          </a:p>
        </p:txBody>
      </p:sp>
      <p:sp>
        <p:nvSpPr>
          <p:cNvPr id="108587" name="Text Box 43"/>
          <p:cNvSpPr txBox="1">
            <a:spLocks noChangeArrowheads="1"/>
          </p:cNvSpPr>
          <p:nvPr/>
        </p:nvSpPr>
        <p:spPr bwMode="auto">
          <a:xfrm>
            <a:off x="4135438" y="27559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A </a:t>
            </a:r>
          </a:p>
        </p:txBody>
      </p:sp>
      <p:sp>
        <p:nvSpPr>
          <p:cNvPr id="108588" name="Line 44"/>
          <p:cNvSpPr>
            <a:spLocks noChangeShapeType="1"/>
          </p:cNvSpPr>
          <p:nvPr/>
        </p:nvSpPr>
        <p:spPr bwMode="auto">
          <a:xfrm>
            <a:off x="3535363" y="2411413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89" name="Line 45"/>
          <p:cNvSpPr>
            <a:spLocks noChangeShapeType="1"/>
          </p:cNvSpPr>
          <p:nvPr/>
        </p:nvSpPr>
        <p:spPr bwMode="auto">
          <a:xfrm flipH="1" flipV="1">
            <a:off x="3525838" y="2422525"/>
            <a:ext cx="762000" cy="757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0" name="Line 46"/>
          <p:cNvSpPr>
            <a:spLocks noChangeShapeType="1"/>
          </p:cNvSpPr>
          <p:nvPr/>
        </p:nvSpPr>
        <p:spPr bwMode="auto">
          <a:xfrm>
            <a:off x="4287838" y="3181350"/>
            <a:ext cx="0" cy="1036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1" name="Line 47"/>
          <p:cNvSpPr>
            <a:spLocks noChangeShapeType="1"/>
          </p:cNvSpPr>
          <p:nvPr/>
        </p:nvSpPr>
        <p:spPr bwMode="auto">
          <a:xfrm>
            <a:off x="3527425" y="3463925"/>
            <a:ext cx="765175" cy="760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2" name="Line 48"/>
          <p:cNvSpPr>
            <a:spLocks noChangeShapeType="1"/>
          </p:cNvSpPr>
          <p:nvPr/>
        </p:nvSpPr>
        <p:spPr bwMode="auto">
          <a:xfrm>
            <a:off x="4292600" y="3194050"/>
            <a:ext cx="1435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3" name="Line 49"/>
          <p:cNvSpPr>
            <a:spLocks noChangeShapeType="1"/>
          </p:cNvSpPr>
          <p:nvPr/>
        </p:nvSpPr>
        <p:spPr bwMode="auto">
          <a:xfrm>
            <a:off x="3525838" y="2422525"/>
            <a:ext cx="1444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4" name="Line 50"/>
          <p:cNvSpPr>
            <a:spLocks noChangeShapeType="1"/>
          </p:cNvSpPr>
          <p:nvPr/>
        </p:nvSpPr>
        <p:spPr bwMode="auto">
          <a:xfrm>
            <a:off x="4972050" y="2428875"/>
            <a:ext cx="755650" cy="757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5" name="Line 51"/>
          <p:cNvSpPr>
            <a:spLocks noChangeShapeType="1"/>
          </p:cNvSpPr>
          <p:nvPr/>
        </p:nvSpPr>
        <p:spPr bwMode="auto">
          <a:xfrm>
            <a:off x="4292600" y="4222750"/>
            <a:ext cx="1454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6" name="Line 52"/>
          <p:cNvSpPr>
            <a:spLocks noChangeShapeType="1"/>
          </p:cNvSpPr>
          <p:nvPr/>
        </p:nvSpPr>
        <p:spPr bwMode="auto">
          <a:xfrm flipV="1">
            <a:off x="5746750" y="3200400"/>
            <a:ext cx="0" cy="1022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97" name="AutoShape 53"/>
          <p:cNvSpPr>
            <a:spLocks noChangeArrowheads="1"/>
          </p:cNvSpPr>
          <p:nvPr/>
        </p:nvSpPr>
        <p:spPr bwMode="auto">
          <a:xfrm>
            <a:off x="4248150" y="3154363"/>
            <a:ext cx="74613" cy="74612"/>
          </a:xfrm>
          <a:prstGeom prst="flowChartConnector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598" name="AutoShape 54"/>
          <p:cNvSpPr>
            <a:spLocks noChangeArrowheads="1"/>
          </p:cNvSpPr>
          <p:nvPr/>
        </p:nvSpPr>
        <p:spPr bwMode="auto">
          <a:xfrm>
            <a:off x="3492500" y="2386013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599" name="AutoShape 55"/>
          <p:cNvSpPr>
            <a:spLocks noChangeArrowheads="1"/>
          </p:cNvSpPr>
          <p:nvPr/>
        </p:nvSpPr>
        <p:spPr bwMode="auto">
          <a:xfrm>
            <a:off x="4249738" y="4178300"/>
            <a:ext cx="74612" cy="74613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600" name="AutoShape 56"/>
          <p:cNvSpPr>
            <a:spLocks noChangeArrowheads="1"/>
          </p:cNvSpPr>
          <p:nvPr/>
        </p:nvSpPr>
        <p:spPr bwMode="auto">
          <a:xfrm>
            <a:off x="5703888" y="3160713"/>
            <a:ext cx="74612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08601" name="Text Box 57"/>
          <p:cNvSpPr txBox="1">
            <a:spLocks noChangeArrowheads="1"/>
          </p:cNvSpPr>
          <p:nvPr/>
        </p:nvSpPr>
        <p:spPr bwMode="auto">
          <a:xfrm>
            <a:off x="5705475" y="3014663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108602" name="Text Box 58"/>
          <p:cNvSpPr txBox="1">
            <a:spLocks noChangeArrowheads="1"/>
          </p:cNvSpPr>
          <p:nvPr/>
        </p:nvSpPr>
        <p:spPr bwMode="auto">
          <a:xfrm>
            <a:off x="4221163" y="41719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000" i="1">
              <a:solidFill>
                <a:srgbClr val="CCFF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08603" name="Text Box 59"/>
          <p:cNvSpPr txBox="1">
            <a:spLocks noChangeArrowheads="1"/>
          </p:cNvSpPr>
          <p:nvPr/>
        </p:nvSpPr>
        <p:spPr bwMode="auto">
          <a:xfrm>
            <a:off x="3038475" y="2170113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a'</a:t>
            </a:r>
          </a:p>
        </p:txBody>
      </p:sp>
      <p:sp>
        <p:nvSpPr>
          <p:cNvPr id="108604" name="Text Box 60"/>
          <p:cNvSpPr txBox="1">
            <a:spLocks noChangeArrowheads="1"/>
          </p:cNvSpPr>
          <p:nvPr/>
        </p:nvSpPr>
        <p:spPr bwMode="auto">
          <a:xfrm>
            <a:off x="3097213" y="3014663"/>
            <a:ext cx="44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x </a:t>
            </a:r>
          </a:p>
        </p:txBody>
      </p:sp>
      <p:sp>
        <p:nvSpPr>
          <p:cNvPr id="108605" name="Text Box 61"/>
          <p:cNvSpPr txBox="1">
            <a:spLocks noChangeArrowheads="1"/>
          </p:cNvSpPr>
          <p:nvPr/>
        </p:nvSpPr>
        <p:spPr bwMode="auto">
          <a:xfrm>
            <a:off x="5757863" y="3913188"/>
            <a:ext cx="469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 </a:t>
            </a:r>
          </a:p>
        </p:txBody>
      </p:sp>
      <p:sp>
        <p:nvSpPr>
          <p:cNvPr id="108606" name="Text Box 62"/>
          <p:cNvSpPr txBox="1">
            <a:spLocks noChangeArrowheads="1"/>
          </p:cNvSpPr>
          <p:nvPr/>
        </p:nvSpPr>
        <p:spPr bwMode="auto">
          <a:xfrm>
            <a:off x="4965700" y="2089150"/>
            <a:ext cx="447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z </a:t>
            </a:r>
          </a:p>
        </p:txBody>
      </p:sp>
      <p:sp>
        <p:nvSpPr>
          <p:cNvPr id="108607" name="Arc 63"/>
          <p:cNvSpPr>
            <a:spLocks/>
          </p:cNvSpPr>
          <p:nvPr/>
        </p:nvSpPr>
        <p:spPr bwMode="auto">
          <a:xfrm rot="5400000">
            <a:off x="2954338" y="4560888"/>
            <a:ext cx="596900" cy="952500"/>
          </a:xfrm>
          <a:custGeom>
            <a:avLst/>
            <a:gdLst>
              <a:gd name="T0" fmla="*/ 0 w 19757"/>
              <a:gd name="T1" fmla="*/ 0 h 21600"/>
              <a:gd name="T2" fmla="*/ 2147483647 w 19757"/>
              <a:gd name="T3" fmla="*/ 2147483647 h 21600"/>
              <a:gd name="T4" fmla="*/ 0 w 19757"/>
              <a:gd name="T5" fmla="*/ 2147483647 h 21600"/>
              <a:gd name="T6" fmla="*/ 0 60000 65536"/>
              <a:gd name="T7" fmla="*/ 0 60000 65536"/>
              <a:gd name="T8" fmla="*/ 0 60000 65536"/>
              <a:gd name="T9" fmla="*/ 0 w 19757"/>
              <a:gd name="T10" fmla="*/ 0 h 21600"/>
              <a:gd name="T11" fmla="*/ 19757 w 1975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57" h="21600" fill="none" extrusionOk="0">
                <a:moveTo>
                  <a:pt x="-1" y="0"/>
                </a:moveTo>
                <a:cubicBezTo>
                  <a:pt x="8552" y="0"/>
                  <a:pt x="16299" y="5046"/>
                  <a:pt x="19756" y="12869"/>
                </a:cubicBezTo>
              </a:path>
              <a:path w="19757" h="21600" stroke="0" extrusionOk="0">
                <a:moveTo>
                  <a:pt x="-1" y="0"/>
                </a:moveTo>
                <a:cubicBezTo>
                  <a:pt x="8552" y="0"/>
                  <a:pt x="16299" y="5046"/>
                  <a:pt x="19756" y="1286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08" name="Arc 64"/>
          <p:cNvSpPr>
            <a:spLocks/>
          </p:cNvSpPr>
          <p:nvPr/>
        </p:nvSpPr>
        <p:spPr bwMode="auto">
          <a:xfrm flipV="1">
            <a:off x="6257925" y="2025650"/>
            <a:ext cx="820738" cy="688975"/>
          </a:xfrm>
          <a:custGeom>
            <a:avLst/>
            <a:gdLst>
              <a:gd name="T0" fmla="*/ 0 w 20783"/>
              <a:gd name="T1" fmla="*/ 0 h 21600"/>
              <a:gd name="T2" fmla="*/ 2147483647 w 20783"/>
              <a:gd name="T3" fmla="*/ 2147483647 h 21600"/>
              <a:gd name="T4" fmla="*/ 0 w 20783"/>
              <a:gd name="T5" fmla="*/ 2147483647 h 21600"/>
              <a:gd name="T6" fmla="*/ 0 60000 65536"/>
              <a:gd name="T7" fmla="*/ 0 60000 65536"/>
              <a:gd name="T8" fmla="*/ 0 60000 65536"/>
              <a:gd name="T9" fmla="*/ 0 w 20783"/>
              <a:gd name="T10" fmla="*/ 0 h 21600"/>
              <a:gd name="T11" fmla="*/ 20783 w 2078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783" h="21600" fill="none" extrusionOk="0">
                <a:moveTo>
                  <a:pt x="-1" y="0"/>
                </a:moveTo>
                <a:cubicBezTo>
                  <a:pt x="9662" y="0"/>
                  <a:pt x="18150" y="6417"/>
                  <a:pt x="20782" y="15715"/>
                </a:cubicBezTo>
              </a:path>
              <a:path w="20783" h="21600" stroke="0" extrusionOk="0">
                <a:moveTo>
                  <a:pt x="-1" y="0"/>
                </a:moveTo>
                <a:cubicBezTo>
                  <a:pt x="9662" y="0"/>
                  <a:pt x="18150" y="6417"/>
                  <a:pt x="20782" y="1571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81" name="Rectangle 65"/>
          <p:cNvSpPr>
            <a:spLocks noChangeArrowheads="1"/>
          </p:cNvSpPr>
          <p:nvPr/>
        </p:nvSpPr>
        <p:spPr bwMode="auto">
          <a:xfrm>
            <a:off x="147638" y="292100"/>
            <a:ext cx="8996362" cy="98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点的三面投影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①直观图</a:t>
            </a:r>
            <a:endParaRPr lang="zh-CN" altLang="en-US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8626" name="Line 82"/>
          <p:cNvSpPr>
            <a:spLocks noChangeShapeType="1"/>
          </p:cNvSpPr>
          <p:nvPr/>
        </p:nvSpPr>
        <p:spPr bwMode="auto">
          <a:xfrm flipV="1">
            <a:off x="6813550" y="6024563"/>
            <a:ext cx="801688" cy="2762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none" w="sm" len="lg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2422525" y="3152775"/>
            <a:ext cx="222250" cy="490538"/>
            <a:chOff x="1526" y="1986"/>
            <a:chExt cx="140" cy="309"/>
          </a:xfrm>
        </p:grpSpPr>
        <p:sp>
          <p:nvSpPr>
            <p:cNvPr id="34909" name="Arc 84"/>
            <p:cNvSpPr>
              <a:spLocks/>
            </p:cNvSpPr>
            <p:nvPr/>
          </p:nvSpPr>
          <p:spPr bwMode="auto">
            <a:xfrm>
              <a:off x="1554" y="1986"/>
              <a:ext cx="99" cy="30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10" name="Text Box 85"/>
            <p:cNvSpPr txBox="1">
              <a:spLocks noChangeArrowheads="1"/>
            </p:cNvSpPr>
            <p:nvPr/>
          </p:nvSpPr>
          <p:spPr bwMode="auto">
            <a:xfrm>
              <a:off x="1526" y="2042"/>
              <a:ext cx="1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/>
                <a:t>.</a:t>
              </a: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 rot="5400000" flipV="1">
            <a:off x="4785519" y="1261269"/>
            <a:ext cx="222250" cy="490538"/>
            <a:chOff x="1526" y="1986"/>
            <a:chExt cx="140" cy="309"/>
          </a:xfrm>
        </p:grpSpPr>
        <p:sp>
          <p:nvSpPr>
            <p:cNvPr id="34907" name="Arc 87"/>
            <p:cNvSpPr>
              <a:spLocks/>
            </p:cNvSpPr>
            <p:nvPr/>
          </p:nvSpPr>
          <p:spPr bwMode="auto">
            <a:xfrm>
              <a:off x="1554" y="1986"/>
              <a:ext cx="99" cy="30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8" name="Text Box 88"/>
            <p:cNvSpPr txBox="1">
              <a:spLocks noChangeArrowheads="1"/>
            </p:cNvSpPr>
            <p:nvPr/>
          </p:nvSpPr>
          <p:spPr bwMode="auto">
            <a:xfrm>
              <a:off x="1526" y="2042"/>
              <a:ext cx="1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/>
                <a:t>.</a:t>
              </a:r>
            </a:p>
          </p:txBody>
        </p:sp>
      </p:grpSp>
      <p:grpSp>
        <p:nvGrpSpPr>
          <p:cNvPr id="4" name="Group 89"/>
          <p:cNvGrpSpPr>
            <a:grpSpLocks/>
          </p:cNvGrpSpPr>
          <p:nvPr/>
        </p:nvGrpSpPr>
        <p:grpSpPr bwMode="auto">
          <a:xfrm>
            <a:off x="6269038" y="4359275"/>
            <a:ext cx="409575" cy="381000"/>
            <a:chOff x="3941" y="2746"/>
            <a:chExt cx="258" cy="240"/>
          </a:xfrm>
        </p:grpSpPr>
        <p:sp>
          <p:nvSpPr>
            <p:cNvPr id="34905" name="Arc 90"/>
            <p:cNvSpPr>
              <a:spLocks/>
            </p:cNvSpPr>
            <p:nvPr/>
          </p:nvSpPr>
          <p:spPr bwMode="auto">
            <a:xfrm rot="5400000" flipH="1">
              <a:off x="3950" y="2737"/>
              <a:ext cx="240" cy="25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6" name="Text Box 91"/>
            <p:cNvSpPr txBox="1">
              <a:spLocks noChangeArrowheads="1"/>
            </p:cNvSpPr>
            <p:nvPr/>
          </p:nvSpPr>
          <p:spPr bwMode="auto">
            <a:xfrm>
              <a:off x="3984" y="2779"/>
              <a:ext cx="1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/>
                <a:t>.</a:t>
              </a:r>
            </a:p>
          </p:txBody>
        </p:sp>
      </p:grpSp>
      <p:sp>
        <p:nvSpPr>
          <p:cNvPr id="34886" name="Line 93"/>
          <p:cNvSpPr>
            <a:spLocks noChangeShapeType="1"/>
          </p:cNvSpPr>
          <p:nvPr/>
        </p:nvSpPr>
        <p:spPr bwMode="auto">
          <a:xfrm flipH="1" flipV="1">
            <a:off x="1155700" y="2171700"/>
            <a:ext cx="1301750" cy="1301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87" name="Line 94"/>
          <p:cNvSpPr>
            <a:spLocks noChangeShapeType="1"/>
          </p:cNvSpPr>
          <p:nvPr/>
        </p:nvSpPr>
        <p:spPr bwMode="auto">
          <a:xfrm>
            <a:off x="1149350" y="2165350"/>
            <a:ext cx="13271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39" name="AutoShape 95"/>
          <p:cNvSpPr>
            <a:spLocks noChangeArrowheads="1"/>
          </p:cNvSpPr>
          <p:nvPr/>
        </p:nvSpPr>
        <p:spPr bwMode="auto">
          <a:xfrm>
            <a:off x="309563" y="4710113"/>
            <a:ext cx="1814512" cy="609600"/>
          </a:xfrm>
          <a:prstGeom prst="wedgeRectCallout">
            <a:avLst>
              <a:gd name="adj1" fmla="val 138537"/>
              <a:gd name="adj2" fmla="val -10625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水平投影面</a:t>
            </a:r>
          </a:p>
        </p:txBody>
      </p:sp>
      <p:sp>
        <p:nvSpPr>
          <p:cNvPr id="108640" name="AutoShape 96"/>
          <p:cNvSpPr>
            <a:spLocks noChangeArrowheads="1"/>
          </p:cNvSpPr>
          <p:nvPr/>
        </p:nvSpPr>
        <p:spPr bwMode="auto">
          <a:xfrm>
            <a:off x="341313" y="1473200"/>
            <a:ext cx="1958975" cy="581025"/>
          </a:xfrm>
          <a:prstGeom prst="wedgeRectCallout">
            <a:avLst>
              <a:gd name="adj1" fmla="val 83713"/>
              <a:gd name="adj2" fmla="val 21583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正立投影</a:t>
            </a:r>
            <a:r>
              <a:rPr lang="zh-CN" altLang="en-US" sz="2400">
                <a:ea typeface="黑体" pitchFamily="2" charset="-122"/>
              </a:rPr>
              <a:t>面</a:t>
            </a:r>
          </a:p>
        </p:txBody>
      </p:sp>
      <p:sp>
        <p:nvSpPr>
          <p:cNvPr id="108641" name="AutoShape 97"/>
          <p:cNvSpPr>
            <a:spLocks noChangeArrowheads="1"/>
          </p:cNvSpPr>
          <p:nvPr/>
        </p:nvSpPr>
        <p:spPr bwMode="auto">
          <a:xfrm>
            <a:off x="5735638" y="1458913"/>
            <a:ext cx="1946275" cy="609600"/>
          </a:xfrm>
          <a:prstGeom prst="wedgeRectCallout">
            <a:avLst>
              <a:gd name="adj1" fmla="val -53181"/>
              <a:gd name="adj2" fmla="val 140106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侧立投影面</a:t>
            </a:r>
          </a:p>
        </p:txBody>
      </p:sp>
      <p:sp>
        <p:nvSpPr>
          <p:cNvPr id="108642" name="AutoShape 98"/>
          <p:cNvSpPr>
            <a:spLocks noChangeArrowheads="1"/>
          </p:cNvSpPr>
          <p:nvPr/>
        </p:nvSpPr>
        <p:spPr bwMode="auto">
          <a:xfrm>
            <a:off x="3382963" y="568325"/>
            <a:ext cx="914400" cy="609600"/>
          </a:xfrm>
          <a:prstGeom prst="wedgeRectCallout">
            <a:avLst>
              <a:gd name="adj1" fmla="val 119968"/>
              <a:gd name="adj2" fmla="val 132551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OZ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</a:t>
            </a:r>
          </a:p>
        </p:txBody>
      </p:sp>
      <p:sp>
        <p:nvSpPr>
          <p:cNvPr id="108643" name="AutoShape 99"/>
          <p:cNvSpPr>
            <a:spLocks noChangeArrowheads="1"/>
          </p:cNvSpPr>
          <p:nvPr/>
        </p:nvSpPr>
        <p:spPr bwMode="auto">
          <a:xfrm>
            <a:off x="5097463" y="5045075"/>
            <a:ext cx="914400" cy="609600"/>
          </a:xfrm>
          <a:prstGeom prst="wedgeRectCallout">
            <a:avLst>
              <a:gd name="adj1" fmla="val 37329"/>
              <a:gd name="adj2" fmla="val -161458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OY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</a:t>
            </a:r>
          </a:p>
        </p:txBody>
      </p:sp>
      <p:sp>
        <p:nvSpPr>
          <p:cNvPr id="108644" name="AutoShape 100"/>
          <p:cNvSpPr>
            <a:spLocks noChangeArrowheads="1"/>
          </p:cNvSpPr>
          <p:nvPr/>
        </p:nvSpPr>
        <p:spPr bwMode="auto">
          <a:xfrm>
            <a:off x="1504950" y="3603625"/>
            <a:ext cx="1574800" cy="609600"/>
          </a:xfrm>
          <a:prstGeom prst="wedgeRoundRectCallout">
            <a:avLst>
              <a:gd name="adj1" fmla="val 118245"/>
              <a:gd name="adj2" fmla="val -110417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空间“点”</a:t>
            </a:r>
            <a:endParaRPr lang="zh-CN" altLang="en-US" sz="2400" b="0">
              <a:ea typeface="黑体" pitchFamily="2" charset="-122"/>
            </a:endParaRPr>
          </a:p>
        </p:txBody>
      </p:sp>
      <p:sp>
        <p:nvSpPr>
          <p:cNvPr id="108645" name="AutoShape 101"/>
          <p:cNvSpPr>
            <a:spLocks noChangeArrowheads="1"/>
          </p:cNvSpPr>
          <p:nvPr/>
        </p:nvSpPr>
        <p:spPr bwMode="auto">
          <a:xfrm>
            <a:off x="6848475" y="3390900"/>
            <a:ext cx="1674813" cy="581025"/>
          </a:xfrm>
          <a:prstGeom prst="wedgeRectCallout">
            <a:avLst>
              <a:gd name="adj1" fmla="val -111991"/>
              <a:gd name="adj2" fmla="val -72676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侧面投影</a:t>
            </a:r>
            <a:endParaRPr lang="zh-CN" altLang="en-US" sz="2400"/>
          </a:p>
        </p:txBody>
      </p:sp>
      <p:sp>
        <p:nvSpPr>
          <p:cNvPr id="108646" name="AutoShape 102"/>
          <p:cNvSpPr>
            <a:spLocks noChangeArrowheads="1"/>
          </p:cNvSpPr>
          <p:nvPr/>
        </p:nvSpPr>
        <p:spPr bwMode="auto">
          <a:xfrm>
            <a:off x="519113" y="1939925"/>
            <a:ext cx="1749425" cy="581025"/>
          </a:xfrm>
          <a:prstGeom prst="wedgeRectCallout">
            <a:avLst>
              <a:gd name="adj1" fmla="val 113157"/>
              <a:gd name="adj2" fmla="val 36611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正面投影</a:t>
            </a:r>
            <a:endParaRPr lang="zh-CN" altLang="en-US" sz="2400"/>
          </a:p>
        </p:txBody>
      </p:sp>
      <p:sp>
        <p:nvSpPr>
          <p:cNvPr id="108647" name="Text Box 103"/>
          <p:cNvSpPr txBox="1">
            <a:spLocks noChangeArrowheads="1"/>
          </p:cNvSpPr>
          <p:nvPr/>
        </p:nvSpPr>
        <p:spPr bwMode="auto">
          <a:xfrm>
            <a:off x="2030413" y="6084888"/>
            <a:ext cx="1317625" cy="466725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细实线</a:t>
            </a:r>
            <a:endParaRPr lang="zh-CN" altLang="en-US" sz="2400" b="0">
              <a:ea typeface="黑体" pitchFamily="2" charset="-122"/>
            </a:endParaRPr>
          </a:p>
        </p:txBody>
      </p:sp>
      <p:sp>
        <p:nvSpPr>
          <p:cNvPr id="108648" name="Text Box 104"/>
          <p:cNvSpPr txBox="1">
            <a:spLocks noChangeArrowheads="1"/>
          </p:cNvSpPr>
          <p:nvPr/>
        </p:nvSpPr>
        <p:spPr bwMode="auto">
          <a:xfrm>
            <a:off x="3529013" y="5702300"/>
            <a:ext cx="1389062" cy="83185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字号：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i="1">
                <a:latin typeface="ISOCPEUR" pitchFamily="34" charset="0"/>
              </a:rPr>
              <a:t> </a:t>
            </a:r>
            <a:r>
              <a:rPr lang="en-US" altLang="zh-CN" sz="2400" i="1">
                <a:latin typeface="ISOCPEUR" pitchFamily="34" charset="0"/>
              </a:rPr>
              <a:t>3.5 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08649" name="Text Box 105"/>
          <p:cNvSpPr txBox="1">
            <a:spLocks noChangeArrowheads="1"/>
          </p:cNvSpPr>
          <p:nvPr/>
        </p:nvSpPr>
        <p:spPr bwMode="auto">
          <a:xfrm>
            <a:off x="341313" y="5726113"/>
            <a:ext cx="1638300" cy="83185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圆点：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直径</a:t>
            </a:r>
            <a:r>
              <a:rPr lang="en-US" altLang="zh-CN" sz="2400"/>
              <a:t>~</a:t>
            </a:r>
            <a:r>
              <a:rPr lang="en-US" altLang="zh-CN" sz="2400" i="1">
                <a:latin typeface="ISOCPEUR" pitchFamily="34" charset="0"/>
              </a:rPr>
              <a:t>1 </a:t>
            </a:r>
            <a:r>
              <a:rPr lang="en-US" altLang="zh-CN" sz="2400">
                <a:latin typeface="ISOCPEUR" pitchFamily="34" charset="0"/>
              </a:rPr>
              <a:t>mm</a:t>
            </a:r>
          </a:p>
        </p:txBody>
      </p:sp>
      <p:sp>
        <p:nvSpPr>
          <p:cNvPr id="108650" name="Text Box 106"/>
          <p:cNvSpPr txBox="1">
            <a:spLocks noChangeArrowheads="1"/>
          </p:cNvSpPr>
          <p:nvPr/>
        </p:nvSpPr>
        <p:spPr bwMode="auto">
          <a:xfrm>
            <a:off x="341313" y="3914775"/>
            <a:ext cx="1844675" cy="1562100"/>
          </a:xfrm>
          <a:prstGeom prst="rect">
            <a:avLst/>
          </a:prstGeom>
          <a:solidFill>
            <a:srgbClr val="FFCCFF"/>
          </a:solidFill>
          <a:ln w="9525">
            <a:solidFill>
              <a:srgbClr val="33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∥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或⊥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 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的长度均按</a:t>
            </a:r>
          </a:p>
          <a:p>
            <a:pPr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度量</a:t>
            </a:r>
            <a:endParaRPr lang="zh-CN" altLang="en-US" sz="2400">
              <a:latin typeface="ISOCPEUR" pitchFamily="34" charset="0"/>
            </a:endParaRPr>
          </a:p>
        </p:txBody>
      </p:sp>
      <p:sp>
        <p:nvSpPr>
          <p:cNvPr id="108651" name="Line 107"/>
          <p:cNvSpPr>
            <a:spLocks noChangeShapeType="1"/>
          </p:cNvSpPr>
          <p:nvPr/>
        </p:nvSpPr>
        <p:spPr bwMode="auto">
          <a:xfrm flipV="1">
            <a:off x="1866900" y="2454275"/>
            <a:ext cx="1655763" cy="327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2" name="Line 108"/>
          <p:cNvSpPr>
            <a:spLocks noChangeShapeType="1"/>
          </p:cNvSpPr>
          <p:nvPr/>
        </p:nvSpPr>
        <p:spPr bwMode="auto">
          <a:xfrm flipV="1">
            <a:off x="3006725" y="3065463"/>
            <a:ext cx="1076325" cy="302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3" name="Line 109"/>
          <p:cNvSpPr>
            <a:spLocks noChangeShapeType="1"/>
          </p:cNvSpPr>
          <p:nvPr/>
        </p:nvSpPr>
        <p:spPr bwMode="auto">
          <a:xfrm flipH="1" flipV="1">
            <a:off x="4421188" y="4484688"/>
            <a:ext cx="188912" cy="121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4" name="AutoShape 110"/>
          <p:cNvSpPr>
            <a:spLocks noChangeArrowheads="1"/>
          </p:cNvSpPr>
          <p:nvPr/>
        </p:nvSpPr>
        <p:spPr bwMode="auto">
          <a:xfrm>
            <a:off x="868363" y="2735263"/>
            <a:ext cx="914400" cy="609600"/>
          </a:xfrm>
          <a:prstGeom prst="wedgeRectCallout">
            <a:avLst>
              <a:gd name="adj1" fmla="val 154167"/>
              <a:gd name="adj2" fmla="val 6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OX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</a:t>
            </a:r>
          </a:p>
        </p:txBody>
      </p:sp>
      <p:sp>
        <p:nvSpPr>
          <p:cNvPr id="108655" name="AutoShape 111"/>
          <p:cNvSpPr>
            <a:spLocks noChangeArrowheads="1"/>
          </p:cNvSpPr>
          <p:nvPr/>
        </p:nvSpPr>
        <p:spPr bwMode="auto">
          <a:xfrm>
            <a:off x="341313" y="4932363"/>
            <a:ext cx="1912937" cy="581025"/>
          </a:xfrm>
          <a:prstGeom prst="wedgeRectCallout">
            <a:avLst>
              <a:gd name="adj1" fmla="val 150500"/>
              <a:gd name="adj2" fmla="val -168032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水平投影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6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86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86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086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86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86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086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08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86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08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86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0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0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0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1086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086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086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086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500"/>
                                        <p:tgtEl>
                                          <p:spTgt spid="10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0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1" grpId="0" autoUpdateAnimBg="0"/>
      <p:bldP spid="108570" grpId="0" autoUpdateAnimBg="0"/>
      <p:bldP spid="108571" grpId="0" autoUpdateAnimBg="0"/>
      <p:bldP spid="108580" grpId="0" autoUpdateAnimBg="0"/>
      <p:bldP spid="108581" grpId="0" autoUpdateAnimBg="0"/>
      <p:bldP spid="108583" grpId="0" autoUpdateAnimBg="0"/>
      <p:bldP spid="108586" grpId="0" autoUpdateAnimBg="0"/>
      <p:bldP spid="108587" grpId="0" autoUpdateAnimBg="0"/>
      <p:bldP spid="108588" grpId="0" animBg="1"/>
      <p:bldP spid="108589" grpId="0" animBg="1"/>
      <p:bldP spid="108590" grpId="0" animBg="1"/>
      <p:bldP spid="108591" grpId="0" animBg="1"/>
      <p:bldP spid="108592" grpId="0" animBg="1"/>
      <p:bldP spid="108593" grpId="0" animBg="1"/>
      <p:bldP spid="108594" grpId="0" animBg="1"/>
      <p:bldP spid="108595" grpId="0" animBg="1"/>
      <p:bldP spid="108596" grpId="0" animBg="1"/>
      <p:bldP spid="108597" grpId="0" animBg="1" autoUpdateAnimBg="0"/>
      <p:bldP spid="108598" grpId="0" animBg="1" autoUpdateAnimBg="0"/>
      <p:bldP spid="108599" grpId="0" animBg="1" autoUpdateAnimBg="0"/>
      <p:bldP spid="108600" grpId="0" animBg="1" autoUpdateAnimBg="0"/>
      <p:bldP spid="108601" grpId="0" autoUpdateAnimBg="0"/>
      <p:bldP spid="108602" grpId="0" autoUpdateAnimBg="0"/>
      <p:bldP spid="108603" grpId="0" autoUpdateAnimBg="0"/>
      <p:bldP spid="108604" grpId="0" autoUpdateAnimBg="0"/>
      <p:bldP spid="108605" grpId="0" autoUpdateAnimBg="0"/>
      <p:bldP spid="108606" grpId="0" autoUpdateAnimBg="0"/>
      <p:bldP spid="108607" grpId="0" animBg="1"/>
      <p:bldP spid="108608" grpId="0" animBg="1"/>
      <p:bldP spid="108626" grpId="0" animBg="1"/>
      <p:bldP spid="108639" grpId="0" animBg="1" autoUpdateAnimBg="0"/>
      <p:bldP spid="108640" grpId="0" animBg="1" autoUpdateAnimBg="0"/>
      <p:bldP spid="108641" grpId="0" animBg="1" autoUpdateAnimBg="0"/>
      <p:bldP spid="108642" grpId="0" animBg="1" autoUpdateAnimBg="0"/>
      <p:bldP spid="108643" grpId="0" animBg="1" autoUpdateAnimBg="0"/>
      <p:bldP spid="108644" grpId="0" animBg="1" autoUpdateAnimBg="0"/>
      <p:bldP spid="108645" grpId="0" animBg="1" autoUpdateAnimBg="0"/>
      <p:bldP spid="108646" grpId="0" animBg="1" autoUpdateAnimBg="0"/>
      <p:bldP spid="108647" grpId="0" animBg="1" autoUpdateAnimBg="0"/>
      <p:bldP spid="108648" grpId="0" animBg="1" autoUpdateAnimBg="0"/>
      <p:bldP spid="108649" grpId="0" animBg="1" autoUpdateAnimBg="0"/>
      <p:bldP spid="108650" grpId="0" animBg="1" autoUpdateAnimBg="0"/>
      <p:bldP spid="108651" grpId="0" animBg="1"/>
      <p:bldP spid="108652" grpId="0" animBg="1"/>
      <p:bldP spid="108653" grpId="0" animBg="1"/>
      <p:bldP spid="108654" grpId="0" animBg="1" autoUpdateAnimBg="0"/>
      <p:bldP spid="108655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Freeform 12"/>
          <p:cNvSpPr>
            <a:spLocks/>
          </p:cNvSpPr>
          <p:nvPr/>
        </p:nvSpPr>
        <p:spPr bwMode="auto">
          <a:xfrm>
            <a:off x="3695700" y="100013"/>
            <a:ext cx="2592388" cy="6664325"/>
          </a:xfrm>
          <a:custGeom>
            <a:avLst/>
            <a:gdLst>
              <a:gd name="T0" fmla="*/ 0 w 1633"/>
              <a:gd name="T1" fmla="*/ 0 h 4198"/>
              <a:gd name="T2" fmla="*/ 2147483647 w 1633"/>
              <a:gd name="T3" fmla="*/ 2147483647 h 4198"/>
              <a:gd name="T4" fmla="*/ 2147483647 w 1633"/>
              <a:gd name="T5" fmla="*/ 2147483647 h 4198"/>
              <a:gd name="T6" fmla="*/ 0 60000 65536"/>
              <a:gd name="T7" fmla="*/ 0 60000 65536"/>
              <a:gd name="T8" fmla="*/ 0 60000 65536"/>
              <a:gd name="T9" fmla="*/ 0 w 1633"/>
              <a:gd name="T10" fmla="*/ 0 h 4198"/>
              <a:gd name="T11" fmla="*/ 1633 w 1633"/>
              <a:gd name="T12" fmla="*/ 4198 h 41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33" h="4198">
                <a:moveTo>
                  <a:pt x="0" y="0"/>
                </a:moveTo>
                <a:lnTo>
                  <a:pt x="1633" y="1633"/>
                </a:lnTo>
                <a:lnTo>
                  <a:pt x="1633" y="419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Freeform 13"/>
          <p:cNvSpPr>
            <a:spLocks/>
          </p:cNvSpPr>
          <p:nvPr/>
        </p:nvSpPr>
        <p:spPr bwMode="auto">
          <a:xfrm>
            <a:off x="1201738" y="2141538"/>
            <a:ext cx="7578725" cy="2568575"/>
          </a:xfrm>
          <a:custGeom>
            <a:avLst/>
            <a:gdLst>
              <a:gd name="T0" fmla="*/ 0 w 4774"/>
              <a:gd name="T1" fmla="*/ 0 h 1618"/>
              <a:gd name="T2" fmla="*/ 2147483647 w 4774"/>
              <a:gd name="T3" fmla="*/ 2147483647 h 1618"/>
              <a:gd name="T4" fmla="*/ 2147483647 w 4774"/>
              <a:gd name="T5" fmla="*/ 2147483647 h 1618"/>
              <a:gd name="T6" fmla="*/ 0 60000 65536"/>
              <a:gd name="T7" fmla="*/ 0 60000 65536"/>
              <a:gd name="T8" fmla="*/ 0 60000 65536"/>
              <a:gd name="T9" fmla="*/ 0 w 4774"/>
              <a:gd name="T10" fmla="*/ 0 h 1618"/>
              <a:gd name="T11" fmla="*/ 4774 w 4774"/>
              <a:gd name="T12" fmla="*/ 1618 h 16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4" h="1618">
                <a:moveTo>
                  <a:pt x="0" y="0"/>
                </a:moveTo>
                <a:lnTo>
                  <a:pt x="1618" y="1618"/>
                </a:lnTo>
                <a:lnTo>
                  <a:pt x="4774" y="16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Text Box 7"/>
          <p:cNvSpPr txBox="1">
            <a:spLocks noChangeArrowheads="1"/>
          </p:cNvSpPr>
          <p:nvPr/>
        </p:nvSpPr>
        <p:spPr bwMode="auto">
          <a:xfrm>
            <a:off x="3121025" y="10779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V </a:t>
            </a:r>
          </a:p>
        </p:txBody>
      </p:sp>
      <p:sp>
        <p:nvSpPr>
          <p:cNvPr id="35846" name="Text Box 26"/>
          <p:cNvSpPr txBox="1">
            <a:spLocks noChangeArrowheads="1"/>
          </p:cNvSpPr>
          <p:nvPr/>
        </p:nvSpPr>
        <p:spPr bwMode="auto">
          <a:xfrm>
            <a:off x="3186113" y="4575175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H </a:t>
            </a:r>
          </a:p>
        </p:txBody>
      </p:sp>
      <p:sp>
        <p:nvSpPr>
          <p:cNvPr id="35847" name="Text Box 39"/>
          <p:cNvSpPr txBox="1">
            <a:spLocks noChangeArrowheads="1"/>
          </p:cNvSpPr>
          <p:nvPr/>
        </p:nvSpPr>
        <p:spPr bwMode="auto">
          <a:xfrm>
            <a:off x="7589838" y="1044575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W </a:t>
            </a:r>
          </a:p>
        </p:txBody>
      </p:sp>
      <p:sp>
        <p:nvSpPr>
          <p:cNvPr id="35848" name="Freeform 16"/>
          <p:cNvSpPr>
            <a:spLocks/>
          </p:cNvSpPr>
          <p:nvPr/>
        </p:nvSpPr>
        <p:spPr bwMode="auto">
          <a:xfrm>
            <a:off x="3076575" y="1082675"/>
            <a:ext cx="5022850" cy="4057650"/>
          </a:xfrm>
          <a:custGeom>
            <a:avLst/>
            <a:gdLst>
              <a:gd name="T0" fmla="*/ 2147483647 w 3164"/>
              <a:gd name="T1" fmla="*/ 0 h 2556"/>
              <a:gd name="T2" fmla="*/ 0 w 3164"/>
              <a:gd name="T3" fmla="*/ 0 h 2556"/>
              <a:gd name="T4" fmla="*/ 0 w 3164"/>
              <a:gd name="T5" fmla="*/ 2147483647 h 2556"/>
              <a:gd name="T6" fmla="*/ 0 60000 65536"/>
              <a:gd name="T7" fmla="*/ 0 60000 65536"/>
              <a:gd name="T8" fmla="*/ 0 60000 65536"/>
              <a:gd name="T9" fmla="*/ 0 w 3164"/>
              <a:gd name="T10" fmla="*/ 0 h 2556"/>
              <a:gd name="T11" fmla="*/ 3164 w 3164"/>
              <a:gd name="T12" fmla="*/ 2556 h 25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64" h="2556">
                <a:moveTo>
                  <a:pt x="3164" y="0"/>
                </a:moveTo>
                <a:lnTo>
                  <a:pt x="0" y="0"/>
                </a:lnTo>
                <a:lnTo>
                  <a:pt x="0" y="2556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17"/>
          <p:cNvSpPr>
            <a:spLocks noChangeShapeType="1"/>
          </p:cNvSpPr>
          <p:nvPr/>
        </p:nvSpPr>
        <p:spPr bwMode="auto">
          <a:xfrm>
            <a:off x="8096250" y="1079500"/>
            <a:ext cx="0" cy="405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Line 19"/>
          <p:cNvSpPr>
            <a:spLocks noChangeShapeType="1"/>
          </p:cNvSpPr>
          <p:nvPr/>
        </p:nvSpPr>
        <p:spPr bwMode="auto">
          <a:xfrm>
            <a:off x="3070225" y="5132388"/>
            <a:ext cx="5043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Freeform 11"/>
          <p:cNvSpPr>
            <a:spLocks/>
          </p:cNvSpPr>
          <p:nvPr/>
        </p:nvSpPr>
        <p:spPr bwMode="auto">
          <a:xfrm>
            <a:off x="3103563" y="1071563"/>
            <a:ext cx="5049837" cy="4070350"/>
          </a:xfrm>
          <a:custGeom>
            <a:avLst/>
            <a:gdLst>
              <a:gd name="T0" fmla="*/ 2147483647 w 3180"/>
              <a:gd name="T1" fmla="*/ 0 h 2564"/>
              <a:gd name="T2" fmla="*/ 0 w 3180"/>
              <a:gd name="T3" fmla="*/ 0 h 2564"/>
              <a:gd name="T4" fmla="*/ 0 w 3180"/>
              <a:gd name="T5" fmla="*/ 2147483647 h 2564"/>
              <a:gd name="T6" fmla="*/ 0 60000 65536"/>
              <a:gd name="T7" fmla="*/ 0 60000 65536"/>
              <a:gd name="T8" fmla="*/ 0 60000 65536"/>
              <a:gd name="T9" fmla="*/ 0 w 3180"/>
              <a:gd name="T10" fmla="*/ 0 h 2564"/>
              <a:gd name="T11" fmla="*/ 3180 w 3180"/>
              <a:gd name="T12" fmla="*/ 2564 h 25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80" h="2564">
                <a:moveTo>
                  <a:pt x="3180" y="0"/>
                </a:moveTo>
                <a:lnTo>
                  <a:pt x="0" y="0"/>
                </a:lnTo>
                <a:lnTo>
                  <a:pt x="0" y="25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Freeform 14"/>
          <p:cNvSpPr>
            <a:spLocks/>
          </p:cNvSpPr>
          <p:nvPr/>
        </p:nvSpPr>
        <p:spPr bwMode="auto">
          <a:xfrm>
            <a:off x="3127375" y="1798638"/>
            <a:ext cx="5035550" cy="1290637"/>
          </a:xfrm>
          <a:custGeom>
            <a:avLst/>
            <a:gdLst>
              <a:gd name="T0" fmla="*/ 0 w 3172"/>
              <a:gd name="T1" fmla="*/ 0 h 813"/>
              <a:gd name="T2" fmla="*/ 2147483647 w 3172"/>
              <a:gd name="T3" fmla="*/ 0 h 813"/>
              <a:gd name="T4" fmla="*/ 2147483647 w 3172"/>
              <a:gd name="T5" fmla="*/ 2147483647 h 813"/>
              <a:gd name="T6" fmla="*/ 0 60000 65536"/>
              <a:gd name="T7" fmla="*/ 0 60000 65536"/>
              <a:gd name="T8" fmla="*/ 0 60000 65536"/>
              <a:gd name="T9" fmla="*/ 0 w 3172"/>
              <a:gd name="T10" fmla="*/ 0 h 813"/>
              <a:gd name="T11" fmla="*/ 3172 w 3172"/>
              <a:gd name="T12" fmla="*/ 813 h 8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2" h="813">
                <a:moveTo>
                  <a:pt x="0" y="0"/>
                </a:moveTo>
                <a:lnTo>
                  <a:pt x="2359" y="0"/>
                </a:lnTo>
                <a:lnTo>
                  <a:pt x="3172" y="81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107" name="Rectangle 67"/>
          <p:cNvSpPr>
            <a:spLocks noChangeArrowheads="1"/>
          </p:cNvSpPr>
          <p:nvPr/>
        </p:nvSpPr>
        <p:spPr bwMode="auto">
          <a:xfrm>
            <a:off x="2727325" y="471488"/>
            <a:ext cx="6062663" cy="53101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35854" name="Group 71"/>
          <p:cNvGrpSpPr>
            <a:grpSpLocks/>
          </p:cNvGrpSpPr>
          <p:nvPr/>
        </p:nvGrpSpPr>
        <p:grpSpPr bwMode="auto">
          <a:xfrm>
            <a:off x="2671763" y="596900"/>
            <a:ext cx="5416550" cy="4524375"/>
            <a:chOff x="1683" y="376"/>
            <a:chExt cx="3412" cy="2850"/>
          </a:xfrm>
        </p:grpSpPr>
        <p:sp>
          <p:nvSpPr>
            <p:cNvPr id="35862" name="Text Box 27"/>
            <p:cNvSpPr txBox="1">
              <a:spLocks noChangeArrowheads="1"/>
            </p:cNvSpPr>
            <p:nvPr/>
          </p:nvSpPr>
          <p:spPr bwMode="auto">
            <a:xfrm>
              <a:off x="1683" y="186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35863" name="Line 29"/>
            <p:cNvSpPr>
              <a:spLocks noChangeShapeType="1"/>
            </p:cNvSpPr>
            <p:nvPr/>
          </p:nvSpPr>
          <p:spPr bwMode="auto">
            <a:xfrm>
              <a:off x="1939" y="1965"/>
              <a:ext cx="31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4" name="Line 30"/>
            <p:cNvSpPr>
              <a:spLocks noChangeShapeType="1"/>
            </p:cNvSpPr>
            <p:nvPr/>
          </p:nvSpPr>
          <p:spPr bwMode="auto">
            <a:xfrm flipV="1">
              <a:off x="3523" y="686"/>
              <a:ext cx="0" cy="25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Text Box 36"/>
            <p:cNvSpPr txBox="1">
              <a:spLocks noChangeArrowheads="1"/>
            </p:cNvSpPr>
            <p:nvPr/>
          </p:nvSpPr>
          <p:spPr bwMode="auto">
            <a:xfrm>
              <a:off x="3394" y="376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 </a:t>
              </a:r>
            </a:p>
          </p:txBody>
        </p:sp>
        <p:sp>
          <p:nvSpPr>
            <p:cNvPr id="35866" name="Text Box 42"/>
            <p:cNvSpPr txBox="1">
              <a:spLocks noChangeArrowheads="1"/>
            </p:cNvSpPr>
            <p:nvPr/>
          </p:nvSpPr>
          <p:spPr bwMode="auto">
            <a:xfrm>
              <a:off x="3528" y="168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35867" name="Line 44"/>
            <p:cNvSpPr>
              <a:spLocks noChangeShapeType="1"/>
            </p:cNvSpPr>
            <p:nvPr/>
          </p:nvSpPr>
          <p:spPr bwMode="auto">
            <a:xfrm>
              <a:off x="2619" y="1303"/>
              <a:ext cx="0" cy="1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Line 49"/>
            <p:cNvSpPr>
              <a:spLocks noChangeShapeType="1"/>
            </p:cNvSpPr>
            <p:nvPr/>
          </p:nvSpPr>
          <p:spPr bwMode="auto">
            <a:xfrm>
              <a:off x="2613" y="1310"/>
              <a:ext cx="16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9" name="Line 51"/>
            <p:cNvSpPr>
              <a:spLocks noChangeShapeType="1"/>
            </p:cNvSpPr>
            <p:nvPr/>
          </p:nvSpPr>
          <p:spPr bwMode="auto">
            <a:xfrm>
              <a:off x="2606" y="2728"/>
              <a:ext cx="9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0" name="Line 52"/>
            <p:cNvSpPr>
              <a:spLocks noChangeShapeType="1"/>
            </p:cNvSpPr>
            <p:nvPr/>
          </p:nvSpPr>
          <p:spPr bwMode="auto">
            <a:xfrm flipV="1">
              <a:off x="4288" y="1324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1" name="AutoShape 54"/>
            <p:cNvSpPr>
              <a:spLocks noChangeArrowheads="1"/>
            </p:cNvSpPr>
            <p:nvPr/>
          </p:nvSpPr>
          <p:spPr bwMode="auto">
            <a:xfrm>
              <a:off x="2592" y="1287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5872" name="AutoShape 55"/>
            <p:cNvSpPr>
              <a:spLocks noChangeArrowheads="1"/>
            </p:cNvSpPr>
            <p:nvPr/>
          </p:nvSpPr>
          <p:spPr bwMode="auto">
            <a:xfrm>
              <a:off x="2595" y="2704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5873" name="AutoShape 56"/>
            <p:cNvSpPr>
              <a:spLocks noChangeArrowheads="1"/>
            </p:cNvSpPr>
            <p:nvPr/>
          </p:nvSpPr>
          <p:spPr bwMode="auto">
            <a:xfrm>
              <a:off x="4255" y="1283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5874" name="Text Box 57"/>
            <p:cNvSpPr txBox="1">
              <a:spLocks noChangeArrowheads="1"/>
            </p:cNvSpPr>
            <p:nvPr/>
          </p:nvSpPr>
          <p:spPr bwMode="auto">
            <a:xfrm>
              <a:off x="4256" y="113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35875" name="Text Box 58"/>
            <p:cNvSpPr txBox="1">
              <a:spLocks noChangeArrowheads="1"/>
            </p:cNvSpPr>
            <p:nvPr/>
          </p:nvSpPr>
          <p:spPr bwMode="auto">
            <a:xfrm>
              <a:off x="2397" y="264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5876" name="Text Box 59"/>
            <p:cNvSpPr txBox="1">
              <a:spLocks noChangeArrowheads="1"/>
            </p:cNvSpPr>
            <p:nvPr/>
          </p:nvSpPr>
          <p:spPr bwMode="auto">
            <a:xfrm>
              <a:off x="2306" y="1151"/>
              <a:ext cx="3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</a:p>
          </p:txBody>
        </p:sp>
        <p:sp>
          <p:nvSpPr>
            <p:cNvPr id="35877" name="Text Box 60"/>
            <p:cNvSpPr txBox="1">
              <a:spLocks noChangeArrowheads="1"/>
            </p:cNvSpPr>
            <p:nvPr/>
          </p:nvSpPr>
          <p:spPr bwMode="auto">
            <a:xfrm>
              <a:off x="2343" y="1683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 </a:t>
              </a:r>
            </a:p>
          </p:txBody>
        </p:sp>
        <p:sp>
          <p:nvSpPr>
            <p:cNvPr id="35878" name="Text Box 61"/>
            <p:cNvSpPr txBox="1">
              <a:spLocks noChangeArrowheads="1"/>
            </p:cNvSpPr>
            <p:nvPr/>
          </p:nvSpPr>
          <p:spPr bwMode="auto">
            <a:xfrm>
              <a:off x="4313" y="1703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 </a:t>
              </a:r>
            </a:p>
          </p:txBody>
        </p:sp>
        <p:sp>
          <p:nvSpPr>
            <p:cNvPr id="35879" name="Text Box 62"/>
            <p:cNvSpPr txBox="1">
              <a:spLocks noChangeArrowheads="1"/>
            </p:cNvSpPr>
            <p:nvPr/>
          </p:nvSpPr>
          <p:spPr bwMode="auto">
            <a:xfrm>
              <a:off x="3520" y="1064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 </a:t>
              </a:r>
            </a:p>
          </p:txBody>
        </p:sp>
      </p:grpSp>
      <p:sp>
        <p:nvSpPr>
          <p:cNvPr id="35855" name="Text Box 37"/>
          <p:cNvSpPr txBox="1">
            <a:spLocks noChangeArrowheads="1"/>
          </p:cNvSpPr>
          <p:nvPr/>
        </p:nvSpPr>
        <p:spPr bwMode="auto">
          <a:xfrm>
            <a:off x="5373688" y="5053013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H</a:t>
            </a:r>
            <a:r>
              <a:rPr lang="en-US" altLang="zh-CN" sz="2400" i="1">
                <a:latin typeface="ISOCPEUR" pitchFamily="34" charset="0"/>
              </a:rPr>
              <a:t> </a:t>
            </a:r>
          </a:p>
        </p:txBody>
      </p:sp>
      <p:sp>
        <p:nvSpPr>
          <p:cNvPr id="35856" name="Text Box 65"/>
          <p:cNvSpPr txBox="1">
            <a:spLocks noChangeArrowheads="1"/>
          </p:cNvSpPr>
          <p:nvPr/>
        </p:nvSpPr>
        <p:spPr bwMode="auto">
          <a:xfrm>
            <a:off x="7977188" y="2940050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W </a:t>
            </a:r>
          </a:p>
        </p:txBody>
      </p:sp>
      <p:sp>
        <p:nvSpPr>
          <p:cNvPr id="87109" name="Text Box 69"/>
          <p:cNvSpPr txBox="1">
            <a:spLocks noChangeArrowheads="1"/>
          </p:cNvSpPr>
          <p:nvPr/>
        </p:nvSpPr>
        <p:spPr bwMode="auto">
          <a:xfrm>
            <a:off x="341313" y="3416300"/>
            <a:ext cx="88026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最后擦去边框，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这样的图就是投影图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35858" name="Text Box 68"/>
          <p:cNvSpPr txBox="1">
            <a:spLocks noChangeArrowheads="1"/>
          </p:cNvSpPr>
          <p:nvPr/>
        </p:nvSpPr>
        <p:spPr bwMode="auto">
          <a:xfrm>
            <a:off x="341313" y="612775"/>
            <a:ext cx="8802687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②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直观图展平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  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面与画面重合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面绕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OX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轴向下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旋转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90°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面绕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OZ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轴向右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旋转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90°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113" name="Text Box 73"/>
          <p:cNvSpPr txBox="1">
            <a:spLocks noChangeArrowheads="1"/>
          </p:cNvSpPr>
          <p:nvPr/>
        </p:nvSpPr>
        <p:spPr bwMode="auto">
          <a:xfrm>
            <a:off x="5151438" y="3905250"/>
            <a:ext cx="403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</a:p>
        </p:txBody>
      </p:sp>
      <p:sp>
        <p:nvSpPr>
          <p:cNvPr id="87114" name="Text Box 74"/>
          <p:cNvSpPr txBox="1">
            <a:spLocks noChangeArrowheads="1"/>
          </p:cNvSpPr>
          <p:nvPr/>
        </p:nvSpPr>
        <p:spPr bwMode="auto">
          <a:xfrm>
            <a:off x="7080250" y="2808288"/>
            <a:ext cx="287338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 baseline="-40000">
                <a:latin typeface="ISOCPEUR" pitchFamily="34" charset="0"/>
                <a:ea typeface="仿宋_GB2312" pitchFamily="49" charset="-122"/>
              </a:rPr>
              <a:t>W</a:t>
            </a:r>
          </a:p>
        </p:txBody>
      </p:sp>
      <p:sp>
        <p:nvSpPr>
          <p:cNvPr id="87115" name="Text Box 75"/>
          <p:cNvSpPr txBox="1">
            <a:spLocks noChangeArrowheads="1"/>
          </p:cNvSpPr>
          <p:nvPr/>
        </p:nvSpPr>
        <p:spPr bwMode="auto">
          <a:xfrm>
            <a:off x="5380038" y="4022725"/>
            <a:ext cx="25876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i="1" baseline="-40000">
                <a:latin typeface="ISOCPEUR" pitchFamily="34" charset="0"/>
                <a:ea typeface="仿宋_GB2312" pitchFamily="49" charset="-122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07" grpId="0" animBg="1"/>
      <p:bldP spid="87109" grpId="0" autoUpdateAnimBg="0"/>
      <p:bldP spid="87113" grpId="0"/>
      <p:bldP spid="87114" grpId="0"/>
      <p:bldP spid="871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．投影特性：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341313" y="2224088"/>
            <a:ext cx="88026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②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a’a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x</a:t>
            </a:r>
            <a:r>
              <a:rPr lang="en-US" altLang="zh-CN" sz="2400" baseline="-25000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点与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H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的距离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x</a:t>
            </a:r>
            <a:r>
              <a:rPr lang="en-US" altLang="zh-CN" sz="2400" i="1" baseline="-25000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 Aa’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点与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V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的距离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latin typeface="Txt" pitchFamily="2" charset="0"/>
                <a:ea typeface="黑体" pitchFamily="2" charset="-122"/>
              </a:rPr>
              <a:t> 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a’a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z</a:t>
            </a:r>
            <a:r>
              <a:rPr lang="en-US" altLang="zh-CN" sz="2400" i="1" baseline="-25000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 Aa”</a:t>
            </a:r>
            <a:endParaRPr lang="en-US" altLang="zh-CN" sz="2400" dirty="0">
              <a:latin typeface="ISOCPEUR" pitchFamily="34" charset="0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(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点与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W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的距离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341313" y="4805363"/>
            <a:ext cx="880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③ 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x</a:t>
            </a:r>
            <a:r>
              <a:rPr lang="en-US" altLang="zh-CN" sz="2400" dirty="0">
                <a:latin typeface="ISOCPEUR" pitchFamily="34" charset="0"/>
                <a:ea typeface="黑体" pitchFamily="2" charset="-122"/>
              </a:rPr>
              <a:t>=</a:t>
            </a:r>
            <a:r>
              <a:rPr lang="en-US" altLang="zh-CN" sz="2400" i="1" dirty="0" err="1">
                <a:latin typeface="ISOCPEUR" pitchFamily="34" charset="0"/>
                <a:ea typeface="黑体" pitchFamily="2" charset="-122"/>
              </a:rPr>
              <a:t>a”a</a:t>
            </a:r>
            <a:r>
              <a:rPr lang="en-US" altLang="zh-CN" sz="2400" i="1" baseline="-25000" dirty="0" err="1">
                <a:latin typeface="ISOCPEUR" pitchFamily="34" charset="0"/>
                <a:ea typeface="黑体" pitchFamily="2" charset="-122"/>
              </a:rPr>
              <a:t>z</a:t>
            </a:r>
            <a:endParaRPr lang="en-US" altLang="zh-CN" sz="2400" i="1" dirty="0">
              <a:latin typeface="ISOCPEUR" pitchFamily="34" charset="0"/>
              <a:ea typeface="黑体" pitchFamily="2" charset="-122"/>
            </a:endParaRPr>
          </a:p>
        </p:txBody>
      </p:sp>
      <p:grpSp>
        <p:nvGrpSpPr>
          <p:cNvPr id="36870" name="Group 6"/>
          <p:cNvGrpSpPr>
            <a:grpSpLocks/>
          </p:cNvGrpSpPr>
          <p:nvPr/>
        </p:nvGrpSpPr>
        <p:grpSpPr bwMode="auto">
          <a:xfrm>
            <a:off x="2671763" y="596900"/>
            <a:ext cx="5416550" cy="4524375"/>
            <a:chOff x="1683" y="376"/>
            <a:chExt cx="3412" cy="2850"/>
          </a:xfrm>
        </p:grpSpPr>
        <p:sp>
          <p:nvSpPr>
            <p:cNvPr id="36875" name="Text Box 7"/>
            <p:cNvSpPr txBox="1">
              <a:spLocks noChangeArrowheads="1"/>
            </p:cNvSpPr>
            <p:nvPr/>
          </p:nvSpPr>
          <p:spPr bwMode="auto">
            <a:xfrm>
              <a:off x="1683" y="186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36876" name="Line 8"/>
            <p:cNvSpPr>
              <a:spLocks noChangeShapeType="1"/>
            </p:cNvSpPr>
            <p:nvPr/>
          </p:nvSpPr>
          <p:spPr bwMode="auto">
            <a:xfrm>
              <a:off x="1939" y="1965"/>
              <a:ext cx="31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7" name="Line 9"/>
            <p:cNvSpPr>
              <a:spLocks noChangeShapeType="1"/>
            </p:cNvSpPr>
            <p:nvPr/>
          </p:nvSpPr>
          <p:spPr bwMode="auto">
            <a:xfrm flipV="1">
              <a:off x="3523" y="686"/>
              <a:ext cx="0" cy="25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8" name="Text Box 10"/>
            <p:cNvSpPr txBox="1">
              <a:spLocks noChangeArrowheads="1"/>
            </p:cNvSpPr>
            <p:nvPr/>
          </p:nvSpPr>
          <p:spPr bwMode="auto">
            <a:xfrm>
              <a:off x="3394" y="376"/>
              <a:ext cx="3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 </a:t>
              </a:r>
            </a:p>
          </p:txBody>
        </p:sp>
        <p:sp>
          <p:nvSpPr>
            <p:cNvPr id="36879" name="Text Box 11"/>
            <p:cNvSpPr txBox="1">
              <a:spLocks noChangeArrowheads="1"/>
            </p:cNvSpPr>
            <p:nvPr/>
          </p:nvSpPr>
          <p:spPr bwMode="auto">
            <a:xfrm>
              <a:off x="3528" y="168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36880" name="Line 12"/>
            <p:cNvSpPr>
              <a:spLocks noChangeShapeType="1"/>
            </p:cNvSpPr>
            <p:nvPr/>
          </p:nvSpPr>
          <p:spPr bwMode="auto">
            <a:xfrm>
              <a:off x="2619" y="1303"/>
              <a:ext cx="0" cy="1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>
              <a:off x="2613" y="1310"/>
              <a:ext cx="16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2" name="Line 14"/>
            <p:cNvSpPr>
              <a:spLocks noChangeShapeType="1"/>
            </p:cNvSpPr>
            <p:nvPr/>
          </p:nvSpPr>
          <p:spPr bwMode="auto">
            <a:xfrm>
              <a:off x="2606" y="2728"/>
              <a:ext cx="9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Line 15"/>
            <p:cNvSpPr>
              <a:spLocks noChangeShapeType="1"/>
            </p:cNvSpPr>
            <p:nvPr/>
          </p:nvSpPr>
          <p:spPr bwMode="auto">
            <a:xfrm flipV="1">
              <a:off x="4288" y="1324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4" name="AutoShape 16"/>
            <p:cNvSpPr>
              <a:spLocks noChangeArrowheads="1"/>
            </p:cNvSpPr>
            <p:nvPr/>
          </p:nvSpPr>
          <p:spPr bwMode="auto">
            <a:xfrm>
              <a:off x="2592" y="1287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6885" name="AutoShape 17"/>
            <p:cNvSpPr>
              <a:spLocks noChangeArrowheads="1"/>
            </p:cNvSpPr>
            <p:nvPr/>
          </p:nvSpPr>
          <p:spPr bwMode="auto">
            <a:xfrm>
              <a:off x="2595" y="2704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6886" name="AutoShape 18"/>
            <p:cNvSpPr>
              <a:spLocks noChangeArrowheads="1"/>
            </p:cNvSpPr>
            <p:nvPr/>
          </p:nvSpPr>
          <p:spPr bwMode="auto">
            <a:xfrm>
              <a:off x="4255" y="1283"/>
              <a:ext cx="47" cy="47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6887" name="Text Box 19"/>
            <p:cNvSpPr txBox="1">
              <a:spLocks noChangeArrowheads="1"/>
            </p:cNvSpPr>
            <p:nvPr/>
          </p:nvSpPr>
          <p:spPr bwMode="auto">
            <a:xfrm>
              <a:off x="4256" y="113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36888" name="Text Box 20"/>
            <p:cNvSpPr txBox="1">
              <a:spLocks noChangeArrowheads="1"/>
            </p:cNvSpPr>
            <p:nvPr/>
          </p:nvSpPr>
          <p:spPr bwMode="auto">
            <a:xfrm>
              <a:off x="2397" y="264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6889" name="Text Box 21"/>
            <p:cNvSpPr txBox="1">
              <a:spLocks noChangeArrowheads="1"/>
            </p:cNvSpPr>
            <p:nvPr/>
          </p:nvSpPr>
          <p:spPr bwMode="auto">
            <a:xfrm>
              <a:off x="2306" y="1151"/>
              <a:ext cx="3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</a:p>
          </p:txBody>
        </p:sp>
        <p:sp>
          <p:nvSpPr>
            <p:cNvPr id="36890" name="Text Box 22"/>
            <p:cNvSpPr txBox="1">
              <a:spLocks noChangeArrowheads="1"/>
            </p:cNvSpPr>
            <p:nvPr/>
          </p:nvSpPr>
          <p:spPr bwMode="auto">
            <a:xfrm>
              <a:off x="2343" y="1683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 </a:t>
              </a:r>
            </a:p>
          </p:txBody>
        </p:sp>
        <p:sp>
          <p:nvSpPr>
            <p:cNvPr id="36891" name="Text Box 23"/>
            <p:cNvSpPr txBox="1">
              <a:spLocks noChangeArrowheads="1"/>
            </p:cNvSpPr>
            <p:nvPr/>
          </p:nvSpPr>
          <p:spPr bwMode="auto">
            <a:xfrm>
              <a:off x="4275" y="1703"/>
              <a:ext cx="3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</a:t>
              </a:r>
              <a:r>
                <a:rPr lang="en-US" altLang="zh-CN" sz="2000" i="1" baseline="-40000">
                  <a:latin typeface="ISOCPEUR" pitchFamily="34" charset="0"/>
                  <a:ea typeface="仿宋_GB2312" pitchFamily="49" charset="-122"/>
                </a:rPr>
                <a:t>W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 </a:t>
              </a:r>
            </a:p>
          </p:txBody>
        </p:sp>
        <p:sp>
          <p:nvSpPr>
            <p:cNvPr id="36892" name="Text Box 24"/>
            <p:cNvSpPr txBox="1">
              <a:spLocks noChangeArrowheads="1"/>
            </p:cNvSpPr>
            <p:nvPr/>
          </p:nvSpPr>
          <p:spPr bwMode="auto">
            <a:xfrm>
              <a:off x="3520" y="1064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 </a:t>
              </a:r>
            </a:p>
          </p:txBody>
        </p:sp>
      </p:grpSp>
      <p:sp>
        <p:nvSpPr>
          <p:cNvPr id="36871" name="Text Box 25"/>
          <p:cNvSpPr txBox="1">
            <a:spLocks noChangeArrowheads="1"/>
          </p:cNvSpPr>
          <p:nvPr/>
        </p:nvSpPr>
        <p:spPr bwMode="auto">
          <a:xfrm>
            <a:off x="5373688" y="5053013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H</a:t>
            </a:r>
            <a:r>
              <a:rPr lang="en-US" altLang="zh-CN" sz="2400" i="1">
                <a:latin typeface="ISOCPEUR" pitchFamily="34" charset="0"/>
              </a:rPr>
              <a:t> </a:t>
            </a:r>
          </a:p>
        </p:txBody>
      </p:sp>
      <p:sp>
        <p:nvSpPr>
          <p:cNvPr id="36872" name="Text Box 26"/>
          <p:cNvSpPr txBox="1">
            <a:spLocks noChangeArrowheads="1"/>
          </p:cNvSpPr>
          <p:nvPr/>
        </p:nvSpPr>
        <p:spPr bwMode="auto">
          <a:xfrm>
            <a:off x="7977188" y="2940050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1600" i="1">
                <a:latin typeface="ISOCPEUR" pitchFamily="34" charset="0"/>
              </a:rPr>
              <a:t>W </a:t>
            </a:r>
          </a:p>
        </p:txBody>
      </p:sp>
      <p:sp>
        <p:nvSpPr>
          <p:cNvPr id="88091" name="Text Box 27"/>
          <p:cNvSpPr txBox="1">
            <a:spLocks noChangeArrowheads="1"/>
          </p:cNvSpPr>
          <p:nvPr/>
        </p:nvSpPr>
        <p:spPr bwMode="auto">
          <a:xfrm>
            <a:off x="341313" y="1371600"/>
            <a:ext cx="880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①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a’a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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  <a:sym typeface="Symbol" pitchFamily="18" charset="2"/>
              </a:rPr>
              <a:t>OX</a:t>
            </a:r>
            <a:r>
              <a:rPr lang="zh-CN" altLang="en-US" sz="2400" i="1" dirty="0">
                <a:latin typeface="黑体" pitchFamily="2" charset="-122"/>
                <a:ea typeface="黑体" pitchFamily="2" charset="-122"/>
                <a:sym typeface="Symbol" pitchFamily="18" charset="2"/>
              </a:rPr>
              <a:t>， 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</a:rPr>
              <a:t>a’a”</a:t>
            </a:r>
            <a:r>
              <a:rPr lang="en-US" altLang="zh-CN" sz="2400" dirty="0">
                <a:latin typeface="ISOCPEUR" pitchFamily="34" charset="0"/>
                <a:ea typeface="黑体" pitchFamily="2" charset="-122"/>
                <a:sym typeface="Symbol" pitchFamily="18" charset="2"/>
              </a:rPr>
              <a:t></a:t>
            </a:r>
            <a:r>
              <a:rPr lang="en-US" altLang="zh-CN" sz="2400" i="1" dirty="0">
                <a:latin typeface="ISOCPEUR" pitchFamily="34" charset="0"/>
                <a:ea typeface="黑体" pitchFamily="2" charset="-122"/>
                <a:sym typeface="Symbol" pitchFamily="18" charset="2"/>
              </a:rPr>
              <a:t> OZ </a:t>
            </a:r>
            <a:r>
              <a:rPr lang="en-US" altLang="zh-CN" sz="2400" i="1" dirty="0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36874" name="Text Box 31"/>
          <p:cNvSpPr txBox="1">
            <a:spLocks noChangeArrowheads="1"/>
          </p:cNvSpPr>
          <p:nvPr/>
        </p:nvSpPr>
        <p:spPr bwMode="auto">
          <a:xfrm>
            <a:off x="5114925" y="3894138"/>
            <a:ext cx="55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  <a:r>
              <a:rPr lang="en-US" altLang="zh-CN" sz="2000" i="1" baseline="-40000">
                <a:latin typeface="ISOCPEUR" pitchFamily="34" charset="0"/>
                <a:ea typeface="仿宋_GB2312" pitchFamily="49" charset="-122"/>
              </a:rPr>
              <a:t>H </a:t>
            </a:r>
          </a:p>
        </p:txBody>
      </p:sp>
      <p:sp>
        <p:nvSpPr>
          <p:cNvPr id="29" name="Text Box 14"/>
          <p:cNvSpPr txBox="1">
            <a:spLocks noChangeArrowheads="1"/>
          </p:cNvSpPr>
          <p:nvPr/>
        </p:nvSpPr>
        <p:spPr bwMode="auto">
          <a:xfrm>
            <a:off x="617569" y="5417053"/>
            <a:ext cx="48154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思考： （</a:t>
            </a:r>
            <a:r>
              <a:rPr lang="en-US" altLang="zh-CN" sz="2800" i="1" dirty="0">
                <a:latin typeface="ISOCPEUR" pitchFamily="34" charset="0"/>
                <a:ea typeface="黑体" pitchFamily="2" charset="-122"/>
              </a:rPr>
              <a:t>a/a’ /a”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800" i="1" dirty="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→</a:t>
            </a:r>
            <a:r>
              <a:rPr lang="en-US" altLang="zh-CN" sz="2800" i="1" dirty="0">
                <a:latin typeface="黑体" pitchFamily="2" charset="-122"/>
                <a:ea typeface="黑体" pitchFamily="2" charset="-122"/>
              </a:rPr>
              <a:t>A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？</a:t>
            </a:r>
          </a:p>
        </p:txBody>
      </p:sp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634606" y="5924467"/>
            <a:ext cx="70355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结论：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任意两个投影可唯一确定一点的空间位置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  <p:bldP spid="88068" grpId="0" autoUpdateAnimBg="0"/>
      <p:bldP spid="88091" grpId="0" autoUpdateAnimBg="0"/>
      <p:bldP spid="29" grpId="0" autoUpdateAnimBg="0"/>
      <p:bldP spid="3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204788" y="120650"/>
            <a:ext cx="8939212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5.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点的二求三</a:t>
            </a: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已知点的两个投影，可利用点的三面投影特性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求其第三个投影。 </a:t>
            </a:r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3830638" y="2384425"/>
            <a:ext cx="2655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3819525" y="4635500"/>
            <a:ext cx="1452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 flipV="1">
            <a:off x="6480175" y="2406650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03" name="AutoShape 15"/>
          <p:cNvSpPr>
            <a:spLocks noChangeArrowheads="1"/>
          </p:cNvSpPr>
          <p:nvPr/>
        </p:nvSpPr>
        <p:spPr bwMode="auto">
          <a:xfrm>
            <a:off x="6442075" y="2351088"/>
            <a:ext cx="74613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6438900" y="2109788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89115" name="Arc 27"/>
          <p:cNvSpPr>
            <a:spLocks/>
          </p:cNvSpPr>
          <p:nvPr/>
        </p:nvSpPr>
        <p:spPr bwMode="auto">
          <a:xfrm flipV="1">
            <a:off x="5273675" y="3429000"/>
            <a:ext cx="1204913" cy="120491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6" name="Rectangle 28"/>
          <p:cNvSpPr>
            <a:spLocks noChangeArrowheads="1"/>
          </p:cNvSpPr>
          <p:nvPr/>
        </p:nvSpPr>
        <p:spPr bwMode="auto">
          <a:xfrm>
            <a:off x="3643313" y="1763713"/>
            <a:ext cx="3459162" cy="37068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37899" name="Group 29"/>
          <p:cNvGrpSpPr>
            <a:grpSpLocks/>
          </p:cNvGrpSpPr>
          <p:nvPr/>
        </p:nvGrpSpPr>
        <p:grpSpPr bwMode="auto">
          <a:xfrm>
            <a:off x="2354263" y="1181100"/>
            <a:ext cx="5902325" cy="4633913"/>
            <a:chOff x="1483" y="744"/>
            <a:chExt cx="3718" cy="2919"/>
          </a:xfrm>
        </p:grpSpPr>
        <p:sp>
          <p:nvSpPr>
            <p:cNvPr id="37908" name="Line 6"/>
            <p:cNvSpPr>
              <a:spLocks noChangeShapeType="1"/>
            </p:cNvSpPr>
            <p:nvPr/>
          </p:nvSpPr>
          <p:spPr bwMode="auto">
            <a:xfrm flipV="1">
              <a:off x="3323" y="890"/>
              <a:ext cx="0" cy="25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09" name="Group 26"/>
            <p:cNvGrpSpPr>
              <a:grpSpLocks/>
            </p:cNvGrpSpPr>
            <p:nvPr/>
          </p:nvGrpSpPr>
          <p:grpSpPr bwMode="auto">
            <a:xfrm>
              <a:off x="1483" y="744"/>
              <a:ext cx="3718" cy="2919"/>
              <a:chOff x="1483" y="744"/>
              <a:chExt cx="3718" cy="2919"/>
            </a:xfrm>
          </p:grpSpPr>
          <p:sp>
            <p:nvSpPr>
              <p:cNvPr id="37910" name="Line 5"/>
              <p:cNvSpPr>
                <a:spLocks noChangeShapeType="1"/>
              </p:cNvSpPr>
              <p:nvPr/>
            </p:nvSpPr>
            <p:spPr bwMode="auto">
              <a:xfrm>
                <a:off x="1739" y="2157"/>
                <a:ext cx="31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1" name="Text Box 8"/>
              <p:cNvSpPr txBox="1">
                <a:spLocks noChangeArrowheads="1"/>
              </p:cNvSpPr>
              <p:nvPr/>
            </p:nvSpPr>
            <p:spPr bwMode="auto">
              <a:xfrm>
                <a:off x="3328" y="1875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 </a:t>
                </a:r>
              </a:p>
            </p:txBody>
          </p:sp>
          <p:sp>
            <p:nvSpPr>
              <p:cNvPr id="37912" name="Text Box 4"/>
              <p:cNvSpPr txBox="1">
                <a:spLocks noChangeArrowheads="1"/>
              </p:cNvSpPr>
              <p:nvPr/>
            </p:nvSpPr>
            <p:spPr bwMode="auto">
              <a:xfrm>
                <a:off x="1483" y="2052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 </a:t>
                </a:r>
              </a:p>
            </p:txBody>
          </p:sp>
          <p:sp>
            <p:nvSpPr>
              <p:cNvPr id="37913" name="Text Box 7"/>
              <p:cNvSpPr txBox="1">
                <a:spLocks noChangeArrowheads="1"/>
              </p:cNvSpPr>
              <p:nvPr/>
            </p:nvSpPr>
            <p:spPr bwMode="auto">
              <a:xfrm>
                <a:off x="3234" y="744"/>
                <a:ext cx="3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Z  </a:t>
                </a:r>
              </a:p>
            </p:txBody>
          </p:sp>
          <p:sp>
            <p:nvSpPr>
              <p:cNvPr id="37914" name="Line 9"/>
              <p:cNvSpPr>
                <a:spLocks noChangeShapeType="1"/>
              </p:cNvSpPr>
              <p:nvPr/>
            </p:nvSpPr>
            <p:spPr bwMode="auto">
              <a:xfrm>
                <a:off x="2419" y="1495"/>
                <a:ext cx="0" cy="1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5" name="AutoShape 13"/>
              <p:cNvSpPr>
                <a:spLocks noChangeArrowheads="1"/>
              </p:cNvSpPr>
              <p:nvPr/>
            </p:nvSpPr>
            <p:spPr bwMode="auto">
              <a:xfrm>
                <a:off x="2392" y="1479"/>
                <a:ext cx="47" cy="47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37916" name="AutoShape 14"/>
              <p:cNvSpPr>
                <a:spLocks noChangeArrowheads="1"/>
              </p:cNvSpPr>
              <p:nvPr/>
            </p:nvSpPr>
            <p:spPr bwMode="auto">
              <a:xfrm>
                <a:off x="2395" y="2896"/>
                <a:ext cx="47" cy="47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37917" name="Text Box 17"/>
              <p:cNvSpPr txBox="1">
                <a:spLocks noChangeArrowheads="1"/>
              </p:cNvSpPr>
              <p:nvPr/>
            </p:nvSpPr>
            <p:spPr bwMode="auto">
              <a:xfrm>
                <a:off x="2197" y="2832"/>
                <a:ext cx="19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</a:t>
                </a:r>
                <a:endParaRPr lang="en-US" altLang="zh-CN" sz="2000" i="1">
                  <a:solidFill>
                    <a:srgbClr val="CCFF33"/>
                  </a:solidFill>
                  <a:latin typeface="ISOCPEUR" pitchFamily="34" charset="0"/>
                  <a:ea typeface="仿宋_GB2312" pitchFamily="49" charset="-122"/>
                </a:endParaRPr>
              </a:p>
            </p:txBody>
          </p:sp>
          <p:sp>
            <p:nvSpPr>
              <p:cNvPr id="37918" name="Text Box 18"/>
              <p:cNvSpPr txBox="1">
                <a:spLocks noChangeArrowheads="1"/>
              </p:cNvSpPr>
              <p:nvPr/>
            </p:nvSpPr>
            <p:spPr bwMode="auto">
              <a:xfrm>
                <a:off x="2106" y="1343"/>
                <a:ext cx="3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a'</a:t>
                </a:r>
              </a:p>
            </p:txBody>
          </p:sp>
          <p:sp>
            <p:nvSpPr>
              <p:cNvPr id="37919" name="Text Box 19"/>
              <p:cNvSpPr txBox="1">
                <a:spLocks noChangeArrowheads="1"/>
              </p:cNvSpPr>
              <p:nvPr/>
            </p:nvSpPr>
            <p:spPr bwMode="auto">
              <a:xfrm>
                <a:off x="2194" y="1875"/>
                <a:ext cx="1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 </a:t>
                </a:r>
                <a:endParaRPr lang="en-US" altLang="zh-CN" sz="2000" i="1" baseline="-25000">
                  <a:latin typeface="ISOCPEUR" pitchFamily="34" charset="0"/>
                  <a:ea typeface="仿宋_GB2312" pitchFamily="49" charset="-122"/>
                </a:endParaRPr>
              </a:p>
            </p:txBody>
          </p:sp>
          <p:sp>
            <p:nvSpPr>
              <p:cNvPr id="37920" name="Text Box 22"/>
              <p:cNvSpPr txBox="1">
                <a:spLocks noChangeArrowheads="1"/>
              </p:cNvSpPr>
              <p:nvPr/>
            </p:nvSpPr>
            <p:spPr bwMode="auto">
              <a:xfrm>
                <a:off x="3185" y="3375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Y</a:t>
                </a:r>
                <a:r>
                  <a:rPr lang="en-US" altLang="zh-CN" sz="1600" i="1">
                    <a:latin typeface="ISOCPEUR" pitchFamily="34" charset="0"/>
                  </a:rPr>
                  <a:t>H</a:t>
                </a:r>
                <a:r>
                  <a:rPr lang="en-US" altLang="zh-CN" sz="2400" i="1">
                    <a:latin typeface="ISOCPEUR" pitchFamily="34" charset="0"/>
                  </a:rPr>
                  <a:t> </a:t>
                </a:r>
              </a:p>
            </p:txBody>
          </p:sp>
          <p:sp>
            <p:nvSpPr>
              <p:cNvPr id="37921" name="Text Box 23"/>
              <p:cNvSpPr txBox="1">
                <a:spLocks noChangeArrowheads="1"/>
              </p:cNvSpPr>
              <p:nvPr/>
            </p:nvSpPr>
            <p:spPr bwMode="auto">
              <a:xfrm>
                <a:off x="4825" y="2044"/>
                <a:ext cx="3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Y</a:t>
                </a:r>
                <a:r>
                  <a:rPr lang="en-US" altLang="zh-CN" sz="1600" i="1">
                    <a:latin typeface="ISOCPEUR" pitchFamily="34" charset="0"/>
                  </a:rPr>
                  <a:t>W </a:t>
                </a:r>
              </a:p>
            </p:txBody>
          </p:sp>
        </p:grpSp>
      </p:grpSp>
      <p:sp>
        <p:nvSpPr>
          <p:cNvPr id="89118" name="Line 30"/>
          <p:cNvSpPr>
            <a:spLocks noChangeShapeType="1"/>
          </p:cNvSpPr>
          <p:nvPr/>
        </p:nvSpPr>
        <p:spPr bwMode="auto">
          <a:xfrm>
            <a:off x="3875088" y="2384425"/>
            <a:ext cx="261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9" name="Line 31"/>
          <p:cNvSpPr>
            <a:spLocks noChangeShapeType="1"/>
          </p:cNvSpPr>
          <p:nvPr/>
        </p:nvSpPr>
        <p:spPr bwMode="auto">
          <a:xfrm>
            <a:off x="3870325" y="4635500"/>
            <a:ext cx="1406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0" name="Line 32"/>
          <p:cNvSpPr>
            <a:spLocks noChangeShapeType="1"/>
          </p:cNvSpPr>
          <p:nvPr/>
        </p:nvSpPr>
        <p:spPr bwMode="auto">
          <a:xfrm>
            <a:off x="5276850" y="3429000"/>
            <a:ext cx="16764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1" name="Line 33"/>
          <p:cNvSpPr>
            <a:spLocks noChangeShapeType="1"/>
          </p:cNvSpPr>
          <p:nvPr/>
        </p:nvSpPr>
        <p:spPr bwMode="auto">
          <a:xfrm>
            <a:off x="5264150" y="4635500"/>
            <a:ext cx="1203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2" name="Line 34"/>
          <p:cNvSpPr>
            <a:spLocks noChangeShapeType="1"/>
          </p:cNvSpPr>
          <p:nvPr/>
        </p:nvSpPr>
        <p:spPr bwMode="auto">
          <a:xfrm flipV="1">
            <a:off x="6483350" y="3429000"/>
            <a:ext cx="0" cy="120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3" name="Line 35"/>
          <p:cNvSpPr>
            <a:spLocks noChangeShapeType="1"/>
          </p:cNvSpPr>
          <p:nvPr/>
        </p:nvSpPr>
        <p:spPr bwMode="auto">
          <a:xfrm flipV="1">
            <a:off x="6483350" y="2386013"/>
            <a:ext cx="0" cy="1231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4" name="AutoShape 36"/>
          <p:cNvSpPr>
            <a:spLocks noChangeArrowheads="1"/>
          </p:cNvSpPr>
          <p:nvPr/>
        </p:nvSpPr>
        <p:spPr bwMode="auto">
          <a:xfrm>
            <a:off x="6443663" y="2354263"/>
            <a:ext cx="74612" cy="74612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89125" name="Text Box 37"/>
          <p:cNvSpPr txBox="1">
            <a:spLocks noChangeArrowheads="1"/>
          </p:cNvSpPr>
          <p:nvPr/>
        </p:nvSpPr>
        <p:spPr bwMode="auto">
          <a:xfrm>
            <a:off x="6440488" y="2112963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8" grpId="0" animBg="1"/>
      <p:bldP spid="89099" grpId="0" animBg="1"/>
      <p:bldP spid="89100" grpId="0" animBg="1"/>
      <p:bldP spid="89103" grpId="0" animBg="1" autoUpdateAnimBg="0"/>
      <p:bldP spid="89104" grpId="0" autoUpdateAnimBg="0"/>
      <p:bldP spid="89115" grpId="0" animBg="1"/>
      <p:bldP spid="89116" grpId="0" animBg="1"/>
      <p:bldP spid="89118" grpId="0" animBg="1"/>
      <p:bldP spid="89119" grpId="0" animBg="1"/>
      <p:bldP spid="89120" grpId="0" animBg="1"/>
      <p:bldP spid="89121" grpId="0" animBg="1"/>
      <p:bldP spid="89122" grpId="0" animBg="1"/>
      <p:bldP spid="89123" grpId="0" animBg="1"/>
      <p:bldP spid="89124" grpId="0" animBg="1" autoUpdateAnimBg="0"/>
      <p:bldP spid="8912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二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点的坐标与投影的关系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0" y="1125538"/>
            <a:ext cx="51689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如果将投影轴当作坐标轴，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将投影面当作坐标面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即可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用坐标法确定点的位置。</a:t>
            </a:r>
          </a:p>
        </p:txBody>
      </p:sp>
      <p:sp>
        <p:nvSpPr>
          <p:cNvPr id="38917" name="AutoShape 5"/>
          <p:cNvSpPr>
            <a:spLocks noChangeArrowheads="1"/>
          </p:cNvSpPr>
          <p:nvPr/>
        </p:nvSpPr>
        <p:spPr bwMode="auto">
          <a:xfrm>
            <a:off x="5686425" y="4090988"/>
            <a:ext cx="68263" cy="68262"/>
          </a:xfrm>
          <a:prstGeom prst="flowChartConnector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5699125" y="384492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000" i="1">
              <a:solidFill>
                <a:srgbClr val="CCFF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5686425" y="3927475"/>
            <a:ext cx="68263" cy="69850"/>
          </a:xfrm>
          <a:prstGeom prst="flowChartConnector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38920" name="Text Box 9"/>
          <p:cNvSpPr txBox="1">
            <a:spLocks noChangeArrowheads="1"/>
          </p:cNvSpPr>
          <p:nvPr/>
        </p:nvSpPr>
        <p:spPr bwMode="auto">
          <a:xfrm>
            <a:off x="5653088" y="1677988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a'</a:t>
            </a:r>
            <a:endParaRPr lang="en-US" altLang="zh-CN" sz="2000" i="1">
              <a:solidFill>
                <a:srgbClr val="CCFF33"/>
              </a:solidFill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38921" name="Line 10"/>
          <p:cNvSpPr>
            <a:spLocks noChangeShapeType="1"/>
          </p:cNvSpPr>
          <p:nvPr/>
        </p:nvSpPr>
        <p:spPr bwMode="auto">
          <a:xfrm>
            <a:off x="4652963" y="3017838"/>
            <a:ext cx="2314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Text Box 11"/>
          <p:cNvSpPr txBox="1">
            <a:spLocks noChangeArrowheads="1"/>
          </p:cNvSpPr>
          <p:nvPr/>
        </p:nvSpPr>
        <p:spPr bwMode="auto">
          <a:xfrm>
            <a:off x="4270375" y="2640013"/>
            <a:ext cx="3244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latin typeface="ISOCPEUR" pitchFamily="34" charset="0"/>
              </a:rPr>
              <a:t> </a:t>
            </a:r>
            <a:r>
              <a:rPr lang="en-US" altLang="zh-CN" sz="2400" i="1">
                <a:latin typeface="ISOCPEUR" pitchFamily="34" charset="0"/>
              </a:rPr>
              <a:t>X                    O </a:t>
            </a:r>
          </a:p>
        </p:txBody>
      </p:sp>
      <p:sp>
        <p:nvSpPr>
          <p:cNvPr id="38923" name="Line 12"/>
          <p:cNvSpPr>
            <a:spLocks noChangeShapeType="1"/>
          </p:cNvSpPr>
          <p:nvPr/>
        </p:nvSpPr>
        <p:spPr bwMode="auto">
          <a:xfrm>
            <a:off x="5724525" y="2065338"/>
            <a:ext cx="0" cy="1862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4" name="Line 13"/>
          <p:cNvSpPr>
            <a:spLocks noChangeShapeType="1"/>
          </p:cNvSpPr>
          <p:nvPr/>
        </p:nvSpPr>
        <p:spPr bwMode="auto">
          <a:xfrm>
            <a:off x="6980238" y="1530350"/>
            <a:ext cx="0" cy="308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Text Box 14"/>
          <p:cNvSpPr txBox="1">
            <a:spLocks noChangeArrowheads="1"/>
          </p:cNvSpPr>
          <p:nvPr/>
        </p:nvSpPr>
        <p:spPr bwMode="auto">
          <a:xfrm>
            <a:off x="6626225" y="1206500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Z </a:t>
            </a:r>
          </a:p>
        </p:txBody>
      </p:sp>
      <p:sp>
        <p:nvSpPr>
          <p:cNvPr id="38926" name="Text Box 15"/>
          <p:cNvSpPr txBox="1">
            <a:spLocks noChangeArrowheads="1"/>
          </p:cNvSpPr>
          <p:nvPr/>
        </p:nvSpPr>
        <p:spPr bwMode="auto">
          <a:xfrm>
            <a:off x="6894513" y="4387850"/>
            <a:ext cx="55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2400" i="1" baseline="-12000">
                <a:latin typeface="ISOCPEUR" pitchFamily="34" charset="0"/>
              </a:rPr>
              <a:t>H</a:t>
            </a:r>
            <a:r>
              <a:rPr lang="en-US" altLang="zh-CN" sz="2400" i="1" baseline="-25000">
                <a:latin typeface="ISOCPEUR" pitchFamily="34" charset="0"/>
              </a:rPr>
              <a:t> </a:t>
            </a:r>
          </a:p>
        </p:txBody>
      </p:sp>
      <p:sp>
        <p:nvSpPr>
          <p:cNvPr id="38927" name="Text Box 16"/>
          <p:cNvSpPr txBox="1">
            <a:spLocks noChangeArrowheads="1"/>
          </p:cNvSpPr>
          <p:nvPr/>
        </p:nvSpPr>
        <p:spPr bwMode="auto">
          <a:xfrm>
            <a:off x="8628063" y="2597150"/>
            <a:ext cx="51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Y</a:t>
            </a:r>
            <a:r>
              <a:rPr lang="en-US" altLang="zh-CN" sz="2400" i="1" baseline="-12000">
                <a:latin typeface="ISOCPEUR" pitchFamily="34" charset="0"/>
              </a:rPr>
              <a:t>W</a:t>
            </a:r>
          </a:p>
        </p:txBody>
      </p:sp>
      <p:sp>
        <p:nvSpPr>
          <p:cNvPr id="38928" name="Line 17"/>
          <p:cNvSpPr>
            <a:spLocks noChangeShapeType="1"/>
          </p:cNvSpPr>
          <p:nvPr/>
        </p:nvSpPr>
        <p:spPr bwMode="auto">
          <a:xfrm>
            <a:off x="5722938" y="2044700"/>
            <a:ext cx="2266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9" name="Line 18"/>
          <p:cNvSpPr>
            <a:spLocks noChangeShapeType="1"/>
          </p:cNvSpPr>
          <p:nvPr/>
        </p:nvSpPr>
        <p:spPr bwMode="auto">
          <a:xfrm>
            <a:off x="5722938" y="3968750"/>
            <a:ext cx="1257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0" name="Line 19"/>
          <p:cNvSpPr>
            <a:spLocks noChangeShapeType="1"/>
          </p:cNvSpPr>
          <p:nvPr/>
        </p:nvSpPr>
        <p:spPr bwMode="auto">
          <a:xfrm>
            <a:off x="7970838" y="2044700"/>
            <a:ext cx="0" cy="971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1" name="Text Box 21"/>
          <p:cNvSpPr txBox="1">
            <a:spLocks noChangeArrowheads="1"/>
          </p:cNvSpPr>
          <p:nvPr/>
        </p:nvSpPr>
        <p:spPr bwMode="auto">
          <a:xfrm>
            <a:off x="7691438" y="1674813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38932" name="Text Box 22"/>
          <p:cNvSpPr txBox="1">
            <a:spLocks noChangeArrowheads="1"/>
          </p:cNvSpPr>
          <p:nvPr/>
        </p:nvSpPr>
        <p:spPr bwMode="auto">
          <a:xfrm>
            <a:off x="5272088" y="2598738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x</a:t>
            </a:r>
          </a:p>
        </p:txBody>
      </p:sp>
      <p:sp>
        <p:nvSpPr>
          <p:cNvPr id="38933" name="Text Box 35"/>
          <p:cNvSpPr txBox="1">
            <a:spLocks noChangeArrowheads="1"/>
          </p:cNvSpPr>
          <p:nvPr/>
        </p:nvSpPr>
        <p:spPr bwMode="auto">
          <a:xfrm>
            <a:off x="6980238" y="165576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z</a:t>
            </a:r>
          </a:p>
        </p:txBody>
      </p:sp>
      <p:sp>
        <p:nvSpPr>
          <p:cNvPr id="38934" name="Text Box 36"/>
          <p:cNvSpPr txBox="1">
            <a:spLocks noChangeArrowheads="1"/>
          </p:cNvSpPr>
          <p:nvPr/>
        </p:nvSpPr>
        <p:spPr bwMode="auto">
          <a:xfrm>
            <a:off x="6904038" y="3756025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  <a:r>
              <a:rPr lang="en-US" altLang="zh-CN" sz="1200" i="1" baseline="-40000">
                <a:latin typeface="ISOCPEUR" pitchFamily="34" charset="0"/>
                <a:ea typeface="仿宋_GB2312" pitchFamily="49" charset="-122"/>
              </a:rPr>
              <a:t>H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38935" name="Text Box 37"/>
          <p:cNvSpPr txBox="1">
            <a:spLocks noChangeArrowheads="1"/>
          </p:cNvSpPr>
          <p:nvPr/>
        </p:nvSpPr>
        <p:spPr bwMode="auto">
          <a:xfrm>
            <a:off x="7793038" y="2898775"/>
            <a:ext cx="747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Y</a:t>
            </a:r>
            <a:r>
              <a:rPr lang="en-US" altLang="zh-CN" sz="1200" i="1" baseline="-40000">
                <a:latin typeface="ISOCPEUR" pitchFamily="34" charset="0"/>
                <a:ea typeface="仿宋_GB2312" pitchFamily="49" charset="-122"/>
              </a:rPr>
              <a:t>W</a:t>
            </a:r>
          </a:p>
        </p:txBody>
      </p:sp>
      <p:sp>
        <p:nvSpPr>
          <p:cNvPr id="38936" name="Line 41"/>
          <p:cNvSpPr>
            <a:spLocks noChangeShapeType="1"/>
          </p:cNvSpPr>
          <p:nvPr/>
        </p:nvSpPr>
        <p:spPr bwMode="auto">
          <a:xfrm>
            <a:off x="6970713" y="3016250"/>
            <a:ext cx="188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7" name="AutoShape 46"/>
          <p:cNvSpPr>
            <a:spLocks noChangeArrowheads="1"/>
          </p:cNvSpPr>
          <p:nvPr/>
        </p:nvSpPr>
        <p:spPr bwMode="auto">
          <a:xfrm>
            <a:off x="5688013" y="2005013"/>
            <a:ext cx="68262" cy="69850"/>
          </a:xfrm>
          <a:prstGeom prst="flowChartConnector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38938" name="AutoShape 47"/>
          <p:cNvSpPr>
            <a:spLocks noChangeArrowheads="1"/>
          </p:cNvSpPr>
          <p:nvPr/>
        </p:nvSpPr>
        <p:spPr bwMode="auto">
          <a:xfrm>
            <a:off x="7937500" y="2011363"/>
            <a:ext cx="68263" cy="69850"/>
          </a:xfrm>
          <a:prstGeom prst="flowChartConnector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21618" name="Text Box 1138"/>
          <p:cNvSpPr txBox="1">
            <a:spLocks noChangeArrowheads="1"/>
          </p:cNvSpPr>
          <p:nvPr/>
        </p:nvSpPr>
        <p:spPr bwMode="auto">
          <a:xfrm>
            <a:off x="182563" y="4484688"/>
            <a:ext cx="90995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点的</a:t>
            </a:r>
            <a:r>
              <a:rPr lang="en-US" altLang="zh-CN" sz="2800" b="0" i="1">
                <a:ea typeface="黑体" pitchFamily="2" charset="-122"/>
              </a:rPr>
              <a:t>x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坐标值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点与  面的距离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点的</a:t>
            </a:r>
            <a:r>
              <a:rPr lang="en-US" altLang="zh-CN" sz="2800" i="1">
                <a:ea typeface="黑体" pitchFamily="2" charset="-122"/>
              </a:rPr>
              <a:t>y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坐标值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点与  面的距离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点的</a:t>
            </a:r>
            <a:r>
              <a:rPr lang="en-US" altLang="zh-CN" sz="2800" i="1">
                <a:ea typeface="黑体" pitchFamily="2" charset="-122"/>
              </a:rPr>
              <a:t>z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坐标值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点与  面的距离</a:t>
            </a:r>
            <a:r>
              <a:rPr lang="zh-CN" altLang="en-US" sz="2800" u="sng"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sp>
        <p:nvSpPr>
          <p:cNvPr id="21619" name="Text Box 1139"/>
          <p:cNvSpPr txBox="1">
            <a:spLocks noChangeArrowheads="1"/>
          </p:cNvSpPr>
          <p:nvPr/>
        </p:nvSpPr>
        <p:spPr bwMode="auto">
          <a:xfrm>
            <a:off x="3813175" y="4430713"/>
            <a:ext cx="604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W</a:t>
            </a:r>
          </a:p>
        </p:txBody>
      </p:sp>
      <p:sp>
        <p:nvSpPr>
          <p:cNvPr id="21620" name="Text Box 1140"/>
          <p:cNvSpPr txBox="1">
            <a:spLocks noChangeArrowheads="1"/>
          </p:cNvSpPr>
          <p:nvPr/>
        </p:nvSpPr>
        <p:spPr bwMode="auto">
          <a:xfrm>
            <a:off x="3822700" y="5307013"/>
            <a:ext cx="1079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H</a:t>
            </a:r>
          </a:p>
        </p:txBody>
      </p:sp>
      <p:sp>
        <p:nvSpPr>
          <p:cNvPr id="21621" name="Text Box 1141"/>
          <p:cNvSpPr txBox="1">
            <a:spLocks noChangeArrowheads="1"/>
          </p:cNvSpPr>
          <p:nvPr/>
        </p:nvSpPr>
        <p:spPr bwMode="auto">
          <a:xfrm>
            <a:off x="3810000" y="4881563"/>
            <a:ext cx="422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V</a:t>
            </a:r>
          </a:p>
        </p:txBody>
      </p:sp>
      <p:sp>
        <p:nvSpPr>
          <p:cNvPr id="21622" name="Text Box 1142"/>
          <p:cNvSpPr txBox="1">
            <a:spLocks noChangeArrowheads="1"/>
          </p:cNvSpPr>
          <p:nvPr/>
        </p:nvSpPr>
        <p:spPr bwMode="auto">
          <a:xfrm>
            <a:off x="6048375" y="269557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>
                <a:solidFill>
                  <a:srgbClr val="FF0000"/>
                </a:solidFill>
                <a:ea typeface="黑体" pitchFamily="2" charset="-122"/>
              </a:rPr>
              <a:t>x</a:t>
            </a:r>
            <a:endParaRPr lang="en-US" altLang="zh-CN" sz="2000" u="sng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3" name="Text Box 1143"/>
          <p:cNvSpPr txBox="1">
            <a:spLocks noChangeArrowheads="1"/>
          </p:cNvSpPr>
          <p:nvPr/>
        </p:nvSpPr>
        <p:spPr bwMode="auto">
          <a:xfrm>
            <a:off x="6946900" y="219392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  <a:ea typeface="黑体" pitchFamily="2" charset="-122"/>
              </a:rPr>
              <a:t>z</a:t>
            </a:r>
          </a:p>
        </p:txBody>
      </p:sp>
      <p:sp>
        <p:nvSpPr>
          <p:cNvPr id="21624" name="Text Box 1144"/>
          <p:cNvSpPr txBox="1">
            <a:spLocks noChangeArrowheads="1"/>
          </p:cNvSpPr>
          <p:nvPr/>
        </p:nvSpPr>
        <p:spPr bwMode="auto">
          <a:xfrm>
            <a:off x="6954838" y="3306763"/>
            <a:ext cx="41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ea typeface="黑体" pitchFamily="2" charset="-122"/>
              </a:rPr>
              <a:t>y</a:t>
            </a:r>
            <a:endParaRPr lang="en-US" altLang="zh-CN" sz="2000" u="sng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5" name="Text Box 1145"/>
          <p:cNvSpPr txBox="1">
            <a:spLocks noChangeArrowheads="1"/>
          </p:cNvSpPr>
          <p:nvPr/>
        </p:nvSpPr>
        <p:spPr bwMode="auto">
          <a:xfrm>
            <a:off x="7316788" y="2965450"/>
            <a:ext cx="412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ea typeface="黑体" pitchFamily="2" charset="-122"/>
              </a:rPr>
              <a:t>y</a:t>
            </a:r>
            <a:endParaRPr lang="en-US" altLang="zh-CN" sz="2000" u="sng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6" name="Text Box 1146"/>
          <p:cNvSpPr txBox="1">
            <a:spLocks noChangeArrowheads="1"/>
          </p:cNvSpPr>
          <p:nvPr/>
        </p:nvSpPr>
        <p:spPr bwMode="auto">
          <a:xfrm>
            <a:off x="365125" y="3889375"/>
            <a:ext cx="5011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点的坐标与投影的关系：</a:t>
            </a:r>
          </a:p>
        </p:txBody>
      </p:sp>
      <p:sp>
        <p:nvSpPr>
          <p:cNvPr id="21628" name="Text Box 1148"/>
          <p:cNvSpPr txBox="1">
            <a:spLocks noChangeArrowheads="1"/>
          </p:cNvSpPr>
          <p:nvPr/>
        </p:nvSpPr>
        <p:spPr bwMode="auto">
          <a:xfrm>
            <a:off x="5853113" y="3852863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x,y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29" name="Text Box 1149"/>
          <p:cNvSpPr txBox="1">
            <a:spLocks noChangeArrowheads="1"/>
          </p:cNvSpPr>
          <p:nvPr/>
        </p:nvSpPr>
        <p:spPr bwMode="auto">
          <a:xfrm>
            <a:off x="5924550" y="1663700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x,z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30" name="Text Box 1150"/>
          <p:cNvSpPr txBox="1">
            <a:spLocks noChangeArrowheads="1"/>
          </p:cNvSpPr>
          <p:nvPr/>
        </p:nvSpPr>
        <p:spPr bwMode="auto">
          <a:xfrm>
            <a:off x="7958138" y="1685925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y,z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631" name="Text Box 1151"/>
          <p:cNvSpPr txBox="1">
            <a:spLocks noChangeArrowheads="1"/>
          </p:cNvSpPr>
          <p:nvPr/>
        </p:nvSpPr>
        <p:spPr bwMode="auto">
          <a:xfrm>
            <a:off x="6451600" y="4946650"/>
            <a:ext cx="1228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ea typeface="黑体" pitchFamily="2" charset="-122"/>
              </a:rPr>
              <a:t>A</a:t>
            </a:r>
            <a:r>
              <a:rPr lang="en-US" altLang="zh-CN" sz="2000">
                <a:ea typeface="黑体" pitchFamily="2" charset="-122"/>
              </a:rPr>
              <a:t>(</a:t>
            </a:r>
            <a:r>
              <a:rPr lang="en-US" altLang="zh-CN" sz="2000" i="1">
                <a:ea typeface="黑体" pitchFamily="2" charset="-122"/>
              </a:rPr>
              <a:t>x,y,z</a:t>
            </a:r>
            <a:r>
              <a:rPr lang="en-US" altLang="zh-CN" sz="2000">
                <a:ea typeface="黑体" pitchFamily="2" charset="-122"/>
              </a:rPr>
              <a:t>)</a:t>
            </a:r>
            <a:endParaRPr lang="en-US" altLang="zh-CN" sz="2000" u="sng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4" grpId="0" autoUpdateAnimBg="0"/>
      <p:bldP spid="21618" grpId="0" autoUpdateAnimBg="0"/>
      <p:bldP spid="21619" grpId="0" autoUpdateAnimBg="0"/>
      <p:bldP spid="21620" grpId="0" autoUpdateAnimBg="0"/>
      <p:bldP spid="21621" grpId="0" autoUpdateAnimBg="0"/>
      <p:bldP spid="21622" grpId="0" autoUpdateAnimBg="0"/>
      <p:bldP spid="21623" grpId="0" autoUpdateAnimBg="0"/>
      <p:bldP spid="21624" grpId="0" autoUpdateAnimBg="0"/>
      <p:bldP spid="21625" grpId="0" autoUpdateAnimBg="0"/>
      <p:bldP spid="21626" grpId="0" autoUpdateAnimBg="0"/>
      <p:bldP spid="21628" grpId="0" autoUpdateAnimBg="0"/>
      <p:bldP spid="21629" grpId="0" autoUpdateAnimBg="0"/>
      <p:bldP spid="21630" grpId="0" autoUpdateAnimBg="0"/>
      <p:bldP spid="2163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三．两点间的相对位置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632325" y="3702050"/>
            <a:ext cx="3967163" cy="2951163"/>
            <a:chOff x="2549" y="550"/>
            <a:chExt cx="3076" cy="2290"/>
          </a:xfrm>
        </p:grpSpPr>
        <p:sp>
          <p:nvSpPr>
            <p:cNvPr id="39977" name="AutoShape 4"/>
            <p:cNvSpPr>
              <a:spLocks noChangeArrowheads="1"/>
            </p:cNvSpPr>
            <p:nvPr/>
          </p:nvSpPr>
          <p:spPr bwMode="auto">
            <a:xfrm>
              <a:off x="3441" y="2367"/>
              <a:ext cx="43" cy="43"/>
            </a:xfrm>
            <a:prstGeom prst="flowChartConnector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9978" name="Text Box 5"/>
            <p:cNvSpPr txBox="1">
              <a:spLocks noChangeArrowheads="1"/>
            </p:cNvSpPr>
            <p:nvPr/>
          </p:nvSpPr>
          <p:spPr bwMode="auto">
            <a:xfrm>
              <a:off x="3428" y="2183"/>
              <a:ext cx="23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9979" name="AutoShape 6"/>
            <p:cNvSpPr>
              <a:spLocks noChangeArrowheads="1"/>
            </p:cNvSpPr>
            <p:nvPr/>
          </p:nvSpPr>
          <p:spPr bwMode="auto">
            <a:xfrm>
              <a:off x="3441" y="2264"/>
              <a:ext cx="43" cy="4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9980" name="Text Box 7"/>
            <p:cNvSpPr txBox="1">
              <a:spLocks noChangeArrowheads="1"/>
            </p:cNvSpPr>
            <p:nvPr/>
          </p:nvSpPr>
          <p:spPr bwMode="auto">
            <a:xfrm>
              <a:off x="3419" y="819"/>
              <a:ext cx="34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39981" name="Line 8"/>
            <p:cNvSpPr>
              <a:spLocks noChangeShapeType="1"/>
            </p:cNvSpPr>
            <p:nvPr/>
          </p:nvSpPr>
          <p:spPr bwMode="auto">
            <a:xfrm>
              <a:off x="2790" y="1691"/>
              <a:ext cx="14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2" name="Text Box 9"/>
            <p:cNvSpPr txBox="1">
              <a:spLocks noChangeArrowheads="1"/>
            </p:cNvSpPr>
            <p:nvPr/>
          </p:nvSpPr>
          <p:spPr bwMode="auto">
            <a:xfrm>
              <a:off x="2549" y="1456"/>
              <a:ext cx="174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>
                  <a:latin typeface="ISOCPEUR" pitchFamily="34" charset="0"/>
                </a:rPr>
                <a:t> </a:t>
              </a:r>
              <a:r>
                <a:rPr lang="en-US" altLang="zh-CN" sz="1800" i="1">
                  <a:latin typeface="ISOCPEUR" pitchFamily="34" charset="0"/>
                </a:rPr>
                <a:t>X                         O </a:t>
              </a:r>
            </a:p>
          </p:txBody>
        </p:sp>
        <p:sp>
          <p:nvSpPr>
            <p:cNvPr id="39983" name="Line 10"/>
            <p:cNvSpPr>
              <a:spLocks noChangeShapeType="1"/>
            </p:cNvSpPr>
            <p:nvPr/>
          </p:nvSpPr>
          <p:spPr bwMode="auto">
            <a:xfrm>
              <a:off x="3465" y="1091"/>
              <a:ext cx="0" cy="1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4" name="Line 11"/>
            <p:cNvSpPr>
              <a:spLocks noChangeShapeType="1"/>
            </p:cNvSpPr>
            <p:nvPr/>
          </p:nvSpPr>
          <p:spPr bwMode="auto">
            <a:xfrm>
              <a:off x="4256" y="754"/>
              <a:ext cx="0" cy="19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5" name="Text Box 12"/>
            <p:cNvSpPr txBox="1">
              <a:spLocks noChangeArrowheads="1"/>
            </p:cNvSpPr>
            <p:nvPr/>
          </p:nvSpPr>
          <p:spPr bwMode="auto">
            <a:xfrm>
              <a:off x="4027" y="550"/>
              <a:ext cx="309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39986" name="Text Box 13"/>
            <p:cNvSpPr txBox="1">
              <a:spLocks noChangeArrowheads="1"/>
            </p:cNvSpPr>
            <p:nvPr/>
          </p:nvSpPr>
          <p:spPr bwMode="auto">
            <a:xfrm>
              <a:off x="4198" y="2556"/>
              <a:ext cx="360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12000">
                  <a:latin typeface="ISOCPEUR" pitchFamily="34" charset="0"/>
                </a:rPr>
                <a:t>H</a:t>
              </a:r>
              <a:r>
                <a:rPr lang="en-US" altLang="zh-CN" sz="1800" i="1" baseline="-25000">
                  <a:latin typeface="ISOCPEUR" pitchFamily="34" charset="0"/>
                </a:rPr>
                <a:t> </a:t>
              </a:r>
            </a:p>
          </p:txBody>
        </p:sp>
        <p:sp>
          <p:nvSpPr>
            <p:cNvPr id="39987" name="Text Box 14"/>
            <p:cNvSpPr txBox="1">
              <a:spLocks noChangeArrowheads="1"/>
            </p:cNvSpPr>
            <p:nvPr/>
          </p:nvSpPr>
          <p:spPr bwMode="auto">
            <a:xfrm>
              <a:off x="5288" y="1426"/>
              <a:ext cx="33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12000">
                  <a:latin typeface="ISOCPEUR" pitchFamily="34" charset="0"/>
                </a:rPr>
                <a:t>W</a:t>
              </a:r>
            </a:p>
          </p:txBody>
        </p:sp>
        <p:sp>
          <p:nvSpPr>
            <p:cNvPr id="39988" name="Line 15"/>
            <p:cNvSpPr>
              <a:spLocks noChangeShapeType="1"/>
            </p:cNvSpPr>
            <p:nvPr/>
          </p:nvSpPr>
          <p:spPr bwMode="auto">
            <a:xfrm>
              <a:off x="3464" y="1078"/>
              <a:ext cx="14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9" name="Line 16"/>
            <p:cNvSpPr>
              <a:spLocks noChangeShapeType="1"/>
            </p:cNvSpPr>
            <p:nvPr/>
          </p:nvSpPr>
          <p:spPr bwMode="auto">
            <a:xfrm>
              <a:off x="3464" y="2290"/>
              <a:ext cx="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0" name="Line 17"/>
            <p:cNvSpPr>
              <a:spLocks noChangeShapeType="1"/>
            </p:cNvSpPr>
            <p:nvPr/>
          </p:nvSpPr>
          <p:spPr bwMode="auto">
            <a:xfrm>
              <a:off x="4880" y="1078"/>
              <a:ext cx="0" cy="6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1" name="Text Box 18"/>
            <p:cNvSpPr txBox="1">
              <a:spLocks noChangeArrowheads="1"/>
            </p:cNvSpPr>
            <p:nvPr/>
          </p:nvSpPr>
          <p:spPr bwMode="auto">
            <a:xfrm>
              <a:off x="4675" y="817"/>
              <a:ext cx="31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39992" name="Text Box 19"/>
            <p:cNvSpPr txBox="1">
              <a:spLocks noChangeArrowheads="1"/>
            </p:cNvSpPr>
            <p:nvPr/>
          </p:nvSpPr>
          <p:spPr bwMode="auto">
            <a:xfrm>
              <a:off x="3153" y="1399"/>
              <a:ext cx="29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</a:t>
              </a:r>
            </a:p>
          </p:txBody>
        </p:sp>
        <p:sp>
          <p:nvSpPr>
            <p:cNvPr id="39993" name="Text Box 20"/>
            <p:cNvSpPr txBox="1">
              <a:spLocks noChangeArrowheads="1"/>
            </p:cNvSpPr>
            <p:nvPr/>
          </p:nvSpPr>
          <p:spPr bwMode="auto">
            <a:xfrm>
              <a:off x="4229" y="803"/>
              <a:ext cx="29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</a:t>
              </a:r>
            </a:p>
          </p:txBody>
        </p:sp>
        <p:sp>
          <p:nvSpPr>
            <p:cNvPr id="39994" name="Text Box 21"/>
            <p:cNvSpPr txBox="1">
              <a:spLocks noChangeArrowheads="1"/>
            </p:cNvSpPr>
            <p:nvPr/>
          </p:nvSpPr>
          <p:spPr bwMode="auto">
            <a:xfrm>
              <a:off x="4208" y="2128"/>
              <a:ext cx="435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</a:t>
              </a:r>
              <a:r>
                <a:rPr lang="en-US" altLang="zh-CN" sz="1200" i="1" baseline="-40000">
                  <a:latin typeface="ISOCPEUR" pitchFamily="34" charset="0"/>
                  <a:ea typeface="仿宋_GB2312" pitchFamily="49" charset="-122"/>
                </a:rPr>
                <a:t>H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 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9995" name="Text Box 22"/>
            <p:cNvSpPr txBox="1">
              <a:spLocks noChangeArrowheads="1"/>
            </p:cNvSpPr>
            <p:nvPr/>
          </p:nvSpPr>
          <p:spPr bwMode="auto">
            <a:xfrm>
              <a:off x="4768" y="1588"/>
              <a:ext cx="47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</a:t>
              </a:r>
              <a:r>
                <a:rPr lang="en-US" altLang="zh-CN" sz="1200" i="1" baseline="-40000">
                  <a:latin typeface="ISOCPEUR" pitchFamily="34" charset="0"/>
                  <a:ea typeface="仿宋_GB2312" pitchFamily="49" charset="-122"/>
                </a:rPr>
                <a:t>W</a:t>
              </a:r>
            </a:p>
          </p:txBody>
        </p:sp>
        <p:sp>
          <p:nvSpPr>
            <p:cNvPr id="39996" name="Line 23"/>
            <p:cNvSpPr>
              <a:spLocks noChangeShapeType="1"/>
            </p:cNvSpPr>
            <p:nvPr/>
          </p:nvSpPr>
          <p:spPr bwMode="auto">
            <a:xfrm>
              <a:off x="4250" y="1690"/>
              <a:ext cx="1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7" name="AutoShape 24"/>
            <p:cNvSpPr>
              <a:spLocks noChangeArrowheads="1"/>
            </p:cNvSpPr>
            <p:nvPr/>
          </p:nvSpPr>
          <p:spPr bwMode="auto">
            <a:xfrm>
              <a:off x="3442" y="1053"/>
              <a:ext cx="43" cy="4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39998" name="AutoShape 25"/>
            <p:cNvSpPr>
              <a:spLocks noChangeArrowheads="1"/>
            </p:cNvSpPr>
            <p:nvPr/>
          </p:nvSpPr>
          <p:spPr bwMode="auto">
            <a:xfrm>
              <a:off x="4859" y="1057"/>
              <a:ext cx="43" cy="44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</p:grpSp>
      <p:sp>
        <p:nvSpPr>
          <p:cNvPr id="167962" name="Text Box 26"/>
          <p:cNvSpPr txBox="1">
            <a:spLocks noChangeArrowheads="1"/>
          </p:cNvSpPr>
          <p:nvPr/>
        </p:nvSpPr>
        <p:spPr bwMode="auto">
          <a:xfrm>
            <a:off x="427038" y="1238250"/>
            <a:ext cx="8716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方位关系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167963" name="Text Box 27"/>
          <p:cNvSpPr txBox="1">
            <a:spLocks noChangeArrowheads="1"/>
          </p:cNvSpPr>
          <p:nvPr/>
        </p:nvSpPr>
        <p:spPr bwMode="auto">
          <a:xfrm>
            <a:off x="5775325" y="911225"/>
            <a:ext cx="4143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下</a:t>
            </a:r>
          </a:p>
        </p:txBody>
      </p:sp>
      <p:sp>
        <p:nvSpPr>
          <p:cNvPr id="167964" name="Text Box 28"/>
          <p:cNvSpPr txBox="1">
            <a:spLocks noChangeArrowheads="1"/>
          </p:cNvSpPr>
          <p:nvPr/>
        </p:nvSpPr>
        <p:spPr bwMode="auto">
          <a:xfrm>
            <a:off x="5422900" y="1350963"/>
            <a:ext cx="13414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左     右</a:t>
            </a:r>
          </a:p>
        </p:txBody>
      </p:sp>
      <p:sp>
        <p:nvSpPr>
          <p:cNvPr id="167965" name="Text Box 29"/>
          <p:cNvSpPr txBox="1">
            <a:spLocks noChangeArrowheads="1"/>
          </p:cNvSpPr>
          <p:nvPr/>
        </p:nvSpPr>
        <p:spPr bwMode="auto">
          <a:xfrm>
            <a:off x="5411788" y="2560638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0033CC"/>
                </a:solidFill>
                <a:latin typeface="黑体" pitchFamily="2" charset="-122"/>
                <a:ea typeface="黑体" pitchFamily="2" charset="-122"/>
              </a:rPr>
              <a:t>左     右  </a:t>
            </a:r>
          </a:p>
        </p:txBody>
      </p:sp>
      <p:sp>
        <p:nvSpPr>
          <p:cNvPr id="167966" name="Text Box 30"/>
          <p:cNvSpPr txBox="1">
            <a:spLocks noChangeArrowheads="1"/>
          </p:cNvSpPr>
          <p:nvPr/>
        </p:nvSpPr>
        <p:spPr bwMode="auto">
          <a:xfrm>
            <a:off x="5800725" y="2282825"/>
            <a:ext cx="412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黑体" pitchFamily="2" charset="-122"/>
                <a:ea typeface="黑体" pitchFamily="2" charset="-122"/>
              </a:rPr>
              <a:t>后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黑体" pitchFamily="2" charset="-122"/>
                <a:ea typeface="黑体" pitchFamily="2" charset="-122"/>
              </a:rPr>
              <a:t>前</a:t>
            </a:r>
          </a:p>
        </p:txBody>
      </p:sp>
      <p:sp>
        <p:nvSpPr>
          <p:cNvPr id="167967" name="Text Box 31"/>
          <p:cNvSpPr txBox="1">
            <a:spLocks noChangeArrowheads="1"/>
          </p:cNvSpPr>
          <p:nvPr/>
        </p:nvSpPr>
        <p:spPr bwMode="auto">
          <a:xfrm>
            <a:off x="6943725" y="1376363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黑体" pitchFamily="2" charset="-122"/>
                <a:ea typeface="黑体" pitchFamily="2" charset="-122"/>
              </a:rPr>
              <a:t>后    前</a:t>
            </a:r>
          </a:p>
        </p:txBody>
      </p:sp>
      <p:sp>
        <p:nvSpPr>
          <p:cNvPr id="167968" name="Text Box 32"/>
          <p:cNvSpPr txBox="1">
            <a:spLocks noChangeArrowheads="1"/>
          </p:cNvSpPr>
          <p:nvPr/>
        </p:nvSpPr>
        <p:spPr bwMode="auto">
          <a:xfrm>
            <a:off x="7270750" y="911225"/>
            <a:ext cx="4143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下</a:t>
            </a:r>
          </a:p>
        </p:txBody>
      </p:sp>
      <p:sp>
        <p:nvSpPr>
          <p:cNvPr id="167969" name="Text Box 33"/>
          <p:cNvSpPr txBox="1">
            <a:spLocks noChangeArrowheads="1"/>
          </p:cNvSpPr>
          <p:nvPr/>
        </p:nvSpPr>
        <p:spPr bwMode="auto">
          <a:xfrm>
            <a:off x="482600" y="3294063"/>
            <a:ext cx="8661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例：已知点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12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在点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的下方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5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左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0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、前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0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，试完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成</a:t>
            </a:r>
            <a:r>
              <a:rPr lang="zh-CN" altLang="en-US" sz="2400">
                <a:ea typeface="黑体" pitchFamily="2" charset="-122"/>
              </a:rPr>
              <a:t>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的投影。</a:t>
            </a:r>
          </a:p>
        </p:txBody>
      </p:sp>
      <p:sp>
        <p:nvSpPr>
          <p:cNvPr id="167970" name="Text Box 34"/>
          <p:cNvSpPr txBox="1">
            <a:spLocks noChangeArrowheads="1"/>
          </p:cNvSpPr>
          <p:nvPr/>
        </p:nvSpPr>
        <p:spPr bwMode="auto">
          <a:xfrm>
            <a:off x="427038" y="2324100"/>
            <a:ext cx="8716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距观察者近的方位</a:t>
            </a:r>
            <a:r>
              <a:rPr lang="en-US" altLang="zh-CN" sz="2400">
                <a:ea typeface="黑体" pitchFamily="2" charset="-122"/>
              </a:rPr>
              <a:t>: </a:t>
            </a:r>
            <a:r>
              <a:rPr lang="zh-CN" altLang="en-US" sz="2800">
                <a:ea typeface="黑体" pitchFamily="2" charset="-122"/>
              </a:rPr>
              <a:t>前</a:t>
            </a:r>
            <a:r>
              <a:rPr lang="zh-CN" altLang="en-US" sz="2400">
                <a:ea typeface="黑体" pitchFamily="2" charset="-122"/>
              </a:rPr>
              <a:t>、</a:t>
            </a:r>
            <a:r>
              <a:rPr lang="zh-CN" altLang="en-US" sz="2800">
                <a:ea typeface="黑体" pitchFamily="2" charset="-122"/>
              </a:rPr>
              <a:t>左</a:t>
            </a:r>
            <a:r>
              <a:rPr lang="zh-CN" altLang="en-US" sz="2400">
                <a:ea typeface="黑体" pitchFamily="2" charset="-122"/>
              </a:rPr>
              <a:t>、</a:t>
            </a:r>
            <a:r>
              <a:rPr lang="zh-CN" altLang="en-US" sz="2800">
                <a:ea typeface="黑体" pitchFamily="2" charset="-122"/>
              </a:rPr>
              <a:t>上</a:t>
            </a:r>
          </a:p>
        </p:txBody>
      </p:sp>
      <p:sp>
        <p:nvSpPr>
          <p:cNvPr id="167971" name="Text Box 35"/>
          <p:cNvSpPr txBox="1">
            <a:spLocks noChangeArrowheads="1"/>
          </p:cNvSpPr>
          <p:nvPr/>
        </p:nvSpPr>
        <p:spPr bwMode="auto">
          <a:xfrm>
            <a:off x="5322888" y="4537075"/>
            <a:ext cx="544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18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67972" name="Text Box 36"/>
          <p:cNvSpPr txBox="1">
            <a:spLocks noChangeArrowheads="1"/>
          </p:cNvSpPr>
          <p:nvPr/>
        </p:nvSpPr>
        <p:spPr bwMode="auto">
          <a:xfrm>
            <a:off x="5805488" y="5848350"/>
            <a:ext cx="763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  </a:t>
            </a:r>
            <a:endParaRPr lang="en-US" altLang="zh-CN" sz="1800" b="0">
              <a:latin typeface="ISOCPEUR" pitchFamily="34" charset="0"/>
            </a:endParaRPr>
          </a:p>
        </p:txBody>
      </p:sp>
      <p:sp>
        <p:nvSpPr>
          <p:cNvPr id="167973" name="Line 37"/>
          <p:cNvSpPr>
            <a:spLocks noChangeShapeType="1"/>
          </p:cNvSpPr>
          <p:nvPr/>
        </p:nvSpPr>
        <p:spPr bwMode="auto">
          <a:xfrm>
            <a:off x="5810250" y="4778375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74" name="AutoShape 38"/>
          <p:cNvSpPr>
            <a:spLocks noChangeArrowheads="1"/>
          </p:cNvSpPr>
          <p:nvPr/>
        </p:nvSpPr>
        <p:spPr bwMode="auto">
          <a:xfrm>
            <a:off x="5789613" y="4337050"/>
            <a:ext cx="53975" cy="53975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7975" name="Text Box 39"/>
          <p:cNvSpPr txBox="1">
            <a:spLocks noChangeArrowheads="1"/>
          </p:cNvSpPr>
          <p:nvPr/>
        </p:nvSpPr>
        <p:spPr bwMode="auto">
          <a:xfrm>
            <a:off x="7480300" y="4441825"/>
            <a:ext cx="7477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800" i="1">
              <a:latin typeface="ISOCPEUR" pitchFamily="34" charset="0"/>
            </a:endParaRPr>
          </a:p>
        </p:txBody>
      </p:sp>
      <p:sp>
        <p:nvSpPr>
          <p:cNvPr id="167976" name="AutoShape 40"/>
          <p:cNvSpPr>
            <a:spLocks noChangeArrowheads="1"/>
          </p:cNvSpPr>
          <p:nvPr/>
        </p:nvSpPr>
        <p:spPr bwMode="auto">
          <a:xfrm>
            <a:off x="7615238" y="4754563"/>
            <a:ext cx="53975" cy="53975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167977" name="Text Box 41"/>
          <p:cNvSpPr txBox="1">
            <a:spLocks noChangeArrowheads="1"/>
          </p:cNvSpPr>
          <p:nvPr/>
        </p:nvSpPr>
        <p:spPr bwMode="auto">
          <a:xfrm>
            <a:off x="5765800" y="4403725"/>
            <a:ext cx="738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  <a:ea typeface="黑体" pitchFamily="2" charset="-122"/>
              </a:rPr>
              <a:t>5</a:t>
            </a:r>
          </a:p>
        </p:txBody>
      </p:sp>
      <p:sp>
        <p:nvSpPr>
          <p:cNvPr id="167978" name="Text Box 42"/>
          <p:cNvSpPr txBox="1">
            <a:spLocks noChangeArrowheads="1"/>
          </p:cNvSpPr>
          <p:nvPr/>
        </p:nvSpPr>
        <p:spPr bwMode="auto">
          <a:xfrm>
            <a:off x="482600" y="4883150"/>
            <a:ext cx="4648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在点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的正下方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5 mm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即</a:t>
            </a:r>
            <a:r>
              <a:rPr lang="zh-CN" altLang="en-US" sz="2400">
                <a:ea typeface="黑体" pitchFamily="2" charset="-122"/>
              </a:rPr>
              <a:t>点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12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）。</a:t>
            </a:r>
          </a:p>
        </p:txBody>
      </p:sp>
      <p:grpSp>
        <p:nvGrpSpPr>
          <p:cNvPr id="39961" name="Group 46"/>
          <p:cNvGrpSpPr>
            <a:grpSpLocks/>
          </p:cNvGrpSpPr>
          <p:nvPr/>
        </p:nvGrpSpPr>
        <p:grpSpPr bwMode="auto">
          <a:xfrm>
            <a:off x="4791075" y="622300"/>
            <a:ext cx="3698875" cy="2959100"/>
            <a:chOff x="3018" y="392"/>
            <a:chExt cx="2330" cy="1864"/>
          </a:xfrm>
        </p:grpSpPr>
        <p:sp>
          <p:nvSpPr>
            <p:cNvPr id="39963" name="Line 47"/>
            <p:cNvSpPr>
              <a:spLocks noChangeShapeType="1"/>
            </p:cNvSpPr>
            <p:nvPr/>
          </p:nvSpPr>
          <p:spPr bwMode="auto">
            <a:xfrm>
              <a:off x="3286" y="1320"/>
              <a:ext cx="1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4" name="Text Box 48"/>
            <p:cNvSpPr txBox="1">
              <a:spLocks noChangeArrowheads="1"/>
            </p:cNvSpPr>
            <p:nvPr/>
          </p:nvSpPr>
          <p:spPr bwMode="auto">
            <a:xfrm>
              <a:off x="3018" y="1079"/>
              <a:ext cx="13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 </a:t>
              </a:r>
              <a:r>
                <a:rPr lang="en-US" altLang="zh-CN" sz="1800" i="1">
                  <a:latin typeface="ISOCPEUR" pitchFamily="34" charset="0"/>
                </a:rPr>
                <a:t>X                      O </a:t>
              </a:r>
            </a:p>
          </p:txBody>
        </p:sp>
        <p:sp>
          <p:nvSpPr>
            <p:cNvPr id="39965" name="Line 49"/>
            <p:cNvSpPr>
              <a:spLocks noChangeShapeType="1"/>
            </p:cNvSpPr>
            <p:nvPr/>
          </p:nvSpPr>
          <p:spPr bwMode="auto">
            <a:xfrm>
              <a:off x="4305" y="608"/>
              <a:ext cx="0" cy="1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Text Box 50"/>
            <p:cNvSpPr txBox="1">
              <a:spLocks noChangeArrowheads="1"/>
            </p:cNvSpPr>
            <p:nvPr/>
          </p:nvSpPr>
          <p:spPr bwMode="auto">
            <a:xfrm>
              <a:off x="4173" y="392"/>
              <a:ext cx="2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67" name="Text Box 51"/>
            <p:cNvSpPr txBox="1">
              <a:spLocks noChangeArrowheads="1"/>
            </p:cNvSpPr>
            <p:nvPr/>
          </p:nvSpPr>
          <p:spPr bwMode="auto">
            <a:xfrm>
              <a:off x="4230" y="2025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 Y</a:t>
              </a:r>
              <a:r>
                <a:rPr lang="en-US" altLang="zh-CN" sz="1800" i="1" baseline="-25000">
                  <a:latin typeface="ISOCPEUR" pitchFamily="34" charset="0"/>
                </a:rPr>
                <a:t>H </a:t>
              </a:r>
              <a:r>
                <a:rPr lang="en-US" altLang="zh-CN" sz="1800" i="1">
                  <a:latin typeface="ISOCPEUR" pitchFamily="34" charset="0"/>
                </a:rPr>
                <a:t>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68" name="Text Box 52"/>
            <p:cNvSpPr txBox="1">
              <a:spLocks noChangeArrowheads="1"/>
            </p:cNvSpPr>
            <p:nvPr/>
          </p:nvSpPr>
          <p:spPr bwMode="auto">
            <a:xfrm>
              <a:off x="5075" y="1130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39969" name="Line 53"/>
            <p:cNvSpPr>
              <a:spLocks noChangeShapeType="1"/>
            </p:cNvSpPr>
            <p:nvPr/>
          </p:nvSpPr>
          <p:spPr bwMode="auto">
            <a:xfrm>
              <a:off x="4300" y="1319"/>
              <a:ext cx="8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0" name="Line 54"/>
            <p:cNvSpPr>
              <a:spLocks noChangeShapeType="1"/>
            </p:cNvSpPr>
            <p:nvPr/>
          </p:nvSpPr>
          <p:spPr bwMode="auto">
            <a:xfrm>
              <a:off x="3284" y="601"/>
              <a:ext cx="0" cy="1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1" name="Line 55"/>
            <p:cNvSpPr>
              <a:spLocks noChangeShapeType="1"/>
            </p:cNvSpPr>
            <p:nvPr/>
          </p:nvSpPr>
          <p:spPr bwMode="auto">
            <a:xfrm>
              <a:off x="3284" y="601"/>
              <a:ext cx="18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2" name="Line 56"/>
            <p:cNvSpPr>
              <a:spLocks noChangeShapeType="1"/>
            </p:cNvSpPr>
            <p:nvPr/>
          </p:nvSpPr>
          <p:spPr bwMode="auto">
            <a:xfrm flipV="1">
              <a:off x="5123" y="601"/>
              <a:ext cx="0" cy="7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3" name="Line 57"/>
            <p:cNvSpPr>
              <a:spLocks noChangeShapeType="1"/>
            </p:cNvSpPr>
            <p:nvPr/>
          </p:nvSpPr>
          <p:spPr bwMode="auto">
            <a:xfrm flipH="1">
              <a:off x="3276" y="2137"/>
              <a:ext cx="1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4" name="Text Box 58"/>
            <p:cNvSpPr txBox="1">
              <a:spLocks noChangeArrowheads="1"/>
            </p:cNvSpPr>
            <p:nvPr/>
          </p:nvSpPr>
          <p:spPr bwMode="auto">
            <a:xfrm>
              <a:off x="3221" y="557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V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75" name="Text Box 59"/>
            <p:cNvSpPr txBox="1">
              <a:spLocks noChangeArrowheads="1"/>
            </p:cNvSpPr>
            <p:nvPr/>
          </p:nvSpPr>
          <p:spPr bwMode="auto">
            <a:xfrm>
              <a:off x="4927" y="557"/>
              <a:ext cx="2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W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9976" name="Text Box 60"/>
            <p:cNvSpPr txBox="1">
              <a:spLocks noChangeArrowheads="1"/>
            </p:cNvSpPr>
            <p:nvPr/>
          </p:nvSpPr>
          <p:spPr bwMode="auto">
            <a:xfrm>
              <a:off x="3232" y="1943"/>
              <a:ext cx="2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H </a:t>
              </a:r>
              <a:endParaRPr lang="en-US" altLang="zh-CN" sz="2400" i="1">
                <a:latin typeface="ISOCPEUR" pitchFamily="34" charset="0"/>
              </a:endParaRPr>
            </a:p>
          </p:txBody>
        </p:sp>
      </p:grp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427038" y="1738313"/>
            <a:ext cx="4516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判断</a:t>
            </a:r>
            <a:r>
              <a:rPr lang="en-US" altLang="zh-CN" sz="2400">
                <a:ea typeface="黑体" pitchFamily="2" charset="-122"/>
              </a:rPr>
              <a:t>V</a:t>
            </a:r>
            <a:r>
              <a:rPr lang="zh-CN" altLang="en-US" sz="2400">
                <a:ea typeface="黑体" pitchFamily="2" charset="-122"/>
              </a:rPr>
              <a:t>、</a:t>
            </a:r>
            <a:r>
              <a:rPr lang="en-US" altLang="zh-CN" sz="2400">
                <a:ea typeface="黑体" pitchFamily="2" charset="-122"/>
              </a:rPr>
              <a:t>W</a:t>
            </a:r>
            <a:r>
              <a:rPr lang="zh-CN" altLang="en-US" sz="2400">
                <a:ea typeface="黑体" pitchFamily="2" charset="-122"/>
              </a:rPr>
              <a:t>和</a:t>
            </a:r>
            <a:r>
              <a:rPr lang="en-US" altLang="zh-CN" sz="2400">
                <a:ea typeface="黑体" pitchFamily="2" charset="-122"/>
              </a:rPr>
              <a:t>H</a:t>
            </a:r>
            <a:r>
              <a:rPr lang="zh-CN" altLang="en-US" sz="2400">
                <a:ea typeface="黑体" pitchFamily="2" charset="-122"/>
              </a:rPr>
              <a:t>面表达的方位</a:t>
            </a:r>
            <a:endParaRPr lang="zh-CN" altLang="en-US" sz="280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7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7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0.00347 L -1.94444E-6 0.0622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679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7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62" grpId="0" autoUpdateAnimBg="0"/>
      <p:bldP spid="167963" grpId="0" autoUpdateAnimBg="0"/>
      <p:bldP spid="167964" grpId="0" autoUpdateAnimBg="0"/>
      <p:bldP spid="167965" grpId="0" autoUpdateAnimBg="0"/>
      <p:bldP spid="167966" grpId="0" autoUpdateAnimBg="0"/>
      <p:bldP spid="167967" grpId="0" autoUpdateAnimBg="0"/>
      <p:bldP spid="167968" grpId="0" autoUpdateAnimBg="0"/>
      <p:bldP spid="167969" grpId="0" autoUpdateAnimBg="0"/>
      <p:bldP spid="167971" grpId="0" autoUpdateAnimBg="0"/>
      <p:bldP spid="167972" grpId="0" autoUpdateAnimBg="0"/>
      <p:bldP spid="167973" grpId="0" animBg="1"/>
      <p:bldP spid="167974" grpId="0" animBg="1"/>
      <p:bldP spid="167974" grpId="1" animBg="1"/>
      <p:bldP spid="167975" grpId="0" autoUpdateAnimBg="0"/>
      <p:bldP spid="167976" grpId="0" animBg="1"/>
      <p:bldP spid="167977" grpId="0"/>
      <p:bldP spid="16797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4" name="Text Box 36"/>
          <p:cNvSpPr txBox="1">
            <a:spLocks noChangeArrowheads="1"/>
          </p:cNvSpPr>
          <p:nvPr/>
        </p:nvSpPr>
        <p:spPr bwMode="auto">
          <a:xfrm>
            <a:off x="6169025" y="2619375"/>
            <a:ext cx="977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ISOCPEUR" pitchFamily="34" charset="0"/>
              </a:rPr>
              <a:t> ≡</a:t>
            </a:r>
            <a:r>
              <a:rPr lang="en-US" altLang="zh-CN" sz="1800" i="1">
                <a:latin typeface="ISOCPEUR" pitchFamily="34" charset="0"/>
                <a:ea typeface="黑体" pitchFamily="2" charset="-122"/>
              </a:rPr>
              <a:t>b    </a:t>
            </a:r>
          </a:p>
        </p:txBody>
      </p:sp>
      <p:sp>
        <p:nvSpPr>
          <p:cNvPr id="22566" name="Rectangle 38"/>
          <p:cNvSpPr>
            <a:spLocks noChangeArrowheads="1"/>
          </p:cNvSpPr>
          <p:nvPr/>
        </p:nvSpPr>
        <p:spPr bwMode="auto">
          <a:xfrm>
            <a:off x="4859338" y="28575"/>
            <a:ext cx="4270375" cy="37957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2562" name="AutoShape 34"/>
          <p:cNvSpPr>
            <a:spLocks noChangeArrowheads="1"/>
          </p:cNvSpPr>
          <p:nvPr/>
        </p:nvSpPr>
        <p:spPr bwMode="auto">
          <a:xfrm>
            <a:off x="6122988" y="2681288"/>
            <a:ext cx="61912" cy="619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3625" y="471488"/>
            <a:ext cx="4071938" cy="2959100"/>
            <a:chOff x="2853" y="2386"/>
            <a:chExt cx="2565" cy="1864"/>
          </a:xfrm>
        </p:grpSpPr>
        <p:sp>
          <p:nvSpPr>
            <p:cNvPr id="40975" name="AutoShape 5"/>
            <p:cNvSpPr>
              <a:spLocks noChangeArrowheads="1"/>
            </p:cNvSpPr>
            <p:nvPr/>
          </p:nvSpPr>
          <p:spPr bwMode="auto">
            <a:xfrm>
              <a:off x="3640" y="3865"/>
              <a:ext cx="35" cy="35"/>
            </a:xfrm>
            <a:prstGeom prst="flowChartConnector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0976" name="Text Box 6"/>
            <p:cNvSpPr txBox="1">
              <a:spLocks noChangeArrowheads="1"/>
            </p:cNvSpPr>
            <p:nvPr/>
          </p:nvSpPr>
          <p:spPr bwMode="auto">
            <a:xfrm>
              <a:off x="3629" y="371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40977" name="AutoShape 7"/>
            <p:cNvSpPr>
              <a:spLocks noChangeArrowheads="1"/>
            </p:cNvSpPr>
            <p:nvPr/>
          </p:nvSpPr>
          <p:spPr bwMode="auto">
            <a:xfrm>
              <a:off x="3640" y="3781"/>
              <a:ext cx="35" cy="36"/>
            </a:xfrm>
            <a:prstGeom prst="flowChartConnector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0978" name="AutoShape 8"/>
            <p:cNvSpPr>
              <a:spLocks noChangeArrowheads="1"/>
            </p:cNvSpPr>
            <p:nvPr/>
          </p:nvSpPr>
          <p:spPr bwMode="auto">
            <a:xfrm>
              <a:off x="3642" y="2794"/>
              <a:ext cx="35" cy="36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40979" name="Text Box 9"/>
            <p:cNvSpPr txBox="1">
              <a:spLocks noChangeArrowheads="1"/>
            </p:cNvSpPr>
            <p:nvPr/>
          </p:nvSpPr>
          <p:spPr bwMode="auto">
            <a:xfrm>
              <a:off x="3520" y="2562"/>
              <a:ext cx="40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000" i="1">
                <a:solidFill>
                  <a:srgbClr val="CCFF33"/>
                </a:solidFill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40980" name="Line 10"/>
            <p:cNvSpPr>
              <a:spLocks noChangeShapeType="1"/>
            </p:cNvSpPr>
            <p:nvPr/>
          </p:nvSpPr>
          <p:spPr bwMode="auto">
            <a:xfrm>
              <a:off x="3141" y="3310"/>
              <a:ext cx="1157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Text Box 11"/>
            <p:cNvSpPr txBox="1">
              <a:spLocks noChangeArrowheads="1"/>
            </p:cNvSpPr>
            <p:nvPr/>
          </p:nvSpPr>
          <p:spPr bwMode="auto">
            <a:xfrm>
              <a:off x="2853" y="3093"/>
              <a:ext cx="15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ISOCPEUR" pitchFamily="34" charset="0"/>
                </a:rPr>
                <a:t> </a:t>
              </a:r>
              <a:r>
                <a:rPr lang="en-US" altLang="zh-CN" sz="1800" i="1">
                  <a:latin typeface="ISOCPEUR" pitchFamily="34" charset="0"/>
                </a:rPr>
                <a:t>X                           O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40982" name="Line 12"/>
            <p:cNvSpPr>
              <a:spLocks noChangeShapeType="1"/>
            </p:cNvSpPr>
            <p:nvPr/>
          </p:nvSpPr>
          <p:spPr bwMode="auto">
            <a:xfrm>
              <a:off x="3660" y="2825"/>
              <a:ext cx="0" cy="9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Line 13"/>
            <p:cNvSpPr>
              <a:spLocks noChangeShapeType="1"/>
            </p:cNvSpPr>
            <p:nvPr/>
          </p:nvSpPr>
          <p:spPr bwMode="auto">
            <a:xfrm>
              <a:off x="4304" y="2550"/>
              <a:ext cx="0" cy="15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Text Box 14"/>
            <p:cNvSpPr txBox="1">
              <a:spLocks noChangeArrowheads="1"/>
            </p:cNvSpPr>
            <p:nvPr/>
          </p:nvSpPr>
          <p:spPr bwMode="auto">
            <a:xfrm>
              <a:off x="4119" y="2386"/>
              <a:ext cx="25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40985" name="Text Box 15"/>
            <p:cNvSpPr txBox="1">
              <a:spLocks noChangeArrowheads="1"/>
            </p:cNvSpPr>
            <p:nvPr/>
          </p:nvSpPr>
          <p:spPr bwMode="auto">
            <a:xfrm>
              <a:off x="4248" y="4019"/>
              <a:ext cx="3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H</a:t>
              </a:r>
              <a:r>
                <a:rPr lang="en-US" altLang="zh-CN" sz="1800" i="1">
                  <a:latin typeface="ISOCPEUR" pitchFamily="34" charset="0"/>
                </a:rPr>
                <a:t> </a:t>
              </a:r>
            </a:p>
          </p:txBody>
        </p:sp>
        <p:sp>
          <p:nvSpPr>
            <p:cNvPr id="40986" name="Text Box 16"/>
            <p:cNvSpPr txBox="1">
              <a:spLocks noChangeArrowheads="1"/>
            </p:cNvSpPr>
            <p:nvPr/>
          </p:nvSpPr>
          <p:spPr bwMode="auto">
            <a:xfrm>
              <a:off x="5145" y="3100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W</a:t>
              </a:r>
              <a:endParaRPr lang="en-US" altLang="zh-CN" sz="2400" i="1" baseline="-25000">
                <a:latin typeface="ISOCPEUR" pitchFamily="34" charset="0"/>
              </a:endParaRPr>
            </a:p>
          </p:txBody>
        </p:sp>
        <p:sp>
          <p:nvSpPr>
            <p:cNvPr id="40987" name="Line 17"/>
            <p:cNvSpPr>
              <a:spLocks noChangeShapeType="1"/>
            </p:cNvSpPr>
            <p:nvPr/>
          </p:nvSpPr>
          <p:spPr bwMode="auto">
            <a:xfrm flipV="1">
              <a:off x="3659" y="2812"/>
              <a:ext cx="114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8" name="Line 18"/>
            <p:cNvSpPr>
              <a:spLocks noChangeShapeType="1"/>
            </p:cNvSpPr>
            <p:nvPr/>
          </p:nvSpPr>
          <p:spPr bwMode="auto">
            <a:xfrm>
              <a:off x="3659" y="3802"/>
              <a:ext cx="641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9" name="Line 19"/>
            <p:cNvSpPr>
              <a:spLocks noChangeShapeType="1"/>
            </p:cNvSpPr>
            <p:nvPr/>
          </p:nvSpPr>
          <p:spPr bwMode="auto">
            <a:xfrm>
              <a:off x="4813" y="2814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0" name="AutoShape 20"/>
            <p:cNvSpPr>
              <a:spLocks noChangeArrowheads="1"/>
            </p:cNvSpPr>
            <p:nvPr/>
          </p:nvSpPr>
          <p:spPr bwMode="auto">
            <a:xfrm>
              <a:off x="4793" y="2795"/>
              <a:ext cx="39" cy="39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>
                <a:ea typeface="黑体" pitchFamily="2" charset="-122"/>
              </a:endParaRPr>
            </a:p>
          </p:txBody>
        </p:sp>
        <p:sp>
          <p:nvSpPr>
            <p:cNvPr id="40991" name="Text Box 21"/>
            <p:cNvSpPr txBox="1">
              <a:spLocks noChangeArrowheads="1"/>
            </p:cNvSpPr>
            <p:nvPr/>
          </p:nvSpPr>
          <p:spPr bwMode="auto">
            <a:xfrm>
              <a:off x="4658" y="2581"/>
              <a:ext cx="2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a”</a:t>
              </a:r>
            </a:p>
          </p:txBody>
        </p:sp>
        <p:sp>
          <p:nvSpPr>
            <p:cNvPr id="40992" name="Text Box 22"/>
            <p:cNvSpPr txBox="1">
              <a:spLocks noChangeArrowheads="1"/>
            </p:cNvSpPr>
            <p:nvPr/>
          </p:nvSpPr>
          <p:spPr bwMode="auto">
            <a:xfrm>
              <a:off x="3404" y="3076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x</a:t>
              </a:r>
            </a:p>
          </p:txBody>
        </p:sp>
        <p:sp>
          <p:nvSpPr>
            <p:cNvPr id="40993" name="Text Box 23"/>
            <p:cNvSpPr txBox="1">
              <a:spLocks noChangeArrowheads="1"/>
            </p:cNvSpPr>
            <p:nvPr/>
          </p:nvSpPr>
          <p:spPr bwMode="auto">
            <a:xfrm>
              <a:off x="4214" y="2570"/>
              <a:ext cx="388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z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 i="1" baseline="-25000">
                <a:latin typeface="ISOCPEUR" pitchFamily="34" charset="0"/>
                <a:ea typeface="仿宋_GB2312" pitchFamily="49" charset="-122"/>
              </a:endParaRPr>
            </a:p>
          </p:txBody>
        </p:sp>
        <p:sp>
          <p:nvSpPr>
            <p:cNvPr id="40994" name="Text Box 24"/>
            <p:cNvSpPr txBox="1">
              <a:spLocks noChangeArrowheads="1"/>
            </p:cNvSpPr>
            <p:nvPr/>
          </p:nvSpPr>
          <p:spPr bwMode="auto">
            <a:xfrm>
              <a:off x="4215" y="367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YH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0995" name="Text Box 25"/>
            <p:cNvSpPr txBox="1">
              <a:spLocks noChangeArrowheads="1"/>
            </p:cNvSpPr>
            <p:nvPr/>
          </p:nvSpPr>
          <p:spPr bwMode="auto">
            <a:xfrm>
              <a:off x="4694" y="3236"/>
              <a:ext cx="3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  <a:r>
                <a:rPr lang="en-US" altLang="zh-CN" sz="2000" i="1" baseline="-25000">
                  <a:latin typeface="ISOCPEUR" pitchFamily="34" charset="0"/>
                  <a:ea typeface="仿宋_GB2312" pitchFamily="49" charset="-122"/>
                </a:rPr>
                <a:t>YW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40996" name="Line 26"/>
            <p:cNvSpPr>
              <a:spLocks noChangeShapeType="1"/>
            </p:cNvSpPr>
            <p:nvPr/>
          </p:nvSpPr>
          <p:spPr bwMode="auto">
            <a:xfrm>
              <a:off x="4299" y="3313"/>
              <a:ext cx="9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5667375" y="1309688"/>
            <a:ext cx="544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18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7824788" y="1350963"/>
            <a:ext cx="747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  <a:endParaRPr lang="en-US" altLang="zh-CN" sz="1800" i="1">
              <a:latin typeface="ISOCPEUR" pitchFamily="34" charset="0"/>
            </a:endParaRPr>
          </a:p>
        </p:txBody>
      </p:sp>
      <p:sp>
        <p:nvSpPr>
          <p:cNvPr id="22561" name="Line 33"/>
          <p:cNvSpPr>
            <a:spLocks noChangeShapeType="1"/>
          </p:cNvSpPr>
          <p:nvPr/>
        </p:nvSpPr>
        <p:spPr bwMode="auto">
          <a:xfrm>
            <a:off x="6154738" y="155098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65" name="Text Box 37"/>
          <p:cNvSpPr txBox="1">
            <a:spLocks noChangeArrowheads="1"/>
          </p:cNvSpPr>
          <p:nvPr/>
        </p:nvSpPr>
        <p:spPr bwMode="auto">
          <a:xfrm>
            <a:off x="263679" y="4052991"/>
            <a:ext cx="7242175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可见性的判断和表示方法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利用其它投影判断。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不可见点的投影用加圆括号的方式表示。</a:t>
            </a:r>
          </a:p>
        </p:txBody>
      </p:sp>
      <p:sp>
        <p:nvSpPr>
          <p:cNvPr id="22555" name="AutoShape 27"/>
          <p:cNvSpPr>
            <a:spLocks noChangeArrowheads="1"/>
          </p:cNvSpPr>
          <p:nvPr/>
        </p:nvSpPr>
        <p:spPr bwMode="auto">
          <a:xfrm>
            <a:off x="6126163" y="1519238"/>
            <a:ext cx="61912" cy="61912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2560" name="AutoShape 32"/>
          <p:cNvSpPr>
            <a:spLocks noChangeArrowheads="1"/>
          </p:cNvSpPr>
          <p:nvPr/>
        </p:nvSpPr>
        <p:spPr bwMode="auto">
          <a:xfrm>
            <a:off x="7953375" y="1520825"/>
            <a:ext cx="61913" cy="61913"/>
          </a:xfrm>
          <a:prstGeom prst="flowChartConnector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2400">
              <a:ea typeface="黑体" pitchFamily="2" charset="-122"/>
            </a:endParaRP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6337300" y="2630488"/>
            <a:ext cx="407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ISOCPEUR" pitchFamily="34" charset="0"/>
                <a:ea typeface="黑体" pitchFamily="2" charset="-122"/>
              </a:rPr>
              <a:t>(</a:t>
            </a: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1800" b="0">
                <a:latin typeface="ISOCPEUR" pitchFamily="34" charset="0"/>
                <a:ea typeface="黑体" pitchFamily="2" charset="-122"/>
              </a:rPr>
              <a:t>)</a:t>
            </a:r>
          </a:p>
        </p:txBody>
      </p:sp>
      <p:sp>
        <p:nvSpPr>
          <p:cNvPr id="40974" name="Text Box 39"/>
          <p:cNvSpPr txBox="1">
            <a:spLocks noChangeArrowheads="1"/>
          </p:cNvSpPr>
          <p:nvPr/>
        </p:nvSpPr>
        <p:spPr bwMode="auto">
          <a:xfrm>
            <a:off x="272303" y="190992"/>
            <a:ext cx="4995043" cy="272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四．重影点及可见性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endParaRPr lang="zh-CN" altLang="en-US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定义：当空间两点处在对某投影面的同一条投影线上时，它们在该投影面上的投影重合，这两点称为对该投影面的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重影点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64" grpId="0" autoUpdateAnimBg="0"/>
      <p:bldP spid="22566" grpId="0" animBg="1"/>
      <p:bldP spid="22562" grpId="0" animBg="1"/>
      <p:bldP spid="22556" grpId="0" autoUpdateAnimBg="0"/>
      <p:bldP spid="22559" grpId="0" autoUpdateAnimBg="0"/>
      <p:bldP spid="22561" grpId="0" animBg="1"/>
      <p:bldP spid="22565" grpId="0" build="p" autoUpdateAnimBg="0"/>
      <p:bldP spid="22555" grpId="0" animBg="1"/>
      <p:bldP spid="22560" grpId="0" animBg="1"/>
      <p:bldP spid="2255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30250" y="1822450"/>
            <a:ext cx="2571750" cy="2757488"/>
            <a:chOff x="504" y="891"/>
            <a:chExt cx="1620" cy="1737"/>
          </a:xfrm>
        </p:grpSpPr>
        <p:grpSp>
          <p:nvGrpSpPr>
            <p:cNvPr id="4140" name="Group 3"/>
            <p:cNvGrpSpPr>
              <a:grpSpLocks/>
            </p:cNvGrpSpPr>
            <p:nvPr/>
          </p:nvGrpSpPr>
          <p:grpSpPr bwMode="auto">
            <a:xfrm>
              <a:off x="504" y="2112"/>
              <a:ext cx="1620" cy="516"/>
              <a:chOff x="492" y="2304"/>
              <a:chExt cx="1620" cy="516"/>
            </a:xfrm>
          </p:grpSpPr>
          <p:sp>
            <p:nvSpPr>
              <p:cNvPr id="4144" name="Freeform 4"/>
              <p:cNvSpPr>
                <a:spLocks/>
              </p:cNvSpPr>
              <p:nvPr/>
            </p:nvSpPr>
            <p:spPr bwMode="auto">
              <a:xfrm flipV="1">
                <a:off x="492" y="2304"/>
                <a:ext cx="1620" cy="516"/>
              </a:xfrm>
              <a:custGeom>
                <a:avLst/>
                <a:gdLst>
                  <a:gd name="T0" fmla="*/ 516 w 1620"/>
                  <a:gd name="T1" fmla="*/ 0 h 516"/>
                  <a:gd name="T2" fmla="*/ 1620 w 1620"/>
                  <a:gd name="T3" fmla="*/ 0 h 516"/>
                  <a:gd name="T4" fmla="*/ 1104 w 1620"/>
                  <a:gd name="T5" fmla="*/ 516 h 516"/>
                  <a:gd name="T6" fmla="*/ 0 w 1620"/>
                  <a:gd name="T7" fmla="*/ 516 h 516"/>
                  <a:gd name="T8" fmla="*/ 516 w 1620"/>
                  <a:gd name="T9" fmla="*/ 0 h 5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0"/>
                  <a:gd name="T16" fmla="*/ 0 h 516"/>
                  <a:gd name="T17" fmla="*/ 1620 w 1620"/>
                  <a:gd name="T18" fmla="*/ 516 h 5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0" h="516">
                    <a:moveTo>
                      <a:pt x="516" y="0"/>
                    </a:moveTo>
                    <a:lnTo>
                      <a:pt x="1620" y="0"/>
                    </a:lnTo>
                    <a:lnTo>
                      <a:pt x="1104" y="516"/>
                    </a:lnTo>
                    <a:lnTo>
                      <a:pt x="0" y="516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45" name="Freeform 5"/>
              <p:cNvSpPr>
                <a:spLocks/>
              </p:cNvSpPr>
              <p:nvPr/>
            </p:nvSpPr>
            <p:spPr bwMode="auto">
              <a:xfrm>
                <a:off x="492" y="2304"/>
                <a:ext cx="1620" cy="516"/>
              </a:xfrm>
              <a:custGeom>
                <a:avLst/>
                <a:gdLst>
                  <a:gd name="T0" fmla="*/ 0 w 1620"/>
                  <a:gd name="T1" fmla="*/ 0 h 516"/>
                  <a:gd name="T2" fmla="*/ 516 w 1620"/>
                  <a:gd name="T3" fmla="*/ 516 h 516"/>
                  <a:gd name="T4" fmla="*/ 1620 w 1620"/>
                  <a:gd name="T5" fmla="*/ 516 h 516"/>
                  <a:gd name="T6" fmla="*/ 0 60000 65536"/>
                  <a:gd name="T7" fmla="*/ 0 60000 65536"/>
                  <a:gd name="T8" fmla="*/ 0 60000 65536"/>
                  <a:gd name="T9" fmla="*/ 0 w 1620"/>
                  <a:gd name="T10" fmla="*/ 0 h 516"/>
                  <a:gd name="T11" fmla="*/ 1620 w 1620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0" h="516">
                    <a:moveTo>
                      <a:pt x="0" y="0"/>
                    </a:moveTo>
                    <a:lnTo>
                      <a:pt x="516" y="516"/>
                    </a:lnTo>
                    <a:lnTo>
                      <a:pt x="1620" y="5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41" name="Line 6"/>
            <p:cNvSpPr>
              <a:spLocks noChangeShapeType="1"/>
            </p:cNvSpPr>
            <p:nvPr/>
          </p:nvSpPr>
          <p:spPr bwMode="auto">
            <a:xfrm>
              <a:off x="1176" y="1092"/>
              <a:ext cx="0" cy="6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2" name="Text Box 7"/>
            <p:cNvSpPr txBox="1">
              <a:spLocks noChangeArrowheads="1"/>
            </p:cNvSpPr>
            <p:nvPr/>
          </p:nvSpPr>
          <p:spPr bwMode="auto">
            <a:xfrm>
              <a:off x="1204" y="891"/>
              <a:ext cx="231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latin typeface="ISOCPEUR" pitchFamily="34" charset="0"/>
                </a:rPr>
                <a:t>A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b="0">
                <a:latin typeface="ISOCPEUR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400" b="0">
                <a:latin typeface="ISOCPEUR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4143" name="Text Box 8"/>
            <p:cNvSpPr txBox="1">
              <a:spLocks noChangeArrowheads="1"/>
            </p:cNvSpPr>
            <p:nvPr/>
          </p:nvSpPr>
          <p:spPr bwMode="auto">
            <a:xfrm>
              <a:off x="623" y="204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 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225800" y="1912938"/>
            <a:ext cx="2571750" cy="2686050"/>
            <a:chOff x="2076" y="948"/>
            <a:chExt cx="1620" cy="1692"/>
          </a:xfrm>
        </p:grpSpPr>
        <p:grpSp>
          <p:nvGrpSpPr>
            <p:cNvPr id="4133" name="Group 10"/>
            <p:cNvGrpSpPr>
              <a:grpSpLocks/>
            </p:cNvGrpSpPr>
            <p:nvPr/>
          </p:nvGrpSpPr>
          <p:grpSpPr bwMode="auto">
            <a:xfrm>
              <a:off x="2076" y="2124"/>
              <a:ext cx="1620" cy="516"/>
              <a:chOff x="492" y="2304"/>
              <a:chExt cx="1620" cy="516"/>
            </a:xfrm>
          </p:grpSpPr>
          <p:sp>
            <p:nvSpPr>
              <p:cNvPr id="4138" name="Freeform 11"/>
              <p:cNvSpPr>
                <a:spLocks/>
              </p:cNvSpPr>
              <p:nvPr/>
            </p:nvSpPr>
            <p:spPr bwMode="auto">
              <a:xfrm flipV="1">
                <a:off x="492" y="2304"/>
                <a:ext cx="1620" cy="516"/>
              </a:xfrm>
              <a:custGeom>
                <a:avLst/>
                <a:gdLst>
                  <a:gd name="T0" fmla="*/ 516 w 1620"/>
                  <a:gd name="T1" fmla="*/ 0 h 516"/>
                  <a:gd name="T2" fmla="*/ 1620 w 1620"/>
                  <a:gd name="T3" fmla="*/ 0 h 516"/>
                  <a:gd name="T4" fmla="*/ 1104 w 1620"/>
                  <a:gd name="T5" fmla="*/ 516 h 516"/>
                  <a:gd name="T6" fmla="*/ 0 w 1620"/>
                  <a:gd name="T7" fmla="*/ 516 h 516"/>
                  <a:gd name="T8" fmla="*/ 516 w 1620"/>
                  <a:gd name="T9" fmla="*/ 0 h 5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0"/>
                  <a:gd name="T16" fmla="*/ 0 h 516"/>
                  <a:gd name="T17" fmla="*/ 1620 w 1620"/>
                  <a:gd name="T18" fmla="*/ 516 h 5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0" h="516">
                    <a:moveTo>
                      <a:pt x="516" y="0"/>
                    </a:moveTo>
                    <a:lnTo>
                      <a:pt x="1620" y="0"/>
                    </a:lnTo>
                    <a:lnTo>
                      <a:pt x="1104" y="516"/>
                    </a:lnTo>
                    <a:lnTo>
                      <a:pt x="0" y="516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9" name="Freeform 12"/>
              <p:cNvSpPr>
                <a:spLocks/>
              </p:cNvSpPr>
              <p:nvPr/>
            </p:nvSpPr>
            <p:spPr bwMode="auto">
              <a:xfrm>
                <a:off x="492" y="2304"/>
                <a:ext cx="1620" cy="516"/>
              </a:xfrm>
              <a:custGeom>
                <a:avLst/>
                <a:gdLst>
                  <a:gd name="T0" fmla="*/ 0 w 1620"/>
                  <a:gd name="T1" fmla="*/ 0 h 516"/>
                  <a:gd name="T2" fmla="*/ 516 w 1620"/>
                  <a:gd name="T3" fmla="*/ 516 h 516"/>
                  <a:gd name="T4" fmla="*/ 1620 w 1620"/>
                  <a:gd name="T5" fmla="*/ 516 h 516"/>
                  <a:gd name="T6" fmla="*/ 0 60000 65536"/>
                  <a:gd name="T7" fmla="*/ 0 60000 65536"/>
                  <a:gd name="T8" fmla="*/ 0 60000 65536"/>
                  <a:gd name="T9" fmla="*/ 0 w 1620"/>
                  <a:gd name="T10" fmla="*/ 0 h 516"/>
                  <a:gd name="T11" fmla="*/ 1620 w 1620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0" h="516">
                    <a:moveTo>
                      <a:pt x="0" y="0"/>
                    </a:moveTo>
                    <a:lnTo>
                      <a:pt x="516" y="516"/>
                    </a:lnTo>
                    <a:lnTo>
                      <a:pt x="1620" y="5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34" name="Line 13"/>
            <p:cNvSpPr>
              <a:spLocks noChangeShapeType="1"/>
            </p:cNvSpPr>
            <p:nvPr/>
          </p:nvSpPr>
          <p:spPr bwMode="auto">
            <a:xfrm>
              <a:off x="2580" y="1200"/>
              <a:ext cx="660" cy="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5" name="Text Box 14"/>
            <p:cNvSpPr txBox="1">
              <a:spLocks noChangeArrowheads="1"/>
            </p:cNvSpPr>
            <p:nvPr/>
          </p:nvSpPr>
          <p:spPr bwMode="auto">
            <a:xfrm>
              <a:off x="2436" y="948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</a:rPr>
                <a:t>C</a:t>
              </a:r>
              <a:endParaRPr lang="en-US" altLang="zh-CN" sz="2400" b="0" i="1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4136" name="Text Box 15"/>
            <p:cNvSpPr txBox="1">
              <a:spLocks noChangeArrowheads="1"/>
            </p:cNvSpPr>
            <p:nvPr/>
          </p:nvSpPr>
          <p:spPr bwMode="auto">
            <a:xfrm>
              <a:off x="3233" y="1308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</a:rPr>
                <a:t>D</a:t>
              </a:r>
              <a:endParaRPr lang="en-US" altLang="zh-CN" sz="2400" b="0" i="1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4137" name="Text Box 16"/>
            <p:cNvSpPr txBox="1">
              <a:spLocks noChangeArrowheads="1"/>
            </p:cNvSpPr>
            <p:nvPr/>
          </p:nvSpPr>
          <p:spPr bwMode="auto">
            <a:xfrm>
              <a:off x="2195" y="2070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 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5673725" y="1951038"/>
            <a:ext cx="2571750" cy="2647950"/>
            <a:chOff x="3615" y="969"/>
            <a:chExt cx="1620" cy="1668"/>
          </a:xfrm>
        </p:grpSpPr>
        <p:grpSp>
          <p:nvGrpSpPr>
            <p:cNvPr id="4126" name="Group 18"/>
            <p:cNvGrpSpPr>
              <a:grpSpLocks/>
            </p:cNvGrpSpPr>
            <p:nvPr/>
          </p:nvGrpSpPr>
          <p:grpSpPr bwMode="auto">
            <a:xfrm>
              <a:off x="3615" y="2121"/>
              <a:ext cx="1620" cy="516"/>
              <a:chOff x="492" y="2304"/>
              <a:chExt cx="1620" cy="516"/>
            </a:xfrm>
          </p:grpSpPr>
          <p:sp>
            <p:nvSpPr>
              <p:cNvPr id="4131" name="Freeform 19"/>
              <p:cNvSpPr>
                <a:spLocks/>
              </p:cNvSpPr>
              <p:nvPr/>
            </p:nvSpPr>
            <p:spPr bwMode="auto">
              <a:xfrm flipV="1">
                <a:off x="492" y="2304"/>
                <a:ext cx="1620" cy="516"/>
              </a:xfrm>
              <a:custGeom>
                <a:avLst/>
                <a:gdLst>
                  <a:gd name="T0" fmla="*/ 516 w 1620"/>
                  <a:gd name="T1" fmla="*/ 0 h 516"/>
                  <a:gd name="T2" fmla="*/ 1620 w 1620"/>
                  <a:gd name="T3" fmla="*/ 0 h 516"/>
                  <a:gd name="T4" fmla="*/ 1104 w 1620"/>
                  <a:gd name="T5" fmla="*/ 516 h 516"/>
                  <a:gd name="T6" fmla="*/ 0 w 1620"/>
                  <a:gd name="T7" fmla="*/ 516 h 516"/>
                  <a:gd name="T8" fmla="*/ 516 w 1620"/>
                  <a:gd name="T9" fmla="*/ 0 h 5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20"/>
                  <a:gd name="T16" fmla="*/ 0 h 516"/>
                  <a:gd name="T17" fmla="*/ 1620 w 1620"/>
                  <a:gd name="T18" fmla="*/ 516 h 5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20" h="516">
                    <a:moveTo>
                      <a:pt x="516" y="0"/>
                    </a:moveTo>
                    <a:lnTo>
                      <a:pt x="1620" y="0"/>
                    </a:lnTo>
                    <a:lnTo>
                      <a:pt x="1104" y="516"/>
                    </a:lnTo>
                    <a:lnTo>
                      <a:pt x="0" y="516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2" name="Freeform 20"/>
              <p:cNvSpPr>
                <a:spLocks/>
              </p:cNvSpPr>
              <p:nvPr/>
            </p:nvSpPr>
            <p:spPr bwMode="auto">
              <a:xfrm>
                <a:off x="492" y="2304"/>
                <a:ext cx="1620" cy="516"/>
              </a:xfrm>
              <a:custGeom>
                <a:avLst/>
                <a:gdLst>
                  <a:gd name="T0" fmla="*/ 0 w 1620"/>
                  <a:gd name="T1" fmla="*/ 0 h 516"/>
                  <a:gd name="T2" fmla="*/ 516 w 1620"/>
                  <a:gd name="T3" fmla="*/ 516 h 516"/>
                  <a:gd name="T4" fmla="*/ 1620 w 1620"/>
                  <a:gd name="T5" fmla="*/ 516 h 516"/>
                  <a:gd name="T6" fmla="*/ 0 60000 65536"/>
                  <a:gd name="T7" fmla="*/ 0 60000 65536"/>
                  <a:gd name="T8" fmla="*/ 0 60000 65536"/>
                  <a:gd name="T9" fmla="*/ 0 w 1620"/>
                  <a:gd name="T10" fmla="*/ 0 h 516"/>
                  <a:gd name="T11" fmla="*/ 1620 w 1620"/>
                  <a:gd name="T12" fmla="*/ 516 h 5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0" h="516">
                    <a:moveTo>
                      <a:pt x="0" y="0"/>
                    </a:moveTo>
                    <a:lnTo>
                      <a:pt x="516" y="516"/>
                    </a:lnTo>
                    <a:lnTo>
                      <a:pt x="1620" y="516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27" name="Line 21"/>
            <p:cNvSpPr>
              <a:spLocks noChangeShapeType="1"/>
            </p:cNvSpPr>
            <p:nvPr/>
          </p:nvSpPr>
          <p:spPr bwMode="auto">
            <a:xfrm>
              <a:off x="4080" y="1197"/>
              <a:ext cx="699" cy="53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Text Box 22"/>
            <p:cNvSpPr txBox="1">
              <a:spLocks noChangeArrowheads="1"/>
            </p:cNvSpPr>
            <p:nvPr/>
          </p:nvSpPr>
          <p:spPr bwMode="auto">
            <a:xfrm>
              <a:off x="3710" y="2049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 </a:t>
              </a:r>
            </a:p>
          </p:txBody>
        </p:sp>
        <p:sp>
          <p:nvSpPr>
            <p:cNvPr id="4129" name="Text Box 23"/>
            <p:cNvSpPr txBox="1">
              <a:spLocks noChangeArrowheads="1"/>
            </p:cNvSpPr>
            <p:nvPr/>
          </p:nvSpPr>
          <p:spPr bwMode="auto">
            <a:xfrm>
              <a:off x="4059" y="969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solidFill>
                    <a:srgbClr val="0000CC"/>
                  </a:solidFill>
                  <a:latin typeface="ISOCPEUR" pitchFamily="34" charset="0"/>
                </a:rPr>
                <a:t>E 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4130" name="Text Box 24"/>
            <p:cNvSpPr txBox="1">
              <a:spLocks noChangeArrowheads="1"/>
            </p:cNvSpPr>
            <p:nvPr/>
          </p:nvSpPr>
          <p:spPr bwMode="auto">
            <a:xfrm>
              <a:off x="4761" y="1569"/>
              <a:ext cx="2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solidFill>
                    <a:srgbClr val="0000CC"/>
                  </a:solidFill>
                  <a:latin typeface="ISOCPEUR" pitchFamily="34" charset="0"/>
                </a:rPr>
                <a:t>F </a:t>
              </a:r>
              <a:endParaRPr lang="en-US" altLang="zh-CN" sz="2400" b="0" i="1">
                <a:latin typeface="ISOCPEUR" pitchFamily="34" charset="0"/>
              </a:endParaRPr>
            </a:p>
          </p:txBody>
        </p:sp>
      </p:grpSp>
      <p:sp>
        <p:nvSpPr>
          <p:cNvPr id="4102" name="Rectangle 25"/>
          <p:cNvSpPr>
            <a:spLocks noChangeArrowheads="1"/>
          </p:cNvSpPr>
          <p:nvPr/>
        </p:nvSpPr>
        <p:spPr bwMode="auto">
          <a:xfrm>
            <a:off x="341313" y="238125"/>
            <a:ext cx="8802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§4.2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　直线的投影</a:t>
            </a:r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1801813" y="315595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59" name="AutoShape 27"/>
          <p:cNvSpPr>
            <a:spLocks noChangeArrowheads="1"/>
          </p:cNvSpPr>
          <p:nvPr/>
        </p:nvSpPr>
        <p:spPr bwMode="auto">
          <a:xfrm>
            <a:off x="1763713" y="4089400"/>
            <a:ext cx="74612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1658938" y="4071938"/>
            <a:ext cx="731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 </a:t>
            </a:r>
            <a:endParaRPr lang="en-US" altLang="zh-CN" sz="1800" i="1">
              <a:solidFill>
                <a:srgbClr val="D60093"/>
              </a:solidFill>
              <a:latin typeface="ISOCPEUR" pitchFamily="34" charset="0"/>
            </a:endParaRPr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330200" y="4881563"/>
            <a:ext cx="881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ea typeface="黑体" pitchFamily="2" charset="-122"/>
              </a:rPr>
              <a:t> </a:t>
            </a:r>
            <a:r>
              <a:rPr lang="zh-CN" altLang="en-US" sz="2000">
                <a:ea typeface="黑体" pitchFamily="2" charset="-122"/>
              </a:rPr>
              <a:t>直线</a:t>
            </a:r>
            <a:r>
              <a:rPr lang="zh-CN" altLang="zh-CN" sz="2000">
                <a:ea typeface="黑体" pitchFamily="2" charset="-122"/>
              </a:rPr>
              <a:t>垂直于</a:t>
            </a:r>
            <a:r>
              <a:rPr lang="zh-CN" altLang="en-US" sz="2000">
                <a:ea typeface="黑体" pitchFamily="2" charset="-122"/>
              </a:rPr>
              <a:t>投影面：直线在该投影面上的投影积聚为点</a:t>
            </a:r>
          </a:p>
        </p:txBody>
      </p:sp>
      <p:sp>
        <p:nvSpPr>
          <p:cNvPr id="120862" name="Line 30"/>
          <p:cNvSpPr>
            <a:spLocks noChangeShapeType="1"/>
          </p:cNvSpPr>
          <p:nvPr/>
        </p:nvSpPr>
        <p:spPr bwMode="auto">
          <a:xfrm>
            <a:off x="4030663" y="3898900"/>
            <a:ext cx="1047750" cy="514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4030663" y="2317750"/>
            <a:ext cx="0" cy="158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4" name="Line 32"/>
          <p:cNvSpPr>
            <a:spLocks noChangeShapeType="1"/>
          </p:cNvSpPr>
          <p:nvPr/>
        </p:nvSpPr>
        <p:spPr bwMode="auto">
          <a:xfrm>
            <a:off x="5078413" y="2832100"/>
            <a:ext cx="0" cy="158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5" name="Text Box 33"/>
          <p:cNvSpPr txBox="1">
            <a:spLocks noChangeArrowheads="1"/>
          </p:cNvSpPr>
          <p:nvPr/>
        </p:nvSpPr>
        <p:spPr bwMode="auto">
          <a:xfrm>
            <a:off x="3821113" y="3822700"/>
            <a:ext cx="306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3300"/>
                </a:solidFill>
                <a:latin typeface="ISOCPEUR" pitchFamily="34" charset="0"/>
              </a:rPr>
              <a:t>c</a:t>
            </a:r>
            <a:endParaRPr lang="en-US" altLang="zh-CN" sz="2400" b="0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20866" name="Text Box 34"/>
          <p:cNvSpPr txBox="1">
            <a:spLocks noChangeArrowheads="1"/>
          </p:cNvSpPr>
          <p:nvPr/>
        </p:nvSpPr>
        <p:spPr bwMode="auto">
          <a:xfrm>
            <a:off x="4972050" y="421322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FF3300"/>
                </a:solidFill>
                <a:latin typeface="ISOCPEUR" pitchFamily="34" charset="0"/>
              </a:rPr>
              <a:t>d</a:t>
            </a:r>
            <a:endParaRPr lang="en-US" altLang="zh-CN" sz="2400" b="0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20867" name="Line 35"/>
          <p:cNvSpPr>
            <a:spLocks noChangeShapeType="1"/>
          </p:cNvSpPr>
          <p:nvPr/>
        </p:nvSpPr>
        <p:spPr bwMode="auto">
          <a:xfrm>
            <a:off x="6411913" y="4003675"/>
            <a:ext cx="1104900" cy="2857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8" name="Line 36"/>
          <p:cNvSpPr>
            <a:spLocks noChangeShapeType="1"/>
          </p:cNvSpPr>
          <p:nvPr/>
        </p:nvSpPr>
        <p:spPr bwMode="auto">
          <a:xfrm flipH="1" flipV="1">
            <a:off x="6411913" y="2879725"/>
            <a:ext cx="11049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9" name="Line 37"/>
          <p:cNvSpPr>
            <a:spLocks noChangeShapeType="1"/>
          </p:cNvSpPr>
          <p:nvPr/>
        </p:nvSpPr>
        <p:spPr bwMode="auto">
          <a:xfrm>
            <a:off x="6411913" y="2327275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0" name="Line 38"/>
          <p:cNvSpPr>
            <a:spLocks noChangeShapeType="1"/>
          </p:cNvSpPr>
          <p:nvPr/>
        </p:nvSpPr>
        <p:spPr bwMode="auto">
          <a:xfrm>
            <a:off x="7516813" y="3155950"/>
            <a:ext cx="0" cy="1123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1" name="Text Box 39"/>
          <p:cNvSpPr txBox="1">
            <a:spLocks noChangeArrowheads="1"/>
          </p:cNvSpPr>
          <p:nvPr/>
        </p:nvSpPr>
        <p:spPr bwMode="auto">
          <a:xfrm>
            <a:off x="6164263" y="3879850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CC"/>
                </a:solidFill>
                <a:latin typeface="ISOCPEUR" pitchFamily="34" charset="0"/>
              </a:rPr>
              <a:t>e</a:t>
            </a:r>
            <a:endParaRPr lang="en-US" altLang="zh-CN" sz="2400" b="0" i="1">
              <a:latin typeface="ISOCPEUR" pitchFamily="34" charset="0"/>
            </a:endParaRPr>
          </a:p>
        </p:txBody>
      </p:sp>
      <p:sp>
        <p:nvSpPr>
          <p:cNvPr id="120872" name="Text Box 40"/>
          <p:cNvSpPr txBox="1">
            <a:spLocks noChangeArrowheads="1"/>
          </p:cNvSpPr>
          <p:nvPr/>
        </p:nvSpPr>
        <p:spPr bwMode="auto">
          <a:xfrm>
            <a:off x="7258050" y="4241800"/>
            <a:ext cx="306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CC"/>
                </a:solidFill>
                <a:latin typeface="ISOCPEUR" pitchFamily="34" charset="0"/>
              </a:rPr>
              <a:t>f</a:t>
            </a:r>
            <a:endParaRPr lang="en-US" altLang="zh-CN" sz="2400" b="0" i="1">
              <a:solidFill>
                <a:srgbClr val="0000CC"/>
              </a:solidFill>
              <a:latin typeface="ISOCPEUR" pitchFamily="34" charset="0"/>
            </a:endParaRPr>
          </a:p>
        </p:txBody>
      </p:sp>
      <p:sp>
        <p:nvSpPr>
          <p:cNvPr id="120873" name="Arc 41"/>
          <p:cNvSpPr>
            <a:spLocks/>
          </p:cNvSpPr>
          <p:nvPr/>
        </p:nvSpPr>
        <p:spPr bwMode="auto">
          <a:xfrm>
            <a:off x="6972300" y="2794000"/>
            <a:ext cx="546100" cy="361950"/>
          </a:xfrm>
          <a:custGeom>
            <a:avLst/>
            <a:gdLst>
              <a:gd name="T0" fmla="*/ 0 w 21156"/>
              <a:gd name="T1" fmla="*/ 2147483647 h 11027"/>
              <a:gd name="T2" fmla="*/ 2147483647 w 21156"/>
              <a:gd name="T3" fmla="*/ 0 h 11027"/>
              <a:gd name="T4" fmla="*/ 2147483647 w 21156"/>
              <a:gd name="T5" fmla="*/ 2147483647 h 11027"/>
              <a:gd name="T6" fmla="*/ 0 60000 65536"/>
              <a:gd name="T7" fmla="*/ 0 60000 65536"/>
              <a:gd name="T8" fmla="*/ 0 60000 65536"/>
              <a:gd name="T9" fmla="*/ 0 w 21156"/>
              <a:gd name="T10" fmla="*/ 0 h 11027"/>
              <a:gd name="T11" fmla="*/ 21156 w 21156"/>
              <a:gd name="T12" fmla="*/ 11027 h 110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56" h="11027" fill="none" extrusionOk="0">
                <a:moveTo>
                  <a:pt x="-1" y="6669"/>
                </a:moveTo>
                <a:cubicBezTo>
                  <a:pt x="484" y="4318"/>
                  <a:pt x="1357" y="2064"/>
                  <a:pt x="2582" y="-1"/>
                </a:cubicBezTo>
              </a:path>
              <a:path w="21156" h="11027" stroke="0" extrusionOk="0">
                <a:moveTo>
                  <a:pt x="-1" y="6669"/>
                </a:moveTo>
                <a:cubicBezTo>
                  <a:pt x="484" y="4318"/>
                  <a:pt x="1357" y="2064"/>
                  <a:pt x="2582" y="-1"/>
                </a:cubicBezTo>
                <a:lnTo>
                  <a:pt x="21156" y="11027"/>
                </a:lnTo>
                <a:lnTo>
                  <a:pt x="-1" y="666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4" name="Text Box 42"/>
          <p:cNvSpPr txBox="1">
            <a:spLocks noChangeArrowheads="1"/>
          </p:cNvSpPr>
          <p:nvPr/>
        </p:nvSpPr>
        <p:spPr bwMode="auto">
          <a:xfrm>
            <a:off x="6702425" y="2616200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ym typeface="UniversalMath1 BT" pitchFamily="18" charset="2"/>
              </a:rPr>
              <a:t></a:t>
            </a:r>
            <a:endParaRPr lang="en-US" altLang="zh-CN" sz="2400" b="0"/>
          </a:p>
        </p:txBody>
      </p:sp>
      <p:sp>
        <p:nvSpPr>
          <p:cNvPr id="120875" name="Text Box 43"/>
          <p:cNvSpPr txBox="1">
            <a:spLocks noChangeArrowheads="1"/>
          </p:cNvSpPr>
          <p:nvPr/>
        </p:nvSpPr>
        <p:spPr bwMode="auto">
          <a:xfrm>
            <a:off x="341313" y="5273675"/>
            <a:ext cx="873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ea typeface="黑体" pitchFamily="2" charset="-122"/>
              </a:rPr>
              <a:t> </a:t>
            </a:r>
            <a:r>
              <a:rPr lang="zh-CN" altLang="en-US" sz="2000">
                <a:ea typeface="黑体" pitchFamily="2" charset="-122"/>
              </a:rPr>
              <a:t>直线</a:t>
            </a:r>
            <a:r>
              <a:rPr lang="zh-CN" altLang="zh-CN" sz="2000">
                <a:ea typeface="黑体" pitchFamily="2" charset="-122"/>
              </a:rPr>
              <a:t>平行于</a:t>
            </a:r>
            <a:r>
              <a:rPr lang="zh-CN" altLang="en-US" sz="2000">
                <a:ea typeface="黑体" pitchFamily="2" charset="-122"/>
              </a:rPr>
              <a:t>投影面：直线在该投影面上的投影反映实长</a:t>
            </a:r>
          </a:p>
        </p:txBody>
      </p:sp>
      <p:sp>
        <p:nvSpPr>
          <p:cNvPr id="120876" name="Text Box 44"/>
          <p:cNvSpPr txBox="1">
            <a:spLocks noChangeArrowheads="1"/>
          </p:cNvSpPr>
          <p:nvPr/>
        </p:nvSpPr>
        <p:spPr bwMode="auto">
          <a:xfrm>
            <a:off x="349250" y="5654675"/>
            <a:ext cx="8729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>
                <a:ea typeface="黑体" pitchFamily="2" charset="-122"/>
              </a:rPr>
              <a:t> </a:t>
            </a:r>
            <a:r>
              <a:rPr lang="zh-CN" altLang="en-US" sz="2000">
                <a:ea typeface="黑体" pitchFamily="2" charset="-122"/>
              </a:rPr>
              <a:t>直线</a:t>
            </a:r>
            <a:r>
              <a:rPr lang="zh-CN" altLang="zh-CN" sz="2000">
                <a:ea typeface="黑体" pitchFamily="2" charset="-122"/>
              </a:rPr>
              <a:t>倾斜于</a:t>
            </a:r>
            <a:r>
              <a:rPr lang="zh-CN" altLang="en-US" sz="2000">
                <a:ea typeface="黑体" pitchFamily="2" charset="-122"/>
              </a:rPr>
              <a:t>投影面：直线在该投影面上的投影缩短</a:t>
            </a:r>
          </a:p>
        </p:txBody>
      </p:sp>
      <p:sp>
        <p:nvSpPr>
          <p:cNvPr id="4122" name="Rectangle 45"/>
          <p:cNvSpPr>
            <a:spLocks noChangeArrowheads="1"/>
          </p:cNvSpPr>
          <p:nvPr/>
        </p:nvSpPr>
        <p:spPr bwMode="auto">
          <a:xfrm>
            <a:off x="696913" y="1117600"/>
            <a:ext cx="82264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一．直线在单一投影面上的投影</a:t>
            </a:r>
          </a:p>
        </p:txBody>
      </p:sp>
      <p:sp>
        <p:nvSpPr>
          <p:cNvPr id="120878" name="Text Box 46"/>
          <p:cNvSpPr txBox="1">
            <a:spLocks noChangeArrowheads="1"/>
          </p:cNvSpPr>
          <p:nvPr/>
        </p:nvSpPr>
        <p:spPr bwMode="auto">
          <a:xfrm>
            <a:off x="7137400" y="4843463"/>
            <a:ext cx="1479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积聚性</a:t>
            </a:r>
          </a:p>
        </p:txBody>
      </p:sp>
      <p:sp>
        <p:nvSpPr>
          <p:cNvPr id="120879" name="Text Box 47"/>
          <p:cNvSpPr txBox="1">
            <a:spLocks noChangeArrowheads="1"/>
          </p:cNvSpPr>
          <p:nvPr/>
        </p:nvSpPr>
        <p:spPr bwMode="auto">
          <a:xfrm>
            <a:off x="7143750" y="5280025"/>
            <a:ext cx="1479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实形性</a:t>
            </a:r>
          </a:p>
        </p:txBody>
      </p:sp>
      <p:sp>
        <p:nvSpPr>
          <p:cNvPr id="120880" name="Text Box 48"/>
          <p:cNvSpPr txBox="1">
            <a:spLocks noChangeArrowheads="1"/>
          </p:cNvSpPr>
          <p:nvPr/>
        </p:nvSpPr>
        <p:spPr bwMode="auto">
          <a:xfrm>
            <a:off x="7154863" y="5699125"/>
            <a:ext cx="1479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ea typeface="黑体" pitchFamily="2" charset="-122"/>
              </a:rPr>
              <a:t>类似性</a:t>
            </a:r>
          </a:p>
        </p:txBody>
      </p:sp>
    </p:spTree>
    <p:extLst>
      <p:ext uri="{BB962C8B-B14F-4D97-AF65-F5344CB8AC3E}">
        <p14:creationId xmlns:p14="http://schemas.microsoft.com/office/powerpoint/2010/main" val="177736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0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2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3" dur="500"/>
                                        <p:tgtEl>
                                          <p:spTgt spid="1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8" dur="500"/>
                                        <p:tgtEl>
                                          <p:spTgt spid="1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1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8" grpId="0" animBg="1"/>
      <p:bldP spid="120859" grpId="0" animBg="1"/>
      <p:bldP spid="120860" grpId="0" autoUpdateAnimBg="0"/>
      <p:bldP spid="120861" grpId="0" autoUpdateAnimBg="0"/>
      <p:bldP spid="120862" grpId="0" animBg="1"/>
      <p:bldP spid="120863" grpId="0" animBg="1"/>
      <p:bldP spid="120864" grpId="0" animBg="1"/>
      <p:bldP spid="120865" grpId="0" autoUpdateAnimBg="0"/>
      <p:bldP spid="120866" grpId="0" autoUpdateAnimBg="0"/>
      <p:bldP spid="120867" grpId="0" animBg="1"/>
      <p:bldP spid="120868" grpId="0" animBg="1"/>
      <p:bldP spid="120869" grpId="0" animBg="1"/>
      <p:bldP spid="120870" grpId="0" animBg="1"/>
      <p:bldP spid="120871" grpId="0" autoUpdateAnimBg="0"/>
      <p:bldP spid="120872" grpId="0" autoUpdateAnimBg="0"/>
      <p:bldP spid="120873" grpId="0" animBg="1"/>
      <p:bldP spid="120874" grpId="0" autoUpdateAnimBg="0"/>
      <p:bldP spid="120875" grpId="0" autoUpdateAnimBg="0"/>
      <p:bldP spid="120876" grpId="0" autoUpdateAnimBg="0"/>
      <p:bldP spid="120878" grpId="0" autoUpdateAnimBg="0"/>
      <p:bldP spid="120879" grpId="0" autoUpdateAnimBg="0"/>
      <p:bldP spid="12088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二．直线在三投影面体系中的投影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341313" y="2430463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 1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．投影面垂直线的投影</a:t>
            </a: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377825" y="3143250"/>
            <a:ext cx="865028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在三投影面体系中，当直线垂直于某一个投影面时，则必同时平行于另两个投影面，这样的直线称为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投影面垂直线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共有三种投影面垂直线：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铅垂线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直线⊥投影面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正垂线</a:t>
            </a:r>
            <a:endParaRPr lang="zh-CN" altLang="en-US" sz="24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侧垂线</a:t>
            </a:r>
          </a:p>
        </p:txBody>
      </p:sp>
      <p:graphicFrame>
        <p:nvGraphicFramePr>
          <p:cNvPr id="121892" name="Group 36"/>
          <p:cNvGraphicFramePr>
            <a:graphicFrameLocks noGrp="1"/>
          </p:cNvGraphicFramePr>
          <p:nvPr/>
        </p:nvGraphicFramePr>
        <p:xfrm>
          <a:off x="1371600" y="1311275"/>
          <a:ext cx="5876925" cy="877888"/>
        </p:xfrm>
        <a:graphic>
          <a:graphicData uri="http://schemas.openxmlformats.org/drawingml/2006/table">
            <a:tbl>
              <a:tblPr/>
              <a:tblGrid>
                <a:gridCol w="294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相对于投影面名称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规定夹角的名称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</a:t>
                      </a:r>
                      <a:endParaRPr kumimoji="1" lang="en-US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</a:t>
                      </a:r>
                      <a:endParaRPr kumimoji="1" lang="en-US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  <a:sym typeface="Symbol" pitchFamily="18" charset="2"/>
                        </a:rPr>
                        <a:t></a:t>
                      </a:r>
                      <a:endParaRPr kumimoji="1" lang="en-US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2" charset="-122"/>
                        <a:ea typeface="黑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338138" y="874713"/>
            <a:ext cx="8821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sz="2000">
                <a:latin typeface="黑体" pitchFamily="2" charset="-122"/>
                <a:ea typeface="黑体" pitchFamily="2" charset="-122"/>
              </a:rPr>
              <a:t>直线与投影面夹角的规定名称</a:t>
            </a:r>
          </a:p>
        </p:txBody>
      </p:sp>
    </p:spTree>
    <p:extLst>
      <p:ext uri="{BB962C8B-B14F-4D97-AF65-F5344CB8AC3E}">
        <p14:creationId xmlns:p14="http://schemas.microsoft.com/office/powerpoint/2010/main" val="192120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1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1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21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 autoUpdateAnimBg="0"/>
      <p:bldP spid="121861" grpId="0" build="p" autoUpdateAnimBg="0"/>
      <p:bldP spid="12188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2"/>
          <p:cNvGrpSpPr>
            <a:grpSpLocks/>
          </p:cNvGrpSpPr>
          <p:nvPr/>
        </p:nvGrpSpPr>
        <p:grpSpPr bwMode="auto">
          <a:xfrm>
            <a:off x="5160963" y="1427163"/>
            <a:ext cx="3556000" cy="3211512"/>
            <a:chOff x="3251" y="899"/>
            <a:chExt cx="2240" cy="2023"/>
          </a:xfrm>
        </p:grpSpPr>
        <p:sp>
          <p:nvSpPr>
            <p:cNvPr id="6195" name="Line 3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196" name="Group 4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6197" name="Rectangle 5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6198" name="Freeform 6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9" name="Freeform 7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0" name="Freeform 8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1" name="Line 9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2" name="Freeform 10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3" name="Text Box 11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6204" name="Text Box 12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6205" name="Text Box 13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6148" name="Text Box 14"/>
          <p:cNvSpPr txBox="1">
            <a:spLocks noChangeArrowheads="1"/>
          </p:cNvSpPr>
          <p:nvPr/>
        </p:nvSpPr>
        <p:spPr bwMode="auto">
          <a:xfrm>
            <a:off x="192088" y="152400"/>
            <a:ext cx="8951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以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正垂线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AB 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为例，讨论其投影特性：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6149" name="Group 15"/>
          <p:cNvGrpSpPr>
            <a:grpSpLocks/>
          </p:cNvGrpSpPr>
          <p:nvPr/>
        </p:nvGrpSpPr>
        <p:grpSpPr bwMode="auto">
          <a:xfrm>
            <a:off x="19050" y="590550"/>
            <a:ext cx="4494213" cy="4229100"/>
            <a:chOff x="12" y="372"/>
            <a:chExt cx="2831" cy="2664"/>
          </a:xfrm>
        </p:grpSpPr>
        <p:sp>
          <p:nvSpPr>
            <p:cNvPr id="6188" name="Line 16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9" name="Line 17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0" name="Text Box 18"/>
            <p:cNvSpPr txBox="1">
              <a:spLocks noChangeArrowheads="1"/>
            </p:cNvSpPr>
            <p:nvPr/>
          </p:nvSpPr>
          <p:spPr bwMode="auto">
            <a:xfrm>
              <a:off x="12" y="145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6191" name="Text Box 19"/>
            <p:cNvSpPr txBox="1">
              <a:spLocks noChangeArrowheads="1"/>
            </p:cNvSpPr>
            <p:nvPr/>
          </p:nvSpPr>
          <p:spPr bwMode="auto">
            <a:xfrm>
              <a:off x="1302" y="147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6192" name="Text Box 20"/>
            <p:cNvSpPr txBox="1">
              <a:spLocks noChangeArrowheads="1"/>
            </p:cNvSpPr>
            <p:nvPr/>
          </p:nvSpPr>
          <p:spPr bwMode="auto">
            <a:xfrm>
              <a:off x="2518" y="1416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6193" name="Text Box 21"/>
            <p:cNvSpPr txBox="1">
              <a:spLocks noChangeArrowheads="1"/>
            </p:cNvSpPr>
            <p:nvPr/>
          </p:nvSpPr>
          <p:spPr bwMode="auto">
            <a:xfrm>
              <a:off x="1313" y="372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6194" name="Text Box 22"/>
            <p:cNvSpPr txBox="1">
              <a:spLocks noChangeArrowheads="1"/>
            </p:cNvSpPr>
            <p:nvPr/>
          </p:nvSpPr>
          <p:spPr bwMode="auto">
            <a:xfrm>
              <a:off x="1344" y="2748"/>
              <a:ext cx="2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</a:t>
              </a:r>
            </a:p>
          </p:txBody>
        </p:sp>
      </p:grpSp>
      <p:sp>
        <p:nvSpPr>
          <p:cNvPr id="122903" name="Line 23"/>
          <p:cNvSpPr>
            <a:spLocks noChangeShapeType="1"/>
          </p:cNvSpPr>
          <p:nvPr/>
        </p:nvSpPr>
        <p:spPr bwMode="auto">
          <a:xfrm>
            <a:off x="6921500" y="3387725"/>
            <a:ext cx="12890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4" name="Line 24"/>
          <p:cNvSpPr>
            <a:spLocks noChangeShapeType="1"/>
          </p:cNvSpPr>
          <p:nvPr/>
        </p:nvSpPr>
        <p:spPr bwMode="auto">
          <a:xfrm>
            <a:off x="6381750" y="2847975"/>
            <a:ext cx="13017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5" name="Line 25"/>
          <p:cNvSpPr>
            <a:spLocks noChangeShapeType="1"/>
          </p:cNvSpPr>
          <p:nvPr/>
        </p:nvSpPr>
        <p:spPr bwMode="auto">
          <a:xfrm>
            <a:off x="6908800" y="33877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6" name="Line 26"/>
          <p:cNvSpPr>
            <a:spLocks noChangeShapeType="1"/>
          </p:cNvSpPr>
          <p:nvPr/>
        </p:nvSpPr>
        <p:spPr bwMode="auto">
          <a:xfrm>
            <a:off x="6375400" y="28543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7" name="Line 27"/>
          <p:cNvSpPr>
            <a:spLocks noChangeShapeType="1"/>
          </p:cNvSpPr>
          <p:nvPr/>
        </p:nvSpPr>
        <p:spPr bwMode="auto">
          <a:xfrm flipH="1" flipV="1">
            <a:off x="6203950" y="2676525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8" name="AutoShape 28"/>
          <p:cNvSpPr>
            <a:spLocks noChangeArrowheads="1"/>
          </p:cNvSpPr>
          <p:nvPr/>
        </p:nvSpPr>
        <p:spPr bwMode="auto">
          <a:xfrm>
            <a:off x="6170613" y="26431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2909" name="Line 29"/>
          <p:cNvSpPr>
            <a:spLocks noChangeShapeType="1"/>
          </p:cNvSpPr>
          <p:nvPr/>
        </p:nvSpPr>
        <p:spPr bwMode="auto">
          <a:xfrm>
            <a:off x="6381750" y="2854325"/>
            <a:ext cx="5334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0" name="Line 30"/>
          <p:cNvSpPr>
            <a:spLocks noChangeShapeType="1"/>
          </p:cNvSpPr>
          <p:nvPr/>
        </p:nvSpPr>
        <p:spPr bwMode="auto">
          <a:xfrm>
            <a:off x="6370638" y="3832225"/>
            <a:ext cx="52705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1" name="Line 31"/>
          <p:cNvSpPr>
            <a:spLocks noChangeShapeType="1"/>
          </p:cNvSpPr>
          <p:nvPr/>
        </p:nvSpPr>
        <p:spPr bwMode="auto">
          <a:xfrm>
            <a:off x="7677150" y="2854325"/>
            <a:ext cx="52705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2" name="Text Box 32"/>
          <p:cNvSpPr txBox="1">
            <a:spLocks noChangeArrowheads="1"/>
          </p:cNvSpPr>
          <p:nvPr/>
        </p:nvSpPr>
        <p:spPr bwMode="auto">
          <a:xfrm>
            <a:off x="6840538" y="3028950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A</a:t>
            </a:r>
          </a:p>
        </p:txBody>
      </p:sp>
      <p:sp>
        <p:nvSpPr>
          <p:cNvPr id="122913" name="Text Box 33"/>
          <p:cNvSpPr txBox="1">
            <a:spLocks noChangeArrowheads="1"/>
          </p:cNvSpPr>
          <p:nvPr/>
        </p:nvSpPr>
        <p:spPr bwMode="auto">
          <a:xfrm>
            <a:off x="6081713" y="2705100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B</a:t>
            </a:r>
          </a:p>
        </p:txBody>
      </p:sp>
      <p:sp>
        <p:nvSpPr>
          <p:cNvPr id="122914" name="Text Box 34"/>
          <p:cNvSpPr txBox="1">
            <a:spLocks noChangeArrowheads="1"/>
          </p:cNvSpPr>
          <p:nvPr/>
        </p:nvSpPr>
        <p:spPr bwMode="auto">
          <a:xfrm>
            <a:off x="5780088" y="2335213"/>
            <a:ext cx="1127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a'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22915" name="Text Box 35"/>
          <p:cNvSpPr txBox="1">
            <a:spLocks noChangeArrowheads="1"/>
          </p:cNvSpPr>
          <p:nvPr/>
        </p:nvSpPr>
        <p:spPr bwMode="auto">
          <a:xfrm>
            <a:off x="6864350" y="42211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22916" name="Text Box 36"/>
          <p:cNvSpPr txBox="1">
            <a:spLocks noChangeArrowheads="1"/>
          </p:cNvSpPr>
          <p:nvPr/>
        </p:nvSpPr>
        <p:spPr bwMode="auto">
          <a:xfrm>
            <a:off x="6097588" y="3721100"/>
            <a:ext cx="2905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</a:p>
        </p:txBody>
      </p:sp>
      <p:sp>
        <p:nvSpPr>
          <p:cNvPr id="122917" name="Text Box 37"/>
          <p:cNvSpPr txBox="1">
            <a:spLocks noChangeArrowheads="1"/>
          </p:cNvSpPr>
          <p:nvPr/>
        </p:nvSpPr>
        <p:spPr bwMode="auto">
          <a:xfrm>
            <a:off x="7502525" y="2505075"/>
            <a:ext cx="49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2918" name="Text Box 38"/>
          <p:cNvSpPr txBox="1">
            <a:spLocks noChangeArrowheads="1"/>
          </p:cNvSpPr>
          <p:nvPr/>
        </p:nvSpPr>
        <p:spPr bwMode="auto">
          <a:xfrm>
            <a:off x="8118475" y="3249613"/>
            <a:ext cx="506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 </a:t>
            </a:r>
          </a:p>
        </p:txBody>
      </p:sp>
      <p:sp>
        <p:nvSpPr>
          <p:cNvPr id="122919" name="Text Box 39"/>
          <p:cNvSpPr txBox="1">
            <a:spLocks noChangeArrowheads="1"/>
          </p:cNvSpPr>
          <p:nvPr/>
        </p:nvSpPr>
        <p:spPr bwMode="auto">
          <a:xfrm>
            <a:off x="436563" y="1516063"/>
            <a:ext cx="900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a’</a:t>
            </a:r>
            <a:r>
              <a:rPr lang="en-US" altLang="zh-CN" sz="800" i="1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 </a:t>
            </a:r>
          </a:p>
        </p:txBody>
      </p:sp>
      <p:sp>
        <p:nvSpPr>
          <p:cNvPr id="122920" name="Line 40"/>
          <p:cNvSpPr>
            <a:spLocks noChangeShapeType="1"/>
          </p:cNvSpPr>
          <p:nvPr/>
        </p:nvSpPr>
        <p:spPr bwMode="auto">
          <a:xfrm>
            <a:off x="723900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1" name="Text Box 41"/>
          <p:cNvSpPr txBox="1">
            <a:spLocks noChangeArrowheads="1"/>
          </p:cNvSpPr>
          <p:nvPr/>
        </p:nvSpPr>
        <p:spPr bwMode="auto">
          <a:xfrm>
            <a:off x="381000" y="401161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22922" name="Text Box 42"/>
          <p:cNvSpPr txBox="1">
            <a:spLocks noChangeArrowheads="1"/>
          </p:cNvSpPr>
          <p:nvPr/>
        </p:nvSpPr>
        <p:spPr bwMode="auto">
          <a:xfrm>
            <a:off x="363538" y="2997200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 </a:t>
            </a:r>
          </a:p>
        </p:txBody>
      </p:sp>
      <p:sp>
        <p:nvSpPr>
          <p:cNvPr id="122923" name="Line 43"/>
          <p:cNvSpPr>
            <a:spLocks noChangeShapeType="1"/>
          </p:cNvSpPr>
          <p:nvPr/>
        </p:nvSpPr>
        <p:spPr bwMode="auto">
          <a:xfrm>
            <a:off x="2085975" y="2705100"/>
            <a:ext cx="17145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4" name="Line 44"/>
          <p:cNvSpPr>
            <a:spLocks noChangeShapeType="1"/>
          </p:cNvSpPr>
          <p:nvPr/>
        </p:nvSpPr>
        <p:spPr bwMode="auto">
          <a:xfrm>
            <a:off x="723900" y="1924050"/>
            <a:ext cx="136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5" name="Line 45"/>
          <p:cNvSpPr>
            <a:spLocks noChangeShapeType="1"/>
          </p:cNvSpPr>
          <p:nvPr/>
        </p:nvSpPr>
        <p:spPr bwMode="auto">
          <a:xfrm>
            <a:off x="720725" y="4260850"/>
            <a:ext cx="292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6" name="Line 46"/>
          <p:cNvSpPr>
            <a:spLocks noChangeShapeType="1"/>
          </p:cNvSpPr>
          <p:nvPr/>
        </p:nvSpPr>
        <p:spPr bwMode="auto">
          <a:xfrm flipV="1">
            <a:off x="3640138" y="1949450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7" name="Text Box 47"/>
          <p:cNvSpPr txBox="1">
            <a:spLocks noChangeArrowheads="1"/>
          </p:cNvSpPr>
          <p:nvPr/>
        </p:nvSpPr>
        <p:spPr bwMode="auto">
          <a:xfrm>
            <a:off x="3492500" y="1554163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122928" name="Line 48"/>
          <p:cNvSpPr>
            <a:spLocks noChangeShapeType="1"/>
          </p:cNvSpPr>
          <p:nvPr/>
        </p:nvSpPr>
        <p:spPr bwMode="auto">
          <a:xfrm>
            <a:off x="723900" y="3143250"/>
            <a:ext cx="0" cy="1123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9" name="Line 49"/>
          <p:cNvSpPr>
            <a:spLocks noChangeShapeType="1"/>
          </p:cNvSpPr>
          <p:nvPr/>
        </p:nvSpPr>
        <p:spPr bwMode="auto">
          <a:xfrm>
            <a:off x="723900" y="3143250"/>
            <a:ext cx="180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0" name="Line 50"/>
          <p:cNvSpPr>
            <a:spLocks noChangeShapeType="1"/>
          </p:cNvSpPr>
          <p:nvPr/>
        </p:nvSpPr>
        <p:spPr bwMode="auto">
          <a:xfrm flipV="1">
            <a:off x="2528888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1" name="Line 51"/>
          <p:cNvSpPr>
            <a:spLocks noChangeShapeType="1"/>
          </p:cNvSpPr>
          <p:nvPr/>
        </p:nvSpPr>
        <p:spPr bwMode="auto">
          <a:xfrm>
            <a:off x="2089150" y="1930400"/>
            <a:ext cx="155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2" name="Line 52"/>
          <p:cNvSpPr>
            <a:spLocks noChangeShapeType="1"/>
          </p:cNvSpPr>
          <p:nvPr/>
        </p:nvSpPr>
        <p:spPr bwMode="auto">
          <a:xfrm>
            <a:off x="2533650" y="1930400"/>
            <a:ext cx="1111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3" name="Text Box 53"/>
          <p:cNvSpPr txBox="1">
            <a:spLocks noChangeArrowheads="1"/>
          </p:cNvSpPr>
          <p:nvPr/>
        </p:nvSpPr>
        <p:spPr bwMode="auto">
          <a:xfrm>
            <a:off x="2393950" y="1554163"/>
            <a:ext cx="392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22934" name="Text Box 54"/>
          <p:cNvSpPr txBox="1">
            <a:spLocks noChangeArrowheads="1"/>
          </p:cNvSpPr>
          <p:nvPr/>
        </p:nvSpPr>
        <p:spPr bwMode="auto">
          <a:xfrm>
            <a:off x="2871788" y="693738"/>
            <a:ext cx="6272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  <a:sym typeface="Symbol" pitchFamily="18" charset="2"/>
              </a:rPr>
              <a:t>∵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⊥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zh-CN" altLang="en-US" sz="2400">
                <a:latin typeface="黑体" pitchFamily="2" charset="-122"/>
                <a:ea typeface="黑体" pitchFamily="2" charset="-122"/>
                <a:sym typeface="Symbol" pitchFamily="18" charset="2"/>
              </a:rPr>
              <a:t>∴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22935" name="Text Box 55"/>
          <p:cNvSpPr txBox="1">
            <a:spLocks noChangeArrowheads="1"/>
          </p:cNvSpPr>
          <p:nvPr/>
        </p:nvSpPr>
        <p:spPr bwMode="auto">
          <a:xfrm>
            <a:off x="255588" y="4751388"/>
            <a:ext cx="8888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①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a’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≡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b’ 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②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=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a”b”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=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=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L</a:t>
            </a:r>
            <a:r>
              <a:rPr lang="en-US" altLang="zh-CN" sz="2800" i="1" baseline="-25000">
                <a:latin typeface="ISOCPEUR" pitchFamily="34" charset="0"/>
                <a:ea typeface="黑体" pitchFamily="2" charset="-122"/>
              </a:rPr>
              <a:t>AB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　</a:t>
            </a:r>
          </a:p>
        </p:txBody>
      </p:sp>
      <p:sp>
        <p:nvSpPr>
          <p:cNvPr id="122936" name="Text Box 56"/>
          <p:cNvSpPr txBox="1">
            <a:spLocks noChangeArrowheads="1"/>
          </p:cNvSpPr>
          <p:nvPr/>
        </p:nvSpPr>
        <p:spPr bwMode="auto">
          <a:xfrm>
            <a:off x="282575" y="5272088"/>
            <a:ext cx="5702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③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ab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⊥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OX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,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a”b”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⊥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OZ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④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 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=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90°</a:t>
            </a:r>
            <a:r>
              <a:rPr lang="zh-CN" altLang="en-US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、</a:t>
            </a:r>
            <a:r>
              <a:rPr lang="zh-CN" altLang="en-US" sz="2800" i="1"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=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 </a:t>
            </a:r>
            <a:r>
              <a:rPr lang="en-US" altLang="zh-CN" sz="2800">
                <a:latin typeface="黑体" pitchFamily="2" charset="-122"/>
                <a:ea typeface="黑体" pitchFamily="2" charset="-122"/>
                <a:sym typeface="Symbol" pitchFamily="18" charset="2"/>
              </a:rPr>
              <a:t>=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0°</a:t>
            </a:r>
            <a:endParaRPr lang="en-US" altLang="zh-CN" sz="2800" i="1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122937" name="Text Box 57"/>
          <p:cNvSpPr txBox="1">
            <a:spLocks noChangeArrowheads="1"/>
          </p:cNvSpPr>
          <p:nvPr/>
        </p:nvSpPr>
        <p:spPr bwMode="auto">
          <a:xfrm>
            <a:off x="239713" y="4795838"/>
            <a:ext cx="8682037" cy="16144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ea typeface="黑体" pitchFamily="2" charset="-122"/>
              </a:rPr>
              <a:t>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    投影面垂直线在所垂直的投影面上的投影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积聚为一点；另外两个投影反映实长，且垂直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于相应的轴。</a:t>
            </a:r>
          </a:p>
        </p:txBody>
      </p:sp>
      <p:sp>
        <p:nvSpPr>
          <p:cNvPr id="122938" name="AutoShape 58"/>
          <p:cNvSpPr>
            <a:spLocks noChangeArrowheads="1"/>
          </p:cNvSpPr>
          <p:nvPr/>
        </p:nvSpPr>
        <p:spPr bwMode="auto">
          <a:xfrm>
            <a:off x="360521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2939" name="AutoShape 59"/>
          <p:cNvSpPr>
            <a:spLocks noChangeArrowheads="1"/>
          </p:cNvSpPr>
          <p:nvPr/>
        </p:nvSpPr>
        <p:spPr bwMode="auto">
          <a:xfrm>
            <a:off x="249396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2940" name="AutoShape 60"/>
          <p:cNvSpPr>
            <a:spLocks noChangeArrowheads="1"/>
          </p:cNvSpPr>
          <p:nvPr/>
        </p:nvSpPr>
        <p:spPr bwMode="auto">
          <a:xfrm>
            <a:off x="684213" y="18811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75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2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2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22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2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2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22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3" grpId="0" animBg="1"/>
      <p:bldP spid="122904" grpId="0" animBg="1"/>
      <p:bldP spid="122905" grpId="0" animBg="1"/>
      <p:bldP spid="122906" grpId="0" animBg="1"/>
      <p:bldP spid="122907" grpId="0" animBg="1"/>
      <p:bldP spid="122908" grpId="0" animBg="1" autoUpdateAnimBg="0"/>
      <p:bldP spid="122909" grpId="0" animBg="1"/>
      <p:bldP spid="122910" grpId="0" animBg="1"/>
      <p:bldP spid="122911" grpId="0" animBg="1"/>
      <p:bldP spid="122912" grpId="0" autoUpdateAnimBg="0"/>
      <p:bldP spid="122913" grpId="0" autoUpdateAnimBg="0"/>
      <p:bldP spid="122914" grpId="0" autoUpdateAnimBg="0"/>
      <p:bldP spid="122915" grpId="0" autoUpdateAnimBg="0"/>
      <p:bldP spid="122916" grpId="0" autoUpdateAnimBg="0"/>
      <p:bldP spid="122917" grpId="0" autoUpdateAnimBg="0"/>
      <p:bldP spid="122918" grpId="0" autoUpdateAnimBg="0"/>
      <p:bldP spid="122919" grpId="0" autoUpdateAnimBg="0"/>
      <p:bldP spid="122920" grpId="0" animBg="1"/>
      <p:bldP spid="122921" grpId="0" autoUpdateAnimBg="0"/>
      <p:bldP spid="122922" grpId="0" autoUpdateAnimBg="0"/>
      <p:bldP spid="122923" grpId="0" animBg="1"/>
      <p:bldP spid="122924" grpId="0" animBg="1"/>
      <p:bldP spid="122925" grpId="0" animBg="1"/>
      <p:bldP spid="122926" grpId="0" animBg="1"/>
      <p:bldP spid="122927" grpId="0" autoUpdateAnimBg="0"/>
      <p:bldP spid="122928" grpId="0" animBg="1"/>
      <p:bldP spid="122929" grpId="0" animBg="1"/>
      <p:bldP spid="122930" grpId="0" animBg="1"/>
      <p:bldP spid="122931" grpId="0" animBg="1"/>
      <p:bldP spid="122932" grpId="0" animBg="1"/>
      <p:bldP spid="122933" grpId="0" autoUpdateAnimBg="0"/>
      <p:bldP spid="122934" grpId="0"/>
      <p:bldP spid="122935" grpId="0" autoUpdateAnimBg="0"/>
      <p:bldP spid="122936" grpId="0" build="p" autoUpdateAnimBg="0"/>
      <p:bldP spid="122937" grpId="0" animBg="1" autoUpdateAnimBg="0"/>
      <p:bldP spid="122938" grpId="0" animBg="1" autoUpdateAnimBg="0"/>
      <p:bldP spid="122939" grpId="0" animBg="1" autoUpdateAnimBg="0"/>
      <p:bldP spid="122940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341313" y="41433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．投影面平行线的投影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804863" y="1633538"/>
            <a:ext cx="7110412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zh-CN" sz="2400"/>
              <a:t>    </a:t>
            </a:r>
            <a:r>
              <a:rPr lang="zh-CN" altLang="en-US" sz="2400">
                <a:ea typeface="黑体" pitchFamily="2" charset="-122"/>
              </a:rPr>
              <a:t>在三投影面体系中，当直线平行于某一个投影面，同时与另两个投影面倾斜，这样的直线称为</a:t>
            </a:r>
            <a:r>
              <a:rPr lang="zh-CN" altLang="en-US" sz="2800">
                <a:solidFill>
                  <a:srgbClr val="FF0000"/>
                </a:solidFill>
                <a:ea typeface="黑体" pitchFamily="2" charset="-122"/>
              </a:rPr>
              <a:t>投影面平行线</a:t>
            </a:r>
            <a:r>
              <a:rPr lang="zh-CN" altLang="en-US" sz="2800">
                <a:ea typeface="黑体" pitchFamily="2" charset="-122"/>
              </a:rPr>
              <a:t>。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1082675" y="3744913"/>
            <a:ext cx="6931025" cy="16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三种投影面平行线：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水平线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直线∥投影面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平</a:t>
            </a:r>
            <a:r>
              <a:rPr lang="zh-CN" altLang="zh-CN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</a:t>
            </a:r>
            <a:endParaRPr lang="zh-CN" altLang="en-US" sz="24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　　直线∥投影面 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侧平线</a:t>
            </a:r>
          </a:p>
        </p:txBody>
      </p:sp>
    </p:spTree>
    <p:extLst>
      <p:ext uri="{BB962C8B-B14F-4D97-AF65-F5344CB8AC3E}">
        <p14:creationId xmlns:p14="http://schemas.microsoft.com/office/powerpoint/2010/main" val="101916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239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23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23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160963" y="1427163"/>
            <a:ext cx="3556000" cy="3211512"/>
            <a:chOff x="3251" y="899"/>
            <a:chExt cx="2240" cy="2023"/>
          </a:xfrm>
        </p:grpSpPr>
        <p:sp>
          <p:nvSpPr>
            <p:cNvPr id="8250" name="Line 3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51" name="Group 4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8252" name="Rectangle 5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8253" name="Freeform 6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4" name="Freeform 7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5" name="Freeform 8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6" name="Line 9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7" name="Freeform 10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58" name="Text Box 11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8259" name="Text Box 12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8260" name="Text Box 13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8196" name="Text Box 14"/>
          <p:cNvSpPr txBox="1">
            <a:spLocks noChangeArrowheads="1"/>
          </p:cNvSpPr>
          <p:nvPr/>
        </p:nvSpPr>
        <p:spPr bwMode="auto">
          <a:xfrm>
            <a:off x="338138" y="207963"/>
            <a:ext cx="8805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以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水平线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CD </a:t>
            </a:r>
            <a:r>
              <a:rPr lang="zh-CN" altLang="zh-CN" sz="2800">
                <a:latin typeface="黑体" pitchFamily="2" charset="-122"/>
                <a:ea typeface="黑体" pitchFamily="2" charset="-122"/>
              </a:rPr>
              <a:t>为例，讨论其投影特性：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590550"/>
            <a:ext cx="4478338" cy="4229100"/>
            <a:chOff x="0" y="372"/>
            <a:chExt cx="2821" cy="2664"/>
          </a:xfrm>
        </p:grpSpPr>
        <p:sp>
          <p:nvSpPr>
            <p:cNvPr id="8243" name="Line 16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4" name="Line 17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5" name="Text Box 18"/>
            <p:cNvSpPr txBox="1">
              <a:spLocks noChangeArrowheads="1"/>
            </p:cNvSpPr>
            <p:nvPr/>
          </p:nvSpPr>
          <p:spPr bwMode="auto">
            <a:xfrm>
              <a:off x="0" y="145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8246" name="Text Box 19"/>
            <p:cNvSpPr txBox="1">
              <a:spLocks noChangeArrowheads="1"/>
            </p:cNvSpPr>
            <p:nvPr/>
          </p:nvSpPr>
          <p:spPr bwMode="auto">
            <a:xfrm>
              <a:off x="1279" y="1476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8247" name="Text Box 20"/>
            <p:cNvSpPr txBox="1">
              <a:spLocks noChangeArrowheads="1"/>
            </p:cNvSpPr>
            <p:nvPr/>
          </p:nvSpPr>
          <p:spPr bwMode="auto">
            <a:xfrm>
              <a:off x="2496" y="1416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8248" name="Text Box 21"/>
            <p:cNvSpPr txBox="1">
              <a:spLocks noChangeArrowheads="1"/>
            </p:cNvSpPr>
            <p:nvPr/>
          </p:nvSpPr>
          <p:spPr bwMode="auto">
            <a:xfrm>
              <a:off x="1301" y="37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</a:t>
              </a:r>
            </a:p>
          </p:txBody>
        </p:sp>
        <p:sp>
          <p:nvSpPr>
            <p:cNvPr id="8249" name="Text Box 22"/>
            <p:cNvSpPr txBox="1">
              <a:spLocks noChangeArrowheads="1"/>
            </p:cNvSpPr>
            <p:nvPr/>
          </p:nvSpPr>
          <p:spPr bwMode="auto">
            <a:xfrm>
              <a:off x="1332" y="2748"/>
              <a:ext cx="3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</a:p>
          </p:txBody>
        </p:sp>
      </p:grpSp>
      <p:sp>
        <p:nvSpPr>
          <p:cNvPr id="124951" name="Line 23"/>
          <p:cNvSpPr>
            <a:spLocks noChangeShapeType="1"/>
          </p:cNvSpPr>
          <p:nvPr/>
        </p:nvSpPr>
        <p:spPr bwMode="auto">
          <a:xfrm flipV="1">
            <a:off x="7283450" y="3387725"/>
            <a:ext cx="9366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2" name="Line 24"/>
          <p:cNvSpPr>
            <a:spLocks noChangeShapeType="1"/>
          </p:cNvSpPr>
          <p:nvPr/>
        </p:nvSpPr>
        <p:spPr bwMode="auto">
          <a:xfrm>
            <a:off x="6381750" y="2847975"/>
            <a:ext cx="130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3" name="Line 25"/>
          <p:cNvSpPr>
            <a:spLocks noChangeShapeType="1"/>
          </p:cNvSpPr>
          <p:nvPr/>
        </p:nvSpPr>
        <p:spPr bwMode="auto">
          <a:xfrm>
            <a:off x="7289800" y="33877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4" name="Line 26"/>
          <p:cNvSpPr>
            <a:spLocks noChangeShapeType="1"/>
          </p:cNvSpPr>
          <p:nvPr/>
        </p:nvSpPr>
        <p:spPr bwMode="auto">
          <a:xfrm>
            <a:off x="6375400" y="2854325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5" name="Line 27"/>
          <p:cNvSpPr>
            <a:spLocks noChangeShapeType="1"/>
          </p:cNvSpPr>
          <p:nvPr/>
        </p:nvSpPr>
        <p:spPr bwMode="auto">
          <a:xfrm flipH="1" flipV="1">
            <a:off x="6203950" y="2676525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6" name="Line 28"/>
          <p:cNvSpPr>
            <a:spLocks noChangeShapeType="1"/>
          </p:cNvSpPr>
          <p:nvPr/>
        </p:nvSpPr>
        <p:spPr bwMode="auto">
          <a:xfrm>
            <a:off x="6375400" y="3825875"/>
            <a:ext cx="915988" cy="5445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7" name="Line 29"/>
          <p:cNvSpPr>
            <a:spLocks noChangeShapeType="1"/>
          </p:cNvSpPr>
          <p:nvPr/>
        </p:nvSpPr>
        <p:spPr bwMode="auto">
          <a:xfrm>
            <a:off x="7677150" y="2854325"/>
            <a:ext cx="533400" cy="530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58" name="Text Box 30"/>
          <p:cNvSpPr txBox="1">
            <a:spLocks noChangeArrowheads="1"/>
          </p:cNvSpPr>
          <p:nvPr/>
        </p:nvSpPr>
        <p:spPr bwMode="auto">
          <a:xfrm>
            <a:off x="6964363" y="324802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C</a:t>
            </a:r>
          </a:p>
        </p:txBody>
      </p:sp>
      <p:sp>
        <p:nvSpPr>
          <p:cNvPr id="124959" name="Text Box 31"/>
          <p:cNvSpPr txBox="1">
            <a:spLocks noChangeArrowheads="1"/>
          </p:cNvSpPr>
          <p:nvPr/>
        </p:nvSpPr>
        <p:spPr bwMode="auto">
          <a:xfrm>
            <a:off x="6083300" y="2705100"/>
            <a:ext cx="34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D</a:t>
            </a:r>
          </a:p>
        </p:txBody>
      </p:sp>
      <p:sp>
        <p:nvSpPr>
          <p:cNvPr id="124960" name="Text Box 32"/>
          <p:cNvSpPr txBox="1">
            <a:spLocks noChangeArrowheads="1"/>
          </p:cNvSpPr>
          <p:nvPr/>
        </p:nvSpPr>
        <p:spPr bwMode="auto">
          <a:xfrm>
            <a:off x="5894388" y="2335213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4961" name="Text Box 33"/>
          <p:cNvSpPr txBox="1">
            <a:spLocks noChangeArrowheads="1"/>
          </p:cNvSpPr>
          <p:nvPr/>
        </p:nvSpPr>
        <p:spPr bwMode="auto">
          <a:xfrm>
            <a:off x="6951663" y="422116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24962" name="Text Box 34"/>
          <p:cNvSpPr txBox="1">
            <a:spLocks noChangeArrowheads="1"/>
          </p:cNvSpPr>
          <p:nvPr/>
        </p:nvSpPr>
        <p:spPr bwMode="auto">
          <a:xfrm>
            <a:off x="6073775" y="372110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7502525" y="2505075"/>
            <a:ext cx="49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4964" name="Text Box 36"/>
          <p:cNvSpPr txBox="1">
            <a:spLocks noChangeArrowheads="1"/>
          </p:cNvSpPr>
          <p:nvPr/>
        </p:nvSpPr>
        <p:spPr bwMode="auto">
          <a:xfrm>
            <a:off x="8118475" y="3249613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c” </a:t>
            </a:r>
          </a:p>
        </p:txBody>
      </p:sp>
      <p:sp>
        <p:nvSpPr>
          <p:cNvPr id="124965" name="Text Box 37"/>
          <p:cNvSpPr txBox="1">
            <a:spLocks noChangeArrowheads="1"/>
          </p:cNvSpPr>
          <p:nvPr/>
        </p:nvSpPr>
        <p:spPr bwMode="auto">
          <a:xfrm>
            <a:off x="593725" y="1579563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d’ </a:t>
            </a:r>
          </a:p>
        </p:txBody>
      </p:sp>
      <p:sp>
        <p:nvSpPr>
          <p:cNvPr id="124966" name="Line 38"/>
          <p:cNvSpPr>
            <a:spLocks noChangeShapeType="1"/>
          </p:cNvSpPr>
          <p:nvPr/>
        </p:nvSpPr>
        <p:spPr bwMode="auto">
          <a:xfrm>
            <a:off x="723900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67" name="Text Box 39"/>
          <p:cNvSpPr txBox="1">
            <a:spLocks noChangeArrowheads="1"/>
          </p:cNvSpPr>
          <p:nvPr/>
        </p:nvSpPr>
        <p:spPr bwMode="auto">
          <a:xfrm>
            <a:off x="903288" y="401161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24968" name="Text Box 40"/>
          <p:cNvSpPr txBox="1">
            <a:spLocks noChangeArrowheads="1"/>
          </p:cNvSpPr>
          <p:nvPr/>
        </p:nvSpPr>
        <p:spPr bwMode="auto">
          <a:xfrm>
            <a:off x="387350" y="2997200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</a:p>
        </p:txBody>
      </p:sp>
      <p:sp>
        <p:nvSpPr>
          <p:cNvPr id="124969" name="Line 41"/>
          <p:cNvSpPr>
            <a:spLocks noChangeShapeType="1"/>
          </p:cNvSpPr>
          <p:nvPr/>
        </p:nvSpPr>
        <p:spPr bwMode="auto">
          <a:xfrm>
            <a:off x="2095500" y="2705100"/>
            <a:ext cx="17145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0" name="Line 42"/>
          <p:cNvSpPr>
            <a:spLocks noChangeShapeType="1"/>
          </p:cNvSpPr>
          <p:nvPr/>
        </p:nvSpPr>
        <p:spPr bwMode="auto">
          <a:xfrm>
            <a:off x="1238250" y="1924050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1" name="Line 43"/>
          <p:cNvSpPr>
            <a:spLocks noChangeShapeType="1"/>
          </p:cNvSpPr>
          <p:nvPr/>
        </p:nvSpPr>
        <p:spPr bwMode="auto">
          <a:xfrm>
            <a:off x="1235075" y="4260850"/>
            <a:ext cx="241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2" name="Line 44"/>
          <p:cNvSpPr>
            <a:spLocks noChangeShapeType="1"/>
          </p:cNvSpPr>
          <p:nvPr/>
        </p:nvSpPr>
        <p:spPr bwMode="auto">
          <a:xfrm flipV="1">
            <a:off x="3644900" y="1949450"/>
            <a:ext cx="0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3" name="Text Box 45"/>
          <p:cNvSpPr txBox="1">
            <a:spLocks noChangeArrowheads="1"/>
          </p:cNvSpPr>
          <p:nvPr/>
        </p:nvSpPr>
        <p:spPr bwMode="auto">
          <a:xfrm>
            <a:off x="3502025" y="1554163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c”</a:t>
            </a:r>
          </a:p>
        </p:txBody>
      </p:sp>
      <p:sp>
        <p:nvSpPr>
          <p:cNvPr id="124974" name="Line 46"/>
          <p:cNvSpPr>
            <a:spLocks noChangeShapeType="1"/>
          </p:cNvSpPr>
          <p:nvPr/>
        </p:nvSpPr>
        <p:spPr bwMode="auto">
          <a:xfrm>
            <a:off x="723900" y="3143250"/>
            <a:ext cx="514350" cy="1114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5" name="Line 47"/>
          <p:cNvSpPr>
            <a:spLocks noChangeShapeType="1"/>
          </p:cNvSpPr>
          <p:nvPr/>
        </p:nvSpPr>
        <p:spPr bwMode="auto">
          <a:xfrm>
            <a:off x="723900" y="3143250"/>
            <a:ext cx="180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6" name="Line 48"/>
          <p:cNvSpPr>
            <a:spLocks noChangeShapeType="1"/>
          </p:cNvSpPr>
          <p:nvPr/>
        </p:nvSpPr>
        <p:spPr bwMode="auto">
          <a:xfrm flipV="1">
            <a:off x="2533650" y="192405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7" name="Line 49"/>
          <p:cNvSpPr>
            <a:spLocks noChangeShapeType="1"/>
          </p:cNvSpPr>
          <p:nvPr/>
        </p:nvSpPr>
        <p:spPr bwMode="auto">
          <a:xfrm>
            <a:off x="2089150" y="1930400"/>
            <a:ext cx="155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8" name="Line 50"/>
          <p:cNvSpPr>
            <a:spLocks noChangeShapeType="1"/>
          </p:cNvSpPr>
          <p:nvPr/>
        </p:nvSpPr>
        <p:spPr bwMode="auto">
          <a:xfrm>
            <a:off x="2533650" y="1930400"/>
            <a:ext cx="1111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79" name="Text Box 51"/>
          <p:cNvSpPr txBox="1">
            <a:spLocks noChangeArrowheads="1"/>
          </p:cNvSpPr>
          <p:nvPr/>
        </p:nvSpPr>
        <p:spPr bwMode="auto">
          <a:xfrm>
            <a:off x="2355850" y="1554163"/>
            <a:ext cx="392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d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24980" name="Text Box 52"/>
          <p:cNvSpPr txBox="1">
            <a:spLocks noChangeArrowheads="1"/>
          </p:cNvSpPr>
          <p:nvPr/>
        </p:nvSpPr>
        <p:spPr bwMode="auto">
          <a:xfrm>
            <a:off x="2871788" y="617538"/>
            <a:ext cx="6272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黑体" pitchFamily="2" charset="-122"/>
              </a:rPr>
              <a:t>CD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∥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，与 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W 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倾斜。</a:t>
            </a:r>
          </a:p>
        </p:txBody>
      </p:sp>
      <p:sp>
        <p:nvSpPr>
          <p:cNvPr id="124981" name="Text Box 53"/>
          <p:cNvSpPr txBox="1">
            <a:spLocks noChangeArrowheads="1"/>
          </p:cNvSpPr>
          <p:nvPr/>
        </p:nvSpPr>
        <p:spPr bwMode="auto">
          <a:xfrm>
            <a:off x="274638" y="4727575"/>
            <a:ext cx="8869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ISOCPEUR" pitchFamily="34" charset="0"/>
                <a:ea typeface="黑体" pitchFamily="2" charset="-122"/>
              </a:rPr>
              <a:t>①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cd </a:t>
            </a:r>
            <a:r>
              <a:rPr lang="en-US" altLang="zh-CN" sz="2800">
                <a:latin typeface="ISOCPEUR" pitchFamily="34" charset="0"/>
                <a:sym typeface="Symbol" pitchFamily="18" charset="2"/>
              </a:rPr>
              <a:t>=</a:t>
            </a:r>
            <a:r>
              <a:rPr lang="en-US" altLang="zh-CN" sz="2800">
                <a:latin typeface="ISOCPEUR" pitchFamily="34" charset="0"/>
              </a:rPr>
              <a:t>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CD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ISOCPEUR" pitchFamily="34" charset="0"/>
                <a:sym typeface="Symbol" pitchFamily="18" charset="2"/>
              </a:rPr>
              <a:t>=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L</a:t>
            </a:r>
            <a:r>
              <a:rPr lang="en-US" altLang="zh-CN" sz="2800" i="1" baseline="-25000">
                <a:latin typeface="ISOCPEUR" pitchFamily="34" charset="0"/>
                <a:ea typeface="仿宋_GB2312" pitchFamily="49" charset="-122"/>
              </a:rPr>
              <a:t>CD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②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c’</a:t>
            </a:r>
            <a:r>
              <a:rPr lang="en-US" altLang="zh-CN" sz="2800" i="1">
                <a:latin typeface="ISOCPEUR" pitchFamily="34" charset="0"/>
              </a:rPr>
              <a:t>d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’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OX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 , 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c”</a:t>
            </a:r>
            <a:r>
              <a:rPr lang="en-US" altLang="zh-CN" sz="2800" i="1">
                <a:latin typeface="ISOCPEUR" pitchFamily="34" charset="0"/>
              </a:rPr>
              <a:t>d</a:t>
            </a:r>
            <a:r>
              <a:rPr lang="en-US" altLang="zh-CN" sz="900" i="1">
                <a:latin typeface="ISOCPEUR" pitchFamily="34" charset="0"/>
              </a:rPr>
              <a:t> </a:t>
            </a:r>
            <a:r>
              <a:rPr lang="en-US" altLang="zh-CN" sz="2800">
                <a:latin typeface="ISOCPEUR" pitchFamily="34" charset="0"/>
                <a:ea typeface="仿宋_GB2312" pitchFamily="49" charset="-122"/>
              </a:rPr>
              <a:t>”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800" i="1">
                <a:latin typeface="ISOCPEUR" pitchFamily="34" charset="0"/>
                <a:ea typeface="仿宋_GB2312" pitchFamily="49" charset="-122"/>
              </a:rPr>
              <a:t>OY</a:t>
            </a:r>
            <a:r>
              <a:rPr lang="en-US" altLang="zh-CN" sz="2800" i="1" baseline="-25000">
                <a:latin typeface="ISOCPEUR" pitchFamily="34" charset="0"/>
                <a:ea typeface="仿宋_GB2312" pitchFamily="49" charset="-122"/>
              </a:rPr>
              <a:t>W</a:t>
            </a:r>
            <a:r>
              <a:rPr lang="en-US" altLang="zh-CN" sz="2800" baseline="-25000">
                <a:latin typeface="ISOCPEUR" pitchFamily="34" charset="0"/>
                <a:ea typeface="仿宋_GB2312" pitchFamily="49" charset="-122"/>
              </a:rPr>
              <a:t>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</a:t>
            </a:r>
          </a:p>
        </p:txBody>
      </p:sp>
      <p:sp>
        <p:nvSpPr>
          <p:cNvPr id="124982" name="Text Box 54"/>
          <p:cNvSpPr txBox="1">
            <a:spLocks noChangeArrowheads="1"/>
          </p:cNvSpPr>
          <p:nvPr/>
        </p:nvSpPr>
        <p:spPr bwMode="auto">
          <a:xfrm>
            <a:off x="282575" y="5183188"/>
            <a:ext cx="8861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ISOCPEUR" pitchFamily="34" charset="0"/>
                <a:ea typeface="黑体" pitchFamily="2" charset="-122"/>
              </a:rPr>
              <a:t>③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c’d’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&lt;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CD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,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c”d</a:t>
            </a:r>
            <a:r>
              <a:rPr lang="en-US" altLang="zh-CN" sz="900" i="1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” &lt; 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CD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ISOCPEUR" pitchFamily="34" charset="0"/>
                <a:ea typeface="黑体" pitchFamily="2" charset="-122"/>
              </a:rPr>
              <a:t>④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 </a:t>
            </a:r>
            <a:r>
              <a:rPr lang="en-US" altLang="zh-CN" sz="2800">
                <a:latin typeface="ISOCPEUR" pitchFamily="34" charset="0"/>
                <a:ea typeface="黑体" pitchFamily="2" charset="-122"/>
                <a:sym typeface="Symbol" pitchFamily="18" charset="2"/>
              </a:rPr>
              <a:t>=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0°</a:t>
            </a:r>
            <a:r>
              <a:rPr lang="zh-CN" altLang="en-US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，</a:t>
            </a:r>
            <a:r>
              <a:rPr lang="zh-CN" altLang="en-US" sz="2800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0°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&lt;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  </a:t>
            </a:r>
            <a:r>
              <a:rPr lang="zh-CN" altLang="en-US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、 </a:t>
            </a:r>
            <a:r>
              <a:rPr lang="en-US" altLang="zh-CN" sz="2800">
                <a:latin typeface="ISOCPEUR" pitchFamily="34" charset="0"/>
                <a:ea typeface="黑体" pitchFamily="2" charset="-122"/>
              </a:rPr>
              <a:t>&lt;</a:t>
            </a:r>
            <a:r>
              <a:rPr lang="en-US" altLang="zh-CN" sz="2800" i="1">
                <a:latin typeface="ISOCPEUR" pitchFamily="34" charset="0"/>
                <a:ea typeface="黑体" pitchFamily="2" charset="-122"/>
              </a:rPr>
              <a:t> </a:t>
            </a:r>
            <a:r>
              <a:rPr lang="en-US" altLang="zh-CN" sz="2800" i="1">
                <a:latin typeface="ISOCPEUR" pitchFamily="34" charset="0"/>
                <a:ea typeface="黑体" pitchFamily="2" charset="-122"/>
                <a:sym typeface="Symbol" pitchFamily="18" charset="2"/>
              </a:rPr>
              <a:t>90°</a:t>
            </a:r>
            <a:r>
              <a:rPr lang="en-US" altLang="zh-CN" sz="2800">
                <a:latin typeface="ISOCPEUR" pitchFamily="34" charset="0"/>
                <a:ea typeface="黑体" pitchFamily="2" charset="-122"/>
                <a:sym typeface="Symbol" pitchFamily="18" charset="2"/>
              </a:rPr>
              <a:t> </a:t>
            </a:r>
          </a:p>
        </p:txBody>
      </p:sp>
      <p:sp>
        <p:nvSpPr>
          <p:cNvPr id="124984" name="Line 56"/>
          <p:cNvSpPr>
            <a:spLocks noChangeShapeType="1"/>
          </p:cNvSpPr>
          <p:nvPr/>
        </p:nvSpPr>
        <p:spPr bwMode="auto">
          <a:xfrm flipH="1" flipV="1">
            <a:off x="6572250" y="2667000"/>
            <a:ext cx="723900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5" name="Text Box 57"/>
          <p:cNvSpPr txBox="1">
            <a:spLocks noChangeArrowheads="1"/>
          </p:cNvSpPr>
          <p:nvPr/>
        </p:nvSpPr>
        <p:spPr bwMode="auto">
          <a:xfrm>
            <a:off x="6361113" y="2297113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c'</a:t>
            </a:r>
          </a:p>
        </p:txBody>
      </p:sp>
      <p:sp>
        <p:nvSpPr>
          <p:cNvPr id="124986" name="Line 58"/>
          <p:cNvSpPr>
            <a:spLocks noChangeShapeType="1"/>
          </p:cNvSpPr>
          <p:nvPr/>
        </p:nvSpPr>
        <p:spPr bwMode="auto">
          <a:xfrm>
            <a:off x="6203950" y="2667000"/>
            <a:ext cx="377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7" name="Text Box 59"/>
          <p:cNvSpPr txBox="1">
            <a:spLocks noChangeArrowheads="1"/>
          </p:cNvSpPr>
          <p:nvPr/>
        </p:nvSpPr>
        <p:spPr bwMode="auto">
          <a:xfrm>
            <a:off x="1077913" y="1579563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 </a:t>
            </a:r>
          </a:p>
        </p:txBody>
      </p:sp>
      <p:sp>
        <p:nvSpPr>
          <p:cNvPr id="124988" name="Line 60"/>
          <p:cNvSpPr>
            <a:spLocks noChangeShapeType="1"/>
          </p:cNvSpPr>
          <p:nvPr/>
        </p:nvSpPr>
        <p:spPr bwMode="auto">
          <a:xfrm flipV="1">
            <a:off x="1238250" y="1924050"/>
            <a:ext cx="0" cy="2324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89" name="Line 61"/>
          <p:cNvSpPr>
            <a:spLocks noChangeShapeType="1"/>
          </p:cNvSpPr>
          <p:nvPr/>
        </p:nvSpPr>
        <p:spPr bwMode="auto">
          <a:xfrm flipH="1">
            <a:off x="723900" y="1924050"/>
            <a:ext cx="514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0" name="Text Box 62"/>
          <p:cNvSpPr txBox="1">
            <a:spLocks noChangeArrowheads="1"/>
          </p:cNvSpPr>
          <p:nvPr/>
        </p:nvSpPr>
        <p:spPr bwMode="auto">
          <a:xfrm>
            <a:off x="760413" y="2973388"/>
            <a:ext cx="41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" pitchFamily="2" charset="0"/>
                <a:sym typeface="Symbol" pitchFamily="18" charset="2"/>
              </a:rPr>
              <a:t></a:t>
            </a:r>
            <a:r>
              <a:rPr lang="en-US" altLang="en-US" sz="2800" i="1">
                <a:latin typeface="ISOCP" pitchFamily="2" charset="0"/>
                <a:sym typeface="Symbol" pitchFamily="18" charset="2"/>
              </a:rPr>
              <a:t> </a:t>
            </a:r>
            <a:endParaRPr lang="en-US" altLang="zh-CN" sz="2800" i="1">
              <a:latin typeface="ISOCP" pitchFamily="2" charset="0"/>
              <a:sym typeface="Symbol" pitchFamily="18" charset="2"/>
            </a:endParaRPr>
          </a:p>
        </p:txBody>
      </p:sp>
      <p:sp>
        <p:nvSpPr>
          <p:cNvPr id="124991" name="Text Box 63"/>
          <p:cNvSpPr txBox="1">
            <a:spLocks noChangeArrowheads="1"/>
          </p:cNvSpPr>
          <p:nvPr/>
        </p:nvSpPr>
        <p:spPr bwMode="auto">
          <a:xfrm>
            <a:off x="1008063" y="3636963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" pitchFamily="2" charset="0"/>
                <a:sym typeface="Symbol" pitchFamily="18" charset="2"/>
              </a:rPr>
              <a:t> </a:t>
            </a:r>
            <a:endParaRPr lang="en-US" altLang="zh-CN" sz="2800" i="1">
              <a:latin typeface="ISOCP" pitchFamily="2" charset="0"/>
              <a:sym typeface="Symbol" pitchFamily="18" charset="2"/>
            </a:endParaRPr>
          </a:p>
        </p:txBody>
      </p:sp>
      <p:sp>
        <p:nvSpPr>
          <p:cNvPr id="124992" name="Line 64"/>
          <p:cNvSpPr>
            <a:spLocks noChangeShapeType="1"/>
          </p:cNvSpPr>
          <p:nvPr/>
        </p:nvSpPr>
        <p:spPr bwMode="auto">
          <a:xfrm>
            <a:off x="6381750" y="2854325"/>
            <a:ext cx="923925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93" name="AutoShape 65"/>
          <p:cNvSpPr>
            <a:spLocks noChangeArrowheads="1"/>
          </p:cNvSpPr>
          <p:nvPr/>
        </p:nvSpPr>
        <p:spPr bwMode="auto">
          <a:xfrm>
            <a:off x="360521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4994" name="AutoShape 66"/>
          <p:cNvSpPr>
            <a:spLocks noChangeArrowheads="1"/>
          </p:cNvSpPr>
          <p:nvPr/>
        </p:nvSpPr>
        <p:spPr bwMode="auto">
          <a:xfrm>
            <a:off x="2493963" y="1893888"/>
            <a:ext cx="69850" cy="6985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124995" name="Rectangle 67"/>
          <p:cNvSpPr>
            <a:spLocks noChangeArrowheads="1"/>
          </p:cNvSpPr>
          <p:nvPr/>
        </p:nvSpPr>
        <p:spPr bwMode="auto">
          <a:xfrm>
            <a:off x="257175" y="4783138"/>
            <a:ext cx="6718300" cy="1454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4983" name="Text Box 55"/>
          <p:cNvSpPr txBox="1">
            <a:spLocks noChangeArrowheads="1"/>
          </p:cNvSpPr>
          <p:nvPr/>
        </p:nvSpPr>
        <p:spPr bwMode="auto">
          <a:xfrm>
            <a:off x="341313" y="4692650"/>
            <a:ext cx="8802687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ea typeface="黑体" pitchFamily="2" charset="-122"/>
              </a:rPr>
              <a:t>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400">
                <a:ea typeface="黑体" pitchFamily="2" charset="-122"/>
              </a:rPr>
              <a:t>　　</a:t>
            </a:r>
            <a:r>
              <a:rPr lang="zh-CN" altLang="en-US" sz="2400">
                <a:ea typeface="黑体" pitchFamily="2" charset="-122"/>
              </a:rPr>
              <a:t>投影面平行线在所平行的投影面上的投影反映实长，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并反映与另外两个投影面的夹角实际大小；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        其它两个投影平行于相应的轴，且缩短。</a:t>
            </a:r>
          </a:p>
        </p:txBody>
      </p:sp>
    </p:spTree>
    <p:extLst>
      <p:ext uri="{BB962C8B-B14F-4D97-AF65-F5344CB8AC3E}">
        <p14:creationId xmlns:p14="http://schemas.microsoft.com/office/powerpoint/2010/main" val="291471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4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24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4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1" grpId="0" animBg="1"/>
      <p:bldP spid="124952" grpId="0" animBg="1"/>
      <p:bldP spid="124953" grpId="0" animBg="1"/>
      <p:bldP spid="124954" grpId="0" animBg="1"/>
      <p:bldP spid="124955" grpId="0" animBg="1"/>
      <p:bldP spid="124956" grpId="0" animBg="1"/>
      <p:bldP spid="124957" grpId="0" animBg="1"/>
      <p:bldP spid="124958" grpId="0" autoUpdateAnimBg="0"/>
      <p:bldP spid="124959" grpId="0" autoUpdateAnimBg="0"/>
      <p:bldP spid="124960" grpId="0" autoUpdateAnimBg="0"/>
      <p:bldP spid="124961" grpId="0" autoUpdateAnimBg="0"/>
      <p:bldP spid="124962" grpId="0" autoUpdateAnimBg="0"/>
      <p:bldP spid="124963" grpId="0" autoUpdateAnimBg="0"/>
      <p:bldP spid="124964" grpId="0" autoUpdateAnimBg="0"/>
      <p:bldP spid="124965" grpId="0" autoUpdateAnimBg="0"/>
      <p:bldP spid="124966" grpId="0" animBg="1"/>
      <p:bldP spid="124967" grpId="0" autoUpdateAnimBg="0"/>
      <p:bldP spid="124968" grpId="0" autoUpdateAnimBg="0"/>
      <p:bldP spid="124969" grpId="0" animBg="1"/>
      <p:bldP spid="124970" grpId="0" animBg="1"/>
      <p:bldP spid="124971" grpId="0" animBg="1"/>
      <p:bldP spid="124972" grpId="0" animBg="1"/>
      <p:bldP spid="124973" grpId="0" autoUpdateAnimBg="0"/>
      <p:bldP spid="124974" grpId="0" animBg="1"/>
      <p:bldP spid="124975" grpId="0" animBg="1"/>
      <p:bldP spid="124976" grpId="0" animBg="1"/>
      <p:bldP spid="124977" grpId="0" animBg="1"/>
      <p:bldP spid="124978" grpId="0" animBg="1"/>
      <p:bldP spid="124979" grpId="0" autoUpdateAnimBg="0"/>
      <p:bldP spid="124980" grpId="0"/>
      <p:bldP spid="124981" grpId="0" autoUpdateAnimBg="0"/>
      <p:bldP spid="124982" grpId="0" build="p" autoUpdateAnimBg="0"/>
      <p:bldP spid="124984" grpId="0" animBg="1"/>
      <p:bldP spid="124985" grpId="0" autoUpdateAnimBg="0"/>
      <p:bldP spid="124986" grpId="0" animBg="1"/>
      <p:bldP spid="124987" grpId="0" autoUpdateAnimBg="0"/>
      <p:bldP spid="124988" grpId="0" animBg="1"/>
      <p:bldP spid="124989" grpId="0" animBg="1"/>
      <p:bldP spid="124990" grpId="0" autoUpdateAnimBg="0"/>
      <p:bldP spid="124991" grpId="0" autoUpdateAnimBg="0"/>
      <p:bldP spid="124992" grpId="0" animBg="1"/>
      <p:bldP spid="124993" grpId="0" animBg="1" autoUpdateAnimBg="0"/>
      <p:bldP spid="124994" grpId="0" animBg="1" autoUpdateAnimBg="0"/>
      <p:bldP spid="124995" grpId="0" animBg="1"/>
      <p:bldP spid="12498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173038" y="168275"/>
            <a:ext cx="5565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．一般位置直线的投影</a:t>
            </a:r>
          </a:p>
        </p:txBody>
      </p:sp>
      <p:sp>
        <p:nvSpPr>
          <p:cNvPr id="125983" name="Text Box 31"/>
          <p:cNvSpPr txBox="1">
            <a:spLocks noChangeArrowheads="1"/>
          </p:cNvSpPr>
          <p:nvPr/>
        </p:nvSpPr>
        <p:spPr bwMode="auto">
          <a:xfrm>
            <a:off x="488950" y="5084763"/>
            <a:ext cx="8274050" cy="13731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2800">
                <a:ea typeface="黑体" pitchFamily="2" charset="-122"/>
              </a:rPr>
              <a:t>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　　三个投影均与投影轴倾斜，投影缩短，投影与三个投影轴的夹角都不反映实际大小。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5213350" y="1543050"/>
            <a:ext cx="3556000" cy="3211513"/>
            <a:chOff x="3251" y="899"/>
            <a:chExt cx="2240" cy="2023"/>
          </a:xfrm>
        </p:grpSpPr>
        <p:sp>
          <p:nvSpPr>
            <p:cNvPr id="9280" name="Line 40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81" name="Group 41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9282" name="Rectangle 42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9283" name="Freeform 43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4" name="Freeform 44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5" name="Freeform 45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6" name="Line 46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7" name="Freeform 47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8" name="Text Box 48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9289" name="Text Box 49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9290" name="Text Box 50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126003" name="Line 51"/>
          <p:cNvSpPr>
            <a:spLocks noChangeShapeType="1"/>
          </p:cNvSpPr>
          <p:nvPr/>
        </p:nvSpPr>
        <p:spPr bwMode="auto">
          <a:xfrm>
            <a:off x="7337425" y="2433638"/>
            <a:ext cx="6000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4" name="Line 52"/>
          <p:cNvSpPr>
            <a:spLocks noChangeShapeType="1"/>
          </p:cNvSpPr>
          <p:nvPr/>
        </p:nvSpPr>
        <p:spPr bwMode="auto">
          <a:xfrm>
            <a:off x="6684963" y="3263900"/>
            <a:ext cx="1668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5" name="Line 53"/>
          <p:cNvSpPr>
            <a:spLocks noChangeShapeType="1"/>
          </p:cNvSpPr>
          <p:nvPr/>
        </p:nvSpPr>
        <p:spPr bwMode="auto">
          <a:xfrm>
            <a:off x="6683375" y="3263900"/>
            <a:ext cx="0" cy="9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6" name="Line 54"/>
          <p:cNvSpPr>
            <a:spLocks noChangeShapeType="1"/>
          </p:cNvSpPr>
          <p:nvPr/>
        </p:nvSpPr>
        <p:spPr bwMode="auto">
          <a:xfrm flipH="1" flipV="1">
            <a:off x="5888038" y="2466975"/>
            <a:ext cx="793750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7" name="Line 55"/>
          <p:cNvSpPr>
            <a:spLocks noChangeShapeType="1"/>
          </p:cNvSpPr>
          <p:nvPr/>
        </p:nvSpPr>
        <p:spPr bwMode="auto">
          <a:xfrm flipV="1">
            <a:off x="6677025" y="3810000"/>
            <a:ext cx="661988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8" name="Line 56"/>
          <p:cNvSpPr>
            <a:spLocks noChangeShapeType="1"/>
          </p:cNvSpPr>
          <p:nvPr/>
        </p:nvSpPr>
        <p:spPr bwMode="auto">
          <a:xfrm>
            <a:off x="7931150" y="2428875"/>
            <a:ext cx="434975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09" name="Text Box 57"/>
          <p:cNvSpPr txBox="1">
            <a:spLocks noChangeArrowheads="1"/>
          </p:cNvSpPr>
          <p:nvPr/>
        </p:nvSpPr>
        <p:spPr bwMode="auto">
          <a:xfrm>
            <a:off x="7251700" y="205422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F</a:t>
            </a:r>
          </a:p>
        </p:txBody>
      </p:sp>
      <p:sp>
        <p:nvSpPr>
          <p:cNvPr id="126010" name="Text Box 58"/>
          <p:cNvSpPr txBox="1">
            <a:spLocks noChangeArrowheads="1"/>
          </p:cNvSpPr>
          <p:nvPr/>
        </p:nvSpPr>
        <p:spPr bwMode="auto">
          <a:xfrm>
            <a:off x="6318250" y="3087688"/>
            <a:ext cx="449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26011" name="Text Box 59"/>
          <p:cNvSpPr txBox="1">
            <a:spLocks noChangeArrowheads="1"/>
          </p:cNvSpPr>
          <p:nvPr/>
        </p:nvSpPr>
        <p:spPr bwMode="auto">
          <a:xfrm>
            <a:off x="5597525" y="213518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e’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6012" name="Text Box 60"/>
          <p:cNvSpPr txBox="1">
            <a:spLocks noChangeArrowheads="1"/>
          </p:cNvSpPr>
          <p:nvPr/>
        </p:nvSpPr>
        <p:spPr bwMode="auto">
          <a:xfrm>
            <a:off x="6629400" y="4151313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 </a:t>
            </a:r>
          </a:p>
        </p:txBody>
      </p:sp>
      <p:sp>
        <p:nvSpPr>
          <p:cNvPr id="126013" name="Text Box 61"/>
          <p:cNvSpPr txBox="1">
            <a:spLocks noChangeArrowheads="1"/>
          </p:cNvSpPr>
          <p:nvPr/>
        </p:nvSpPr>
        <p:spPr bwMode="auto">
          <a:xfrm>
            <a:off x="8283575" y="3052763"/>
            <a:ext cx="49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6014" name="Text Box 62"/>
          <p:cNvSpPr txBox="1">
            <a:spLocks noChangeArrowheads="1"/>
          </p:cNvSpPr>
          <p:nvPr/>
        </p:nvSpPr>
        <p:spPr bwMode="auto">
          <a:xfrm>
            <a:off x="7924800" y="2195513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f” </a:t>
            </a:r>
          </a:p>
        </p:txBody>
      </p:sp>
      <p:sp>
        <p:nvSpPr>
          <p:cNvPr id="126015" name="Line 63"/>
          <p:cNvSpPr>
            <a:spLocks noChangeShapeType="1"/>
          </p:cNvSpPr>
          <p:nvPr/>
        </p:nvSpPr>
        <p:spPr bwMode="auto">
          <a:xfrm flipH="1" flipV="1">
            <a:off x="6965950" y="2062163"/>
            <a:ext cx="3714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16" name="Line 64"/>
          <p:cNvSpPr>
            <a:spLocks noChangeShapeType="1"/>
          </p:cNvSpPr>
          <p:nvPr/>
        </p:nvSpPr>
        <p:spPr bwMode="auto">
          <a:xfrm flipV="1">
            <a:off x="5883275" y="2060575"/>
            <a:ext cx="1085850" cy="41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17" name="Text Box 65"/>
          <p:cNvSpPr txBox="1">
            <a:spLocks noChangeArrowheads="1"/>
          </p:cNvSpPr>
          <p:nvPr/>
        </p:nvSpPr>
        <p:spPr bwMode="auto">
          <a:xfrm>
            <a:off x="7181850" y="375602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 </a:t>
            </a:r>
          </a:p>
        </p:txBody>
      </p:sp>
      <p:sp>
        <p:nvSpPr>
          <p:cNvPr id="126018" name="Text Box 66"/>
          <p:cNvSpPr txBox="1">
            <a:spLocks noChangeArrowheads="1"/>
          </p:cNvSpPr>
          <p:nvPr/>
        </p:nvSpPr>
        <p:spPr bwMode="auto">
          <a:xfrm>
            <a:off x="6640513" y="1730375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f'</a:t>
            </a:r>
          </a:p>
        </p:txBody>
      </p:sp>
      <p:sp>
        <p:nvSpPr>
          <p:cNvPr id="126019" name="Line 67"/>
          <p:cNvSpPr>
            <a:spLocks noChangeShapeType="1"/>
          </p:cNvSpPr>
          <p:nvPr/>
        </p:nvSpPr>
        <p:spPr bwMode="auto">
          <a:xfrm flipH="1" flipV="1">
            <a:off x="5883275" y="3448050"/>
            <a:ext cx="800100" cy="795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0" name="Line 68"/>
          <p:cNvSpPr>
            <a:spLocks noChangeShapeType="1"/>
          </p:cNvSpPr>
          <p:nvPr/>
        </p:nvSpPr>
        <p:spPr bwMode="auto">
          <a:xfrm flipV="1">
            <a:off x="5886450" y="2466975"/>
            <a:ext cx="0" cy="982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1" name="Line 69"/>
          <p:cNvSpPr>
            <a:spLocks noChangeShapeType="1"/>
          </p:cNvSpPr>
          <p:nvPr/>
        </p:nvSpPr>
        <p:spPr bwMode="auto">
          <a:xfrm flipH="1" flipV="1">
            <a:off x="6965950" y="3448050"/>
            <a:ext cx="369888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2" name="Line 70"/>
          <p:cNvSpPr>
            <a:spLocks noChangeShapeType="1"/>
          </p:cNvSpPr>
          <p:nvPr/>
        </p:nvSpPr>
        <p:spPr bwMode="auto">
          <a:xfrm flipV="1">
            <a:off x="6965950" y="2066925"/>
            <a:ext cx="0" cy="138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3" name="Line 71"/>
          <p:cNvSpPr>
            <a:spLocks noChangeShapeType="1"/>
          </p:cNvSpPr>
          <p:nvPr/>
        </p:nvSpPr>
        <p:spPr bwMode="auto">
          <a:xfrm>
            <a:off x="7337425" y="3816350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4" name="Line 72"/>
          <p:cNvSpPr>
            <a:spLocks noChangeShapeType="1"/>
          </p:cNvSpPr>
          <p:nvPr/>
        </p:nvSpPr>
        <p:spPr bwMode="auto">
          <a:xfrm>
            <a:off x="6684963" y="4241800"/>
            <a:ext cx="1668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5" name="Line 73"/>
          <p:cNvSpPr>
            <a:spLocks noChangeShapeType="1"/>
          </p:cNvSpPr>
          <p:nvPr/>
        </p:nvSpPr>
        <p:spPr bwMode="auto">
          <a:xfrm flipV="1">
            <a:off x="7937500" y="2438400"/>
            <a:ext cx="0" cy="1373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26" name="Line 74"/>
          <p:cNvSpPr>
            <a:spLocks noChangeShapeType="1"/>
          </p:cNvSpPr>
          <p:nvPr/>
        </p:nvSpPr>
        <p:spPr bwMode="auto">
          <a:xfrm flipV="1">
            <a:off x="8359775" y="3268663"/>
            <a:ext cx="0" cy="969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6" name="Text Box 77"/>
          <p:cNvSpPr txBox="1">
            <a:spLocks noChangeArrowheads="1"/>
          </p:cNvSpPr>
          <p:nvPr/>
        </p:nvSpPr>
        <p:spPr bwMode="auto">
          <a:xfrm>
            <a:off x="5334000" y="37623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26045" name="Line 93"/>
          <p:cNvSpPr>
            <a:spLocks noChangeShapeType="1"/>
          </p:cNvSpPr>
          <p:nvPr/>
        </p:nvSpPr>
        <p:spPr bwMode="auto">
          <a:xfrm flipV="1">
            <a:off x="6683375" y="2436813"/>
            <a:ext cx="654050" cy="8270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50" name="Line 98"/>
          <p:cNvSpPr>
            <a:spLocks noChangeShapeType="1"/>
          </p:cNvSpPr>
          <p:nvPr/>
        </p:nvSpPr>
        <p:spPr bwMode="auto">
          <a:xfrm>
            <a:off x="7337425" y="2433638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2" name="Text Box 140"/>
          <p:cNvSpPr txBox="1">
            <a:spLocks noChangeArrowheads="1"/>
          </p:cNvSpPr>
          <p:nvPr/>
        </p:nvSpPr>
        <p:spPr bwMode="auto">
          <a:xfrm>
            <a:off x="1985963" y="1379538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f’ </a:t>
            </a:r>
          </a:p>
        </p:txBody>
      </p:sp>
      <p:sp>
        <p:nvSpPr>
          <p:cNvPr id="126093" name="Line 141"/>
          <p:cNvSpPr>
            <a:spLocks noChangeShapeType="1"/>
          </p:cNvSpPr>
          <p:nvPr/>
        </p:nvSpPr>
        <p:spPr bwMode="auto">
          <a:xfrm flipH="1">
            <a:off x="1236663" y="2289175"/>
            <a:ext cx="20637" cy="2338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4" name="Text Box 142"/>
          <p:cNvSpPr txBox="1">
            <a:spLocks noChangeArrowheads="1"/>
          </p:cNvSpPr>
          <p:nvPr/>
        </p:nvSpPr>
        <p:spPr bwMode="auto">
          <a:xfrm>
            <a:off x="944563" y="433387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e</a:t>
            </a:r>
          </a:p>
        </p:txBody>
      </p:sp>
      <p:sp>
        <p:nvSpPr>
          <p:cNvPr id="126095" name="Text Box 143"/>
          <p:cNvSpPr txBox="1">
            <a:spLocks noChangeArrowheads="1"/>
          </p:cNvSpPr>
          <p:nvPr/>
        </p:nvSpPr>
        <p:spPr bwMode="auto">
          <a:xfrm>
            <a:off x="1736725" y="3186113"/>
            <a:ext cx="568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</a:p>
        </p:txBody>
      </p:sp>
      <p:sp>
        <p:nvSpPr>
          <p:cNvPr id="126096" name="Line 144"/>
          <p:cNvSpPr>
            <a:spLocks noChangeShapeType="1"/>
          </p:cNvSpPr>
          <p:nvPr/>
        </p:nvSpPr>
        <p:spPr bwMode="auto">
          <a:xfrm>
            <a:off x="2628900" y="3070225"/>
            <a:ext cx="17145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7" name="Line 145"/>
          <p:cNvSpPr>
            <a:spLocks noChangeShapeType="1"/>
          </p:cNvSpPr>
          <p:nvPr/>
        </p:nvSpPr>
        <p:spPr bwMode="auto">
          <a:xfrm>
            <a:off x="2181225" y="1727200"/>
            <a:ext cx="44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8" name="Line 146"/>
          <p:cNvSpPr>
            <a:spLocks noChangeShapeType="1"/>
          </p:cNvSpPr>
          <p:nvPr/>
        </p:nvSpPr>
        <p:spPr bwMode="auto">
          <a:xfrm>
            <a:off x="1252538" y="4625975"/>
            <a:ext cx="29289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099" name="Line 147"/>
          <p:cNvSpPr>
            <a:spLocks noChangeShapeType="1"/>
          </p:cNvSpPr>
          <p:nvPr/>
        </p:nvSpPr>
        <p:spPr bwMode="auto">
          <a:xfrm flipH="1" flipV="1">
            <a:off x="4167188" y="2303463"/>
            <a:ext cx="11112" cy="231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0" name="Text Box 148"/>
          <p:cNvSpPr txBox="1">
            <a:spLocks noChangeArrowheads="1"/>
          </p:cNvSpPr>
          <p:nvPr/>
        </p:nvSpPr>
        <p:spPr bwMode="auto">
          <a:xfrm>
            <a:off x="4130675" y="2255838"/>
            <a:ext cx="404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e”</a:t>
            </a:r>
          </a:p>
        </p:txBody>
      </p:sp>
      <p:sp>
        <p:nvSpPr>
          <p:cNvPr id="126101" name="Line 149"/>
          <p:cNvSpPr>
            <a:spLocks noChangeShapeType="1"/>
          </p:cNvSpPr>
          <p:nvPr/>
        </p:nvSpPr>
        <p:spPr bwMode="auto">
          <a:xfrm flipV="1">
            <a:off x="1244600" y="3503613"/>
            <a:ext cx="946150" cy="1111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2" name="Line 150"/>
          <p:cNvSpPr>
            <a:spLocks noChangeShapeType="1"/>
          </p:cNvSpPr>
          <p:nvPr/>
        </p:nvSpPr>
        <p:spPr bwMode="auto">
          <a:xfrm>
            <a:off x="2193925" y="3508375"/>
            <a:ext cx="873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3" name="Line 151"/>
          <p:cNvSpPr>
            <a:spLocks noChangeShapeType="1"/>
          </p:cNvSpPr>
          <p:nvPr/>
        </p:nvSpPr>
        <p:spPr bwMode="auto">
          <a:xfrm flipV="1">
            <a:off x="3067050" y="1728788"/>
            <a:ext cx="0" cy="177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4" name="Line 152"/>
          <p:cNvSpPr>
            <a:spLocks noChangeShapeType="1"/>
          </p:cNvSpPr>
          <p:nvPr/>
        </p:nvSpPr>
        <p:spPr bwMode="auto">
          <a:xfrm>
            <a:off x="2622550" y="1733550"/>
            <a:ext cx="438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5" name="Line 153"/>
          <p:cNvSpPr>
            <a:spLocks noChangeShapeType="1"/>
          </p:cNvSpPr>
          <p:nvPr/>
        </p:nvSpPr>
        <p:spPr bwMode="auto">
          <a:xfrm>
            <a:off x="3057525" y="1739900"/>
            <a:ext cx="1109663" cy="5508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6" name="Text Box 154"/>
          <p:cNvSpPr txBox="1">
            <a:spLocks noChangeArrowheads="1"/>
          </p:cNvSpPr>
          <p:nvPr/>
        </p:nvSpPr>
        <p:spPr bwMode="auto">
          <a:xfrm>
            <a:off x="3025775" y="1358900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26107" name="Text Box 155"/>
          <p:cNvSpPr txBox="1">
            <a:spLocks noChangeArrowheads="1"/>
          </p:cNvSpPr>
          <p:nvPr/>
        </p:nvSpPr>
        <p:spPr bwMode="auto">
          <a:xfrm>
            <a:off x="885825" y="1976438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</a:p>
        </p:txBody>
      </p:sp>
      <p:sp>
        <p:nvSpPr>
          <p:cNvPr id="126108" name="Line 156"/>
          <p:cNvSpPr>
            <a:spLocks noChangeShapeType="1"/>
          </p:cNvSpPr>
          <p:nvPr/>
        </p:nvSpPr>
        <p:spPr bwMode="auto">
          <a:xfrm flipV="1">
            <a:off x="2190750" y="1717675"/>
            <a:ext cx="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9" name="Line 157"/>
          <p:cNvSpPr>
            <a:spLocks noChangeShapeType="1"/>
          </p:cNvSpPr>
          <p:nvPr/>
        </p:nvSpPr>
        <p:spPr bwMode="auto">
          <a:xfrm flipH="1">
            <a:off x="1257300" y="1727200"/>
            <a:ext cx="923925" cy="561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58"/>
          <p:cNvGrpSpPr>
            <a:grpSpLocks/>
          </p:cNvGrpSpPr>
          <p:nvPr/>
        </p:nvGrpSpPr>
        <p:grpSpPr bwMode="auto">
          <a:xfrm>
            <a:off x="552450" y="955675"/>
            <a:ext cx="4454525" cy="4229100"/>
            <a:chOff x="12" y="372"/>
            <a:chExt cx="2806" cy="2664"/>
          </a:xfrm>
        </p:grpSpPr>
        <p:sp>
          <p:nvSpPr>
            <p:cNvPr id="9273" name="Line 159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4" name="Line 160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5" name="Text Box 161"/>
            <p:cNvSpPr txBox="1">
              <a:spLocks noChangeArrowheads="1"/>
            </p:cNvSpPr>
            <p:nvPr/>
          </p:nvSpPr>
          <p:spPr bwMode="auto">
            <a:xfrm>
              <a:off x="12" y="145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9276" name="Text Box 162"/>
            <p:cNvSpPr txBox="1">
              <a:spLocks noChangeArrowheads="1"/>
            </p:cNvSpPr>
            <p:nvPr/>
          </p:nvSpPr>
          <p:spPr bwMode="auto">
            <a:xfrm>
              <a:off x="1302" y="1476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9277" name="Text Box 163"/>
            <p:cNvSpPr txBox="1">
              <a:spLocks noChangeArrowheads="1"/>
            </p:cNvSpPr>
            <p:nvPr/>
          </p:nvSpPr>
          <p:spPr bwMode="auto">
            <a:xfrm>
              <a:off x="2493" y="1416"/>
              <a:ext cx="3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9278" name="Text Box 164"/>
            <p:cNvSpPr txBox="1">
              <a:spLocks noChangeArrowheads="1"/>
            </p:cNvSpPr>
            <p:nvPr/>
          </p:nvSpPr>
          <p:spPr bwMode="auto">
            <a:xfrm>
              <a:off x="1313" y="37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</a:t>
              </a:r>
            </a:p>
          </p:txBody>
        </p:sp>
        <p:sp>
          <p:nvSpPr>
            <p:cNvPr id="9279" name="Text Box 165"/>
            <p:cNvSpPr txBox="1">
              <a:spLocks noChangeArrowheads="1"/>
            </p:cNvSpPr>
            <p:nvPr/>
          </p:nvSpPr>
          <p:spPr bwMode="auto">
            <a:xfrm>
              <a:off x="1285" y="2748"/>
              <a:ext cx="3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</a:p>
          </p:txBody>
        </p:sp>
      </p:grpSp>
      <p:sp>
        <p:nvSpPr>
          <p:cNvPr id="126118" name="Line 166"/>
          <p:cNvSpPr>
            <a:spLocks noChangeShapeType="1"/>
          </p:cNvSpPr>
          <p:nvPr/>
        </p:nvSpPr>
        <p:spPr bwMode="auto">
          <a:xfrm>
            <a:off x="1257300" y="2298700"/>
            <a:ext cx="1374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19" name="Line 167"/>
          <p:cNvSpPr>
            <a:spLocks noChangeShapeType="1"/>
          </p:cNvSpPr>
          <p:nvPr/>
        </p:nvSpPr>
        <p:spPr bwMode="auto">
          <a:xfrm>
            <a:off x="2627313" y="2300288"/>
            <a:ext cx="1519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21" name="Text Box 169"/>
          <p:cNvSpPr txBox="1">
            <a:spLocks noChangeArrowheads="1"/>
          </p:cNvSpPr>
          <p:nvPr/>
        </p:nvSpPr>
        <p:spPr bwMode="auto">
          <a:xfrm>
            <a:off x="1362075" y="4146550"/>
            <a:ext cx="55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</a:t>
            </a:r>
            <a:r>
              <a:rPr lang="en-US" altLang="zh-CN" sz="1800" i="1">
                <a:latin typeface="ISOCPEUR" pitchFamily="34" charset="0"/>
                <a:sym typeface="Symbol" pitchFamily="18" charset="2"/>
              </a:rPr>
              <a:t>?</a:t>
            </a:r>
            <a:r>
              <a:rPr lang="en-US" altLang="en-US" sz="2800" i="1">
                <a:latin typeface="ISOCPEUR" pitchFamily="34" charset="0"/>
                <a:sym typeface="Symbol" pitchFamily="18" charset="2"/>
              </a:rPr>
              <a:t> 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6122" name="Text Box 170"/>
          <p:cNvSpPr txBox="1">
            <a:spLocks noChangeArrowheads="1"/>
          </p:cNvSpPr>
          <p:nvPr/>
        </p:nvSpPr>
        <p:spPr bwMode="auto">
          <a:xfrm>
            <a:off x="1804988" y="1754188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</a:t>
            </a:r>
            <a:r>
              <a:rPr lang="en-US" altLang="zh-CN" sz="1800" i="1">
                <a:latin typeface="ISOCPEUR" pitchFamily="34" charset="0"/>
                <a:sym typeface="Symbol" pitchFamily="18" charset="2"/>
              </a:rPr>
              <a:t>?</a:t>
            </a:r>
            <a:r>
              <a:rPr lang="en-US" altLang="en-US" sz="1800" i="1">
                <a:latin typeface="ISOCPEUR" pitchFamily="34" charset="0"/>
                <a:sym typeface="Symbol" pitchFamily="18" charset="2"/>
              </a:rPr>
              <a:t> 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6123" name="Text Box 171"/>
          <p:cNvSpPr txBox="1">
            <a:spLocks noChangeArrowheads="1"/>
          </p:cNvSpPr>
          <p:nvPr/>
        </p:nvSpPr>
        <p:spPr bwMode="auto">
          <a:xfrm>
            <a:off x="1489075" y="1995488"/>
            <a:ext cx="434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?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3084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2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2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2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2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2" dur="500"/>
                                        <p:tgtEl>
                                          <p:spTgt spid="12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2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2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2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2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2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1000"/>
                                        <p:tgtEl>
                                          <p:spTgt spid="12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12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2" dur="5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83" grpId="0" animBg="1"/>
      <p:bldP spid="126003" grpId="0" animBg="1"/>
      <p:bldP spid="126004" grpId="0" animBg="1"/>
      <p:bldP spid="126005" grpId="0" animBg="1"/>
      <p:bldP spid="126006" grpId="0" animBg="1"/>
      <p:bldP spid="126007" grpId="0" animBg="1"/>
      <p:bldP spid="126008" grpId="0" animBg="1"/>
      <p:bldP spid="126009" grpId="0" autoUpdateAnimBg="0"/>
      <p:bldP spid="126010" grpId="0" autoUpdateAnimBg="0"/>
      <p:bldP spid="126011" grpId="0" autoUpdateAnimBg="0"/>
      <p:bldP spid="126012" grpId="0" autoUpdateAnimBg="0"/>
      <p:bldP spid="126013" grpId="0" autoUpdateAnimBg="0"/>
      <p:bldP spid="126014" grpId="0" autoUpdateAnimBg="0"/>
      <p:bldP spid="126015" grpId="0" animBg="1"/>
      <p:bldP spid="126016" grpId="0" animBg="1"/>
      <p:bldP spid="126017" grpId="0" autoUpdateAnimBg="0"/>
      <p:bldP spid="126018" grpId="0" autoUpdateAnimBg="0"/>
      <p:bldP spid="126019" grpId="0" animBg="1"/>
      <p:bldP spid="126020" grpId="0" animBg="1"/>
      <p:bldP spid="126021" grpId="0" animBg="1"/>
      <p:bldP spid="126022" grpId="0" animBg="1"/>
      <p:bldP spid="126023" grpId="0" animBg="1"/>
      <p:bldP spid="126024" grpId="0" animBg="1"/>
      <p:bldP spid="126025" grpId="0" animBg="1"/>
      <p:bldP spid="126026" grpId="0" animBg="1"/>
      <p:bldP spid="126045" grpId="0" animBg="1"/>
      <p:bldP spid="126050" grpId="0" animBg="1"/>
      <p:bldP spid="126092" grpId="0" autoUpdateAnimBg="0"/>
      <p:bldP spid="126093" grpId="0" animBg="1"/>
      <p:bldP spid="126094" grpId="0" autoUpdateAnimBg="0"/>
      <p:bldP spid="126095" grpId="0" autoUpdateAnimBg="0"/>
      <p:bldP spid="126096" grpId="0" animBg="1"/>
      <p:bldP spid="126097" grpId="0" animBg="1"/>
      <p:bldP spid="126098" grpId="0" animBg="1"/>
      <p:bldP spid="126099" grpId="0" animBg="1"/>
      <p:bldP spid="126100" grpId="0" autoUpdateAnimBg="0"/>
      <p:bldP spid="126101" grpId="0" animBg="1"/>
      <p:bldP spid="126102" grpId="0" animBg="1"/>
      <p:bldP spid="126103" grpId="0" animBg="1"/>
      <p:bldP spid="126104" grpId="0" animBg="1"/>
      <p:bldP spid="126105" grpId="0" animBg="1"/>
      <p:bldP spid="126106" grpId="0" autoUpdateAnimBg="0"/>
      <p:bldP spid="126107" grpId="0" autoUpdateAnimBg="0"/>
      <p:bldP spid="126108" grpId="0" animBg="1"/>
      <p:bldP spid="126109" grpId="0" animBg="1"/>
      <p:bldP spid="126118" grpId="0" animBg="1"/>
      <p:bldP spid="126119" grpId="0" animBg="1"/>
      <p:bldP spid="126121" grpId="0"/>
      <p:bldP spid="126122" grpId="0"/>
      <p:bldP spid="1261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Group 2"/>
          <p:cNvGrpSpPr>
            <a:grpSpLocks/>
          </p:cNvGrpSpPr>
          <p:nvPr/>
        </p:nvGrpSpPr>
        <p:grpSpPr bwMode="auto">
          <a:xfrm>
            <a:off x="4910138" y="1028700"/>
            <a:ext cx="3556000" cy="3211513"/>
            <a:chOff x="3251" y="899"/>
            <a:chExt cx="2240" cy="2023"/>
          </a:xfrm>
        </p:grpSpPr>
        <p:sp>
          <p:nvSpPr>
            <p:cNvPr id="10325" name="Line 3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26" name="Group 4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10327" name="Rectangle 5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0328" name="Freeform 6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29" name="Freeform 7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0" name="Freeform 8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1" name="Line 9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2" name="Freeform 10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33" name="Text Box 11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0334" name="Text Box 12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0335" name="Text Box 13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10244" name="Line 14"/>
          <p:cNvSpPr>
            <a:spLocks noChangeShapeType="1"/>
          </p:cNvSpPr>
          <p:nvPr/>
        </p:nvSpPr>
        <p:spPr bwMode="auto">
          <a:xfrm>
            <a:off x="7034213" y="1919288"/>
            <a:ext cx="6000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15"/>
          <p:cNvSpPr>
            <a:spLocks noChangeShapeType="1"/>
          </p:cNvSpPr>
          <p:nvPr/>
        </p:nvSpPr>
        <p:spPr bwMode="auto">
          <a:xfrm>
            <a:off x="6381750" y="2749550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16"/>
          <p:cNvSpPr>
            <a:spLocks noChangeShapeType="1"/>
          </p:cNvSpPr>
          <p:nvPr/>
        </p:nvSpPr>
        <p:spPr bwMode="auto">
          <a:xfrm>
            <a:off x="6380163" y="2749550"/>
            <a:ext cx="0" cy="9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17"/>
          <p:cNvSpPr>
            <a:spLocks noChangeShapeType="1"/>
          </p:cNvSpPr>
          <p:nvPr/>
        </p:nvSpPr>
        <p:spPr bwMode="auto">
          <a:xfrm flipH="1" flipV="1">
            <a:off x="5584825" y="1952625"/>
            <a:ext cx="793750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18"/>
          <p:cNvSpPr>
            <a:spLocks noChangeShapeType="1"/>
          </p:cNvSpPr>
          <p:nvPr/>
        </p:nvSpPr>
        <p:spPr bwMode="auto">
          <a:xfrm flipV="1">
            <a:off x="6373813" y="3295650"/>
            <a:ext cx="661987" cy="4333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19"/>
          <p:cNvSpPr>
            <a:spLocks noChangeShapeType="1"/>
          </p:cNvSpPr>
          <p:nvPr/>
        </p:nvSpPr>
        <p:spPr bwMode="auto">
          <a:xfrm>
            <a:off x="7627938" y="1914525"/>
            <a:ext cx="434975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Text Box 20"/>
          <p:cNvSpPr txBox="1">
            <a:spLocks noChangeArrowheads="1"/>
          </p:cNvSpPr>
          <p:nvPr/>
        </p:nvSpPr>
        <p:spPr bwMode="auto">
          <a:xfrm>
            <a:off x="6948488" y="1539875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>
                <a:latin typeface="ISOCPEUR" pitchFamily="34" charset="0"/>
              </a:rPr>
              <a:t>F</a:t>
            </a:r>
          </a:p>
        </p:txBody>
      </p:sp>
      <p:sp>
        <p:nvSpPr>
          <p:cNvPr id="10251" name="Text Box 21"/>
          <p:cNvSpPr txBox="1">
            <a:spLocks noChangeArrowheads="1"/>
          </p:cNvSpPr>
          <p:nvPr/>
        </p:nvSpPr>
        <p:spPr bwMode="auto">
          <a:xfrm>
            <a:off x="6015038" y="2573338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0252" name="Text Box 22"/>
          <p:cNvSpPr txBox="1">
            <a:spLocks noChangeArrowheads="1"/>
          </p:cNvSpPr>
          <p:nvPr/>
        </p:nvSpPr>
        <p:spPr bwMode="auto">
          <a:xfrm>
            <a:off x="5294313" y="162083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e’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0253" name="Text Box 23"/>
          <p:cNvSpPr txBox="1">
            <a:spLocks noChangeArrowheads="1"/>
          </p:cNvSpPr>
          <p:nvPr/>
        </p:nvSpPr>
        <p:spPr bwMode="auto">
          <a:xfrm>
            <a:off x="6326188" y="3636963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 </a:t>
            </a:r>
          </a:p>
        </p:txBody>
      </p:sp>
      <p:sp>
        <p:nvSpPr>
          <p:cNvPr id="10254" name="Text Box 24"/>
          <p:cNvSpPr txBox="1">
            <a:spLocks noChangeArrowheads="1"/>
          </p:cNvSpPr>
          <p:nvPr/>
        </p:nvSpPr>
        <p:spPr bwMode="auto">
          <a:xfrm>
            <a:off x="7980363" y="2538413"/>
            <a:ext cx="493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0255" name="Text Box 25"/>
          <p:cNvSpPr txBox="1">
            <a:spLocks noChangeArrowheads="1"/>
          </p:cNvSpPr>
          <p:nvPr/>
        </p:nvSpPr>
        <p:spPr bwMode="auto">
          <a:xfrm>
            <a:off x="7621588" y="1681163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f” </a:t>
            </a:r>
          </a:p>
        </p:txBody>
      </p:sp>
      <p:sp>
        <p:nvSpPr>
          <p:cNvPr id="10256" name="Line 26"/>
          <p:cNvSpPr>
            <a:spLocks noChangeShapeType="1"/>
          </p:cNvSpPr>
          <p:nvPr/>
        </p:nvSpPr>
        <p:spPr bwMode="auto">
          <a:xfrm flipH="1" flipV="1">
            <a:off x="6662738" y="1547813"/>
            <a:ext cx="3714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7" name="Line 27"/>
          <p:cNvSpPr>
            <a:spLocks noChangeShapeType="1"/>
          </p:cNvSpPr>
          <p:nvPr/>
        </p:nvSpPr>
        <p:spPr bwMode="auto">
          <a:xfrm flipV="1">
            <a:off x="5580063" y="1546225"/>
            <a:ext cx="1085850" cy="41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8" name="Text Box 28"/>
          <p:cNvSpPr txBox="1">
            <a:spLocks noChangeArrowheads="1"/>
          </p:cNvSpPr>
          <p:nvPr/>
        </p:nvSpPr>
        <p:spPr bwMode="auto">
          <a:xfrm>
            <a:off x="6878638" y="32416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 </a:t>
            </a:r>
          </a:p>
        </p:txBody>
      </p:sp>
      <p:sp>
        <p:nvSpPr>
          <p:cNvPr id="10259" name="Text Box 29"/>
          <p:cNvSpPr txBox="1">
            <a:spLocks noChangeArrowheads="1"/>
          </p:cNvSpPr>
          <p:nvPr/>
        </p:nvSpPr>
        <p:spPr bwMode="auto">
          <a:xfrm>
            <a:off x="6337300" y="1216025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f'</a:t>
            </a:r>
          </a:p>
        </p:txBody>
      </p:sp>
      <p:sp>
        <p:nvSpPr>
          <p:cNvPr id="10260" name="Line 30"/>
          <p:cNvSpPr>
            <a:spLocks noChangeShapeType="1"/>
          </p:cNvSpPr>
          <p:nvPr/>
        </p:nvSpPr>
        <p:spPr bwMode="auto">
          <a:xfrm flipH="1" flipV="1">
            <a:off x="5580063" y="2933700"/>
            <a:ext cx="800100" cy="795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Line 31"/>
          <p:cNvSpPr>
            <a:spLocks noChangeShapeType="1"/>
          </p:cNvSpPr>
          <p:nvPr/>
        </p:nvSpPr>
        <p:spPr bwMode="auto">
          <a:xfrm flipV="1">
            <a:off x="5583238" y="1952625"/>
            <a:ext cx="0" cy="982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2" name="Line 32"/>
          <p:cNvSpPr>
            <a:spLocks noChangeShapeType="1"/>
          </p:cNvSpPr>
          <p:nvPr/>
        </p:nvSpPr>
        <p:spPr bwMode="auto">
          <a:xfrm flipH="1" flipV="1">
            <a:off x="6662738" y="2933700"/>
            <a:ext cx="3698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3" name="Line 33"/>
          <p:cNvSpPr>
            <a:spLocks noChangeShapeType="1"/>
          </p:cNvSpPr>
          <p:nvPr/>
        </p:nvSpPr>
        <p:spPr bwMode="auto">
          <a:xfrm flipV="1">
            <a:off x="6662738" y="1552575"/>
            <a:ext cx="0" cy="1382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Line 34"/>
          <p:cNvSpPr>
            <a:spLocks noChangeShapeType="1"/>
          </p:cNvSpPr>
          <p:nvPr/>
        </p:nvSpPr>
        <p:spPr bwMode="auto">
          <a:xfrm>
            <a:off x="7034213" y="3302000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5" name="Line 35"/>
          <p:cNvSpPr>
            <a:spLocks noChangeShapeType="1"/>
          </p:cNvSpPr>
          <p:nvPr/>
        </p:nvSpPr>
        <p:spPr bwMode="auto">
          <a:xfrm>
            <a:off x="6381750" y="3727450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6" name="Line 36"/>
          <p:cNvSpPr>
            <a:spLocks noChangeShapeType="1"/>
          </p:cNvSpPr>
          <p:nvPr/>
        </p:nvSpPr>
        <p:spPr bwMode="auto">
          <a:xfrm flipV="1">
            <a:off x="7634288" y="1924050"/>
            <a:ext cx="0" cy="1373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7" name="Line 37"/>
          <p:cNvSpPr>
            <a:spLocks noChangeShapeType="1"/>
          </p:cNvSpPr>
          <p:nvPr/>
        </p:nvSpPr>
        <p:spPr bwMode="auto">
          <a:xfrm flipV="1">
            <a:off x="8056563" y="2754313"/>
            <a:ext cx="0" cy="969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4" name="Text Box 38"/>
          <p:cNvSpPr txBox="1">
            <a:spLocks noChangeArrowheads="1"/>
          </p:cNvSpPr>
          <p:nvPr/>
        </p:nvSpPr>
        <p:spPr bwMode="auto">
          <a:xfrm>
            <a:off x="5546725" y="2144713"/>
            <a:ext cx="53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1600" i="1">
                <a:latin typeface="ISOCPEUR" pitchFamily="34" charset="0"/>
              </a:rPr>
              <a:t>V </a:t>
            </a:r>
          </a:p>
        </p:txBody>
      </p:sp>
      <p:sp>
        <p:nvSpPr>
          <p:cNvPr id="127015" name="Text Box 39"/>
          <p:cNvSpPr txBox="1">
            <a:spLocks noChangeArrowheads="1"/>
          </p:cNvSpPr>
          <p:nvPr/>
        </p:nvSpPr>
        <p:spPr bwMode="auto">
          <a:xfrm>
            <a:off x="7234238" y="2657475"/>
            <a:ext cx="557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1600" i="1">
                <a:latin typeface="ISOCPEUR" pitchFamily="34" charset="0"/>
              </a:rPr>
              <a:t>W </a:t>
            </a:r>
          </a:p>
        </p:txBody>
      </p:sp>
      <p:sp>
        <p:nvSpPr>
          <p:cNvPr id="10270" name="Text Box 40"/>
          <p:cNvSpPr txBox="1">
            <a:spLocks noChangeArrowheads="1"/>
          </p:cNvSpPr>
          <p:nvPr/>
        </p:nvSpPr>
        <p:spPr bwMode="auto">
          <a:xfrm>
            <a:off x="169863" y="196850"/>
            <a:ext cx="8059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三．线段的实长及其与投影面的夹角</a:t>
            </a:r>
            <a:endParaRPr lang="zh-CN" altLang="en-US">
              <a:ea typeface="黑体" pitchFamily="2" charset="-122"/>
            </a:endParaRPr>
          </a:p>
        </p:txBody>
      </p:sp>
      <p:sp>
        <p:nvSpPr>
          <p:cNvPr id="10271" name="Text Box 41"/>
          <p:cNvSpPr txBox="1">
            <a:spLocks noChangeArrowheads="1"/>
          </p:cNvSpPr>
          <p:nvPr/>
        </p:nvSpPr>
        <p:spPr bwMode="auto">
          <a:xfrm>
            <a:off x="5030788" y="3248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27018" name="Text Box 42"/>
          <p:cNvSpPr txBox="1">
            <a:spLocks noChangeArrowheads="1"/>
          </p:cNvSpPr>
          <p:nvPr/>
        </p:nvSpPr>
        <p:spPr bwMode="auto">
          <a:xfrm>
            <a:off x="6562725" y="2289175"/>
            <a:ext cx="2809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>
                <a:latin typeface="ISOCPEUR" pitchFamily="34" charset="0"/>
                <a:sym typeface="Symbol" pitchFamily="18" charset="2"/>
              </a:rPr>
              <a:t></a:t>
            </a:r>
            <a:endParaRPr lang="en-US" altLang="zh-CN" sz="12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19" name="Text Box 43"/>
          <p:cNvSpPr txBox="1">
            <a:spLocks noChangeArrowheads="1"/>
          </p:cNvSpPr>
          <p:nvPr/>
        </p:nvSpPr>
        <p:spPr bwMode="auto">
          <a:xfrm>
            <a:off x="6630988" y="1970088"/>
            <a:ext cx="328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>
                <a:latin typeface="ISOCPEUR" pitchFamily="34" charset="0"/>
                <a:sym typeface="Symbol" pitchFamily="18" charset="2"/>
              </a:rPr>
              <a:t> </a:t>
            </a:r>
            <a:endParaRPr lang="en-US" altLang="zh-CN" sz="12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20" name="Line 44"/>
          <p:cNvSpPr>
            <a:spLocks noChangeShapeType="1"/>
          </p:cNvSpPr>
          <p:nvPr/>
        </p:nvSpPr>
        <p:spPr bwMode="auto">
          <a:xfrm flipV="1">
            <a:off x="6383338" y="2306638"/>
            <a:ext cx="654050" cy="4381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5932488" y="2192338"/>
            <a:ext cx="215900" cy="244475"/>
            <a:chOff x="3708" y="2132"/>
            <a:chExt cx="136" cy="154"/>
          </a:xfrm>
        </p:grpSpPr>
        <p:sp>
          <p:nvSpPr>
            <p:cNvPr id="10323" name="Arc 46"/>
            <p:cNvSpPr>
              <a:spLocks/>
            </p:cNvSpPr>
            <p:nvPr/>
          </p:nvSpPr>
          <p:spPr bwMode="auto">
            <a:xfrm>
              <a:off x="3750" y="2192"/>
              <a:ext cx="56" cy="76"/>
            </a:xfrm>
            <a:custGeom>
              <a:avLst/>
              <a:gdLst>
                <a:gd name="T0" fmla="*/ 0 w 21600"/>
                <a:gd name="T1" fmla="*/ 0 h 29104"/>
                <a:gd name="T2" fmla="*/ 0 w 21600"/>
                <a:gd name="T3" fmla="*/ 0 h 29104"/>
                <a:gd name="T4" fmla="*/ 0 w 21600"/>
                <a:gd name="T5" fmla="*/ 0 h 291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04"/>
                <a:gd name="T11" fmla="*/ 21600 w 21600"/>
                <a:gd name="T12" fmla="*/ 29104 h 29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04" fill="none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</a:path>
                <a:path w="21600" h="29104" stroke="0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  <a:lnTo>
                    <a:pt x="0" y="10158"/>
                  </a:lnTo>
                  <a:lnTo>
                    <a:pt x="19062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4" name="Text Box 47"/>
            <p:cNvSpPr txBox="1">
              <a:spLocks noChangeArrowheads="1"/>
            </p:cNvSpPr>
            <p:nvPr/>
          </p:nvSpPr>
          <p:spPr bwMode="auto">
            <a:xfrm>
              <a:off x="3708" y="2132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7278688" y="2552700"/>
            <a:ext cx="215900" cy="244475"/>
            <a:chOff x="4556" y="2359"/>
            <a:chExt cx="136" cy="154"/>
          </a:xfrm>
        </p:grpSpPr>
        <p:sp>
          <p:nvSpPr>
            <p:cNvPr id="10321" name="Arc 49"/>
            <p:cNvSpPr>
              <a:spLocks/>
            </p:cNvSpPr>
            <p:nvPr/>
          </p:nvSpPr>
          <p:spPr bwMode="auto">
            <a:xfrm>
              <a:off x="4582" y="2420"/>
              <a:ext cx="56" cy="62"/>
            </a:xfrm>
            <a:custGeom>
              <a:avLst/>
              <a:gdLst>
                <a:gd name="T0" fmla="*/ 0 w 21600"/>
                <a:gd name="T1" fmla="*/ 0 h 23975"/>
                <a:gd name="T2" fmla="*/ 0 w 21600"/>
                <a:gd name="T3" fmla="*/ 0 h 23975"/>
                <a:gd name="T4" fmla="*/ 0 w 21600"/>
                <a:gd name="T5" fmla="*/ 0 h 239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975"/>
                <a:gd name="T11" fmla="*/ 21600 w 21600"/>
                <a:gd name="T12" fmla="*/ 23975 h 239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975" fill="none" extrusionOk="0">
                  <a:moveTo>
                    <a:pt x="132" y="23974"/>
                  </a:moveTo>
                  <a:cubicBezTo>
                    <a:pt x="44" y="23183"/>
                    <a:pt x="0" y="22386"/>
                    <a:pt x="0" y="21590"/>
                  </a:cubicBezTo>
                  <a:cubicBezTo>
                    <a:pt x="-1" y="9915"/>
                    <a:pt x="9276" y="353"/>
                    <a:pt x="20945" y="-1"/>
                  </a:cubicBezTo>
                </a:path>
                <a:path w="21600" h="23975" stroke="0" extrusionOk="0">
                  <a:moveTo>
                    <a:pt x="132" y="23974"/>
                  </a:moveTo>
                  <a:cubicBezTo>
                    <a:pt x="44" y="23183"/>
                    <a:pt x="0" y="22386"/>
                    <a:pt x="0" y="21590"/>
                  </a:cubicBezTo>
                  <a:cubicBezTo>
                    <a:pt x="-1" y="9915"/>
                    <a:pt x="9276" y="353"/>
                    <a:pt x="20945" y="-1"/>
                  </a:cubicBezTo>
                  <a:lnTo>
                    <a:pt x="21600" y="21590"/>
                  </a:lnTo>
                  <a:lnTo>
                    <a:pt x="132" y="23974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2" name="Text Box 50"/>
            <p:cNvSpPr txBox="1">
              <a:spLocks noChangeArrowheads="1"/>
            </p:cNvSpPr>
            <p:nvPr/>
          </p:nvSpPr>
          <p:spPr bwMode="auto">
            <a:xfrm>
              <a:off x="4556" y="2359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4146550" y="2490788"/>
            <a:ext cx="1936750" cy="1087437"/>
            <a:chOff x="2567" y="2328"/>
            <a:chExt cx="1220" cy="685"/>
          </a:xfrm>
        </p:grpSpPr>
        <p:sp>
          <p:nvSpPr>
            <p:cNvPr id="10319" name="Text Box 52"/>
            <p:cNvSpPr txBox="1">
              <a:spLocks noChangeArrowheads="1"/>
            </p:cNvSpPr>
            <p:nvPr/>
          </p:nvSpPr>
          <p:spPr bwMode="auto">
            <a:xfrm>
              <a:off x="2567" y="2725"/>
              <a:ext cx="5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△</a:t>
              </a: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  <p:sp>
          <p:nvSpPr>
            <p:cNvPr id="10320" name="Line 53"/>
            <p:cNvSpPr>
              <a:spLocks noChangeShapeType="1"/>
            </p:cNvSpPr>
            <p:nvPr/>
          </p:nvSpPr>
          <p:spPr bwMode="auto">
            <a:xfrm flipV="1">
              <a:off x="2990" y="2328"/>
              <a:ext cx="797" cy="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6935788" y="2752725"/>
            <a:ext cx="1452562" cy="1978025"/>
            <a:chOff x="4340" y="2485"/>
            <a:chExt cx="915" cy="1246"/>
          </a:xfrm>
        </p:grpSpPr>
        <p:sp>
          <p:nvSpPr>
            <p:cNvPr id="10317" name="Text Box 55"/>
            <p:cNvSpPr txBox="1">
              <a:spLocks noChangeArrowheads="1"/>
            </p:cNvSpPr>
            <p:nvPr/>
          </p:nvSpPr>
          <p:spPr bwMode="auto">
            <a:xfrm>
              <a:off x="4660" y="3443"/>
              <a:ext cx="5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△</a:t>
              </a:r>
              <a:r>
                <a:rPr lang="en-US" altLang="zh-CN" sz="2400" i="1">
                  <a:latin typeface="ISOCPEUR" pitchFamily="34" charset="0"/>
                </a:rPr>
                <a:t>X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  <p:sp>
          <p:nvSpPr>
            <p:cNvPr id="10318" name="Line 56"/>
            <p:cNvSpPr>
              <a:spLocks noChangeShapeType="1"/>
            </p:cNvSpPr>
            <p:nvPr/>
          </p:nvSpPr>
          <p:spPr bwMode="auto">
            <a:xfrm flipH="1" flipV="1">
              <a:off x="4340" y="2485"/>
              <a:ext cx="520" cy="1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79" name="Line 58"/>
          <p:cNvSpPr>
            <a:spLocks noChangeShapeType="1"/>
          </p:cNvSpPr>
          <p:nvPr/>
        </p:nvSpPr>
        <p:spPr bwMode="auto">
          <a:xfrm flipV="1">
            <a:off x="6380163" y="1922463"/>
            <a:ext cx="654050" cy="8270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35" name="Line 59"/>
          <p:cNvSpPr>
            <a:spLocks noChangeShapeType="1"/>
          </p:cNvSpPr>
          <p:nvPr/>
        </p:nvSpPr>
        <p:spPr bwMode="auto">
          <a:xfrm flipH="1">
            <a:off x="5961063" y="1922463"/>
            <a:ext cx="1069975" cy="4095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7032625" y="950913"/>
            <a:ext cx="1454150" cy="1223962"/>
            <a:chOff x="4401" y="1350"/>
            <a:chExt cx="916" cy="771"/>
          </a:xfrm>
        </p:grpSpPr>
        <p:sp>
          <p:nvSpPr>
            <p:cNvPr id="10315" name="Line 61"/>
            <p:cNvSpPr>
              <a:spLocks noChangeShapeType="1"/>
            </p:cNvSpPr>
            <p:nvPr/>
          </p:nvSpPr>
          <p:spPr bwMode="auto">
            <a:xfrm flipH="1">
              <a:off x="4401" y="1596"/>
              <a:ext cx="573" cy="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6" name="Text Box 62"/>
            <p:cNvSpPr txBox="1">
              <a:spLocks noChangeArrowheads="1"/>
            </p:cNvSpPr>
            <p:nvPr/>
          </p:nvSpPr>
          <p:spPr bwMode="auto">
            <a:xfrm>
              <a:off x="4734" y="1350"/>
              <a:ext cx="5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△</a:t>
              </a:r>
              <a:r>
                <a:rPr lang="en-US" altLang="zh-CN" sz="2400" i="1">
                  <a:latin typeface="ISOCPEUR" pitchFamily="34" charset="0"/>
                </a:rPr>
                <a:t>Z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</p:grpSp>
      <p:sp>
        <p:nvSpPr>
          <p:cNvPr id="10282" name="Line 63"/>
          <p:cNvSpPr>
            <a:spLocks noChangeShapeType="1"/>
          </p:cNvSpPr>
          <p:nvPr/>
        </p:nvSpPr>
        <p:spPr bwMode="auto">
          <a:xfrm>
            <a:off x="7034213" y="1919288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64"/>
          <p:cNvGrpSpPr>
            <a:grpSpLocks/>
          </p:cNvGrpSpPr>
          <p:nvPr/>
        </p:nvGrpSpPr>
        <p:grpSpPr bwMode="auto">
          <a:xfrm>
            <a:off x="6904038" y="2124075"/>
            <a:ext cx="215900" cy="244475"/>
            <a:chOff x="4320" y="2095"/>
            <a:chExt cx="136" cy="154"/>
          </a:xfrm>
        </p:grpSpPr>
        <p:sp>
          <p:nvSpPr>
            <p:cNvPr id="10313" name="Arc 65"/>
            <p:cNvSpPr>
              <a:spLocks/>
            </p:cNvSpPr>
            <p:nvPr/>
          </p:nvSpPr>
          <p:spPr bwMode="auto">
            <a:xfrm>
              <a:off x="4359" y="2160"/>
              <a:ext cx="56" cy="72"/>
            </a:xfrm>
            <a:custGeom>
              <a:avLst/>
              <a:gdLst>
                <a:gd name="T0" fmla="*/ 0 w 21600"/>
                <a:gd name="T1" fmla="*/ 0 h 27687"/>
                <a:gd name="T2" fmla="*/ 0 w 21600"/>
                <a:gd name="T3" fmla="*/ 0 h 27687"/>
                <a:gd name="T4" fmla="*/ 0 w 21600"/>
                <a:gd name="T5" fmla="*/ 0 h 2768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7687"/>
                <a:gd name="T11" fmla="*/ 21600 w 21600"/>
                <a:gd name="T12" fmla="*/ 27687 h 276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7687" fill="none" extrusionOk="0">
                  <a:moveTo>
                    <a:pt x="1174" y="27687"/>
                  </a:moveTo>
                  <a:cubicBezTo>
                    <a:pt x="397" y="25425"/>
                    <a:pt x="0" y="23051"/>
                    <a:pt x="0" y="20660"/>
                  </a:cubicBezTo>
                  <a:cubicBezTo>
                    <a:pt x="-1" y="11158"/>
                    <a:pt x="6208" y="2773"/>
                    <a:pt x="15296" y="0"/>
                  </a:cubicBezTo>
                </a:path>
                <a:path w="21600" h="27687" stroke="0" extrusionOk="0">
                  <a:moveTo>
                    <a:pt x="1174" y="27687"/>
                  </a:moveTo>
                  <a:cubicBezTo>
                    <a:pt x="397" y="25425"/>
                    <a:pt x="0" y="23051"/>
                    <a:pt x="0" y="20660"/>
                  </a:cubicBezTo>
                  <a:cubicBezTo>
                    <a:pt x="-1" y="11158"/>
                    <a:pt x="6208" y="2773"/>
                    <a:pt x="15296" y="0"/>
                  </a:cubicBezTo>
                  <a:lnTo>
                    <a:pt x="21600" y="20660"/>
                  </a:lnTo>
                  <a:lnTo>
                    <a:pt x="1174" y="27687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4" name="Text Box 66"/>
            <p:cNvSpPr txBox="1">
              <a:spLocks noChangeArrowheads="1"/>
            </p:cNvSpPr>
            <p:nvPr/>
          </p:nvSpPr>
          <p:spPr bwMode="auto">
            <a:xfrm>
              <a:off x="4320" y="2095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sp>
        <p:nvSpPr>
          <p:cNvPr id="127043" name="Text Box 67"/>
          <p:cNvSpPr txBox="1">
            <a:spLocks noChangeArrowheads="1"/>
          </p:cNvSpPr>
          <p:nvPr/>
        </p:nvSpPr>
        <p:spPr bwMode="auto">
          <a:xfrm>
            <a:off x="6845300" y="2241550"/>
            <a:ext cx="51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1600" i="1">
                <a:latin typeface="ISOCPEUR" pitchFamily="34" charset="0"/>
              </a:rPr>
              <a:t>H </a:t>
            </a:r>
          </a:p>
        </p:txBody>
      </p:sp>
      <p:sp>
        <p:nvSpPr>
          <p:cNvPr id="127044" name="Line 68"/>
          <p:cNvSpPr>
            <a:spLocks noChangeShapeType="1"/>
          </p:cNvSpPr>
          <p:nvPr/>
        </p:nvSpPr>
        <p:spPr bwMode="auto">
          <a:xfrm>
            <a:off x="7034213" y="1928813"/>
            <a:ext cx="422275" cy="8159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5" name="Oval 69"/>
          <p:cNvSpPr>
            <a:spLocks noChangeArrowheads="1"/>
          </p:cNvSpPr>
          <p:nvPr/>
        </p:nvSpPr>
        <p:spPr bwMode="auto">
          <a:xfrm>
            <a:off x="6962775" y="2014538"/>
            <a:ext cx="117475" cy="127000"/>
          </a:xfrm>
          <a:prstGeom prst="ellipse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7046" name="Text Box 70"/>
          <p:cNvSpPr txBox="1">
            <a:spLocks noChangeArrowheads="1"/>
          </p:cNvSpPr>
          <p:nvPr/>
        </p:nvSpPr>
        <p:spPr bwMode="auto">
          <a:xfrm>
            <a:off x="6880225" y="1927225"/>
            <a:ext cx="3063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i="1">
                <a:latin typeface="ISOCPEUR" pitchFamily="34" charset="0"/>
                <a:sym typeface="Symbol" pitchFamily="18" charset="2"/>
              </a:rPr>
              <a:t> </a:t>
            </a:r>
            <a:endParaRPr lang="en-US" altLang="zh-CN" sz="12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48" name="Text Box 72"/>
          <p:cNvSpPr txBox="1">
            <a:spLocks noChangeArrowheads="1"/>
          </p:cNvSpPr>
          <p:nvPr/>
        </p:nvSpPr>
        <p:spPr bwMode="auto">
          <a:xfrm>
            <a:off x="1970088" y="942975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f’ </a:t>
            </a:r>
          </a:p>
        </p:txBody>
      </p:sp>
      <p:sp>
        <p:nvSpPr>
          <p:cNvPr id="127049" name="Line 73"/>
          <p:cNvSpPr>
            <a:spLocks noChangeShapeType="1"/>
          </p:cNvSpPr>
          <p:nvPr/>
        </p:nvSpPr>
        <p:spPr bwMode="auto">
          <a:xfrm flipH="1">
            <a:off x="1220788" y="1852613"/>
            <a:ext cx="20637" cy="2338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0" name="Text Box 74"/>
          <p:cNvSpPr txBox="1">
            <a:spLocks noChangeArrowheads="1"/>
          </p:cNvSpPr>
          <p:nvPr/>
        </p:nvSpPr>
        <p:spPr bwMode="auto">
          <a:xfrm>
            <a:off x="928688" y="38973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e</a:t>
            </a:r>
          </a:p>
        </p:txBody>
      </p:sp>
      <p:sp>
        <p:nvSpPr>
          <p:cNvPr id="127051" name="Text Box 75"/>
          <p:cNvSpPr txBox="1">
            <a:spLocks noChangeArrowheads="1"/>
          </p:cNvSpPr>
          <p:nvPr/>
        </p:nvSpPr>
        <p:spPr bwMode="auto">
          <a:xfrm>
            <a:off x="1720850" y="2749550"/>
            <a:ext cx="568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</a:p>
        </p:txBody>
      </p:sp>
      <p:sp>
        <p:nvSpPr>
          <p:cNvPr id="127052" name="Line 76"/>
          <p:cNvSpPr>
            <a:spLocks noChangeShapeType="1"/>
          </p:cNvSpPr>
          <p:nvPr/>
        </p:nvSpPr>
        <p:spPr bwMode="auto">
          <a:xfrm flipV="1">
            <a:off x="1233488" y="1849438"/>
            <a:ext cx="94615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5" name="Line 79"/>
          <p:cNvSpPr>
            <a:spLocks noChangeShapeType="1"/>
          </p:cNvSpPr>
          <p:nvPr/>
        </p:nvSpPr>
        <p:spPr bwMode="auto">
          <a:xfrm flipV="1">
            <a:off x="1239838" y="3425825"/>
            <a:ext cx="153035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6" name="Text Box 80"/>
          <p:cNvSpPr txBox="1">
            <a:spLocks noChangeArrowheads="1"/>
          </p:cNvSpPr>
          <p:nvPr/>
        </p:nvSpPr>
        <p:spPr bwMode="auto">
          <a:xfrm>
            <a:off x="2578100" y="3182938"/>
            <a:ext cx="59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</a:t>
            </a:r>
            <a:r>
              <a:rPr lang="en-US" altLang="zh-CN" sz="2000" i="1" baseline="-25000">
                <a:latin typeface="ISOCPEUR" pitchFamily="34" charset="0"/>
                <a:ea typeface="仿宋_GB2312" pitchFamily="49" charset="-122"/>
              </a:rPr>
              <a:t>1</a:t>
            </a:r>
          </a:p>
        </p:txBody>
      </p:sp>
      <p:sp>
        <p:nvSpPr>
          <p:cNvPr id="127057" name="Line 81"/>
          <p:cNvSpPr>
            <a:spLocks noChangeShapeType="1"/>
          </p:cNvSpPr>
          <p:nvPr/>
        </p:nvSpPr>
        <p:spPr bwMode="auto">
          <a:xfrm flipV="1">
            <a:off x="1228725" y="3067050"/>
            <a:ext cx="946150" cy="1111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3" name="Text Box 87"/>
          <p:cNvSpPr txBox="1">
            <a:spLocks noChangeArrowheads="1"/>
          </p:cNvSpPr>
          <p:nvPr/>
        </p:nvSpPr>
        <p:spPr bwMode="auto">
          <a:xfrm>
            <a:off x="869950" y="1539875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</a:p>
        </p:txBody>
      </p:sp>
      <p:sp>
        <p:nvSpPr>
          <p:cNvPr id="127064" name="Line 88"/>
          <p:cNvSpPr>
            <a:spLocks noChangeShapeType="1"/>
          </p:cNvSpPr>
          <p:nvPr/>
        </p:nvSpPr>
        <p:spPr bwMode="auto">
          <a:xfrm flipV="1">
            <a:off x="2174875" y="1281113"/>
            <a:ext cx="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5" name="Line 89"/>
          <p:cNvSpPr>
            <a:spLocks noChangeShapeType="1"/>
          </p:cNvSpPr>
          <p:nvPr/>
        </p:nvSpPr>
        <p:spPr bwMode="auto">
          <a:xfrm flipH="1">
            <a:off x="1241425" y="1281113"/>
            <a:ext cx="93345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7" name="Line 91"/>
          <p:cNvSpPr>
            <a:spLocks noChangeShapeType="1"/>
          </p:cNvSpPr>
          <p:nvPr/>
        </p:nvSpPr>
        <p:spPr bwMode="auto">
          <a:xfrm>
            <a:off x="833438" y="2633663"/>
            <a:ext cx="2117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9" name="Line 103"/>
          <p:cNvSpPr>
            <a:spLocks noChangeShapeType="1"/>
          </p:cNvSpPr>
          <p:nvPr/>
        </p:nvSpPr>
        <p:spPr bwMode="auto">
          <a:xfrm flipV="1">
            <a:off x="2136775" y="1489075"/>
            <a:ext cx="71438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2165350" y="1023938"/>
            <a:ext cx="1639888" cy="693737"/>
            <a:chOff x="4401" y="1350"/>
            <a:chExt cx="1176" cy="771"/>
          </a:xfrm>
        </p:grpSpPr>
        <p:sp>
          <p:nvSpPr>
            <p:cNvPr id="10311" name="Line 106"/>
            <p:cNvSpPr>
              <a:spLocks noChangeShapeType="1"/>
            </p:cNvSpPr>
            <p:nvPr/>
          </p:nvSpPr>
          <p:spPr bwMode="auto">
            <a:xfrm flipH="1">
              <a:off x="4401" y="1596"/>
              <a:ext cx="573" cy="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2" name="Text Box 107"/>
            <p:cNvSpPr txBox="1">
              <a:spLocks noChangeArrowheads="1"/>
            </p:cNvSpPr>
            <p:nvPr/>
          </p:nvSpPr>
          <p:spPr bwMode="auto">
            <a:xfrm>
              <a:off x="4477" y="1350"/>
              <a:ext cx="1100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宋体" charset="-122"/>
                </a:rPr>
                <a:t>    △</a:t>
              </a:r>
              <a:r>
                <a:rPr lang="en-US" altLang="zh-CN" sz="2400" i="1">
                  <a:latin typeface="ISOCPEUR" pitchFamily="34" charset="0"/>
                </a:rPr>
                <a:t>Z</a:t>
              </a:r>
              <a:r>
                <a:rPr lang="en-US" altLang="zh-CN" sz="2400" i="1" baseline="-25000">
                  <a:latin typeface="ISOCPEUR" pitchFamily="34" charset="0"/>
                </a:rPr>
                <a:t>EF </a:t>
              </a:r>
            </a:p>
          </p:txBody>
        </p:sp>
      </p:grpSp>
      <p:sp>
        <p:nvSpPr>
          <p:cNvPr id="127084" name="Line 108"/>
          <p:cNvSpPr>
            <a:spLocks noChangeShapeType="1"/>
          </p:cNvSpPr>
          <p:nvPr/>
        </p:nvSpPr>
        <p:spPr bwMode="auto">
          <a:xfrm>
            <a:off x="2182813" y="3074988"/>
            <a:ext cx="5842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86" name="Line 110"/>
          <p:cNvSpPr>
            <a:spLocks noChangeShapeType="1"/>
          </p:cNvSpPr>
          <p:nvPr/>
        </p:nvSpPr>
        <p:spPr bwMode="auto">
          <a:xfrm flipV="1">
            <a:off x="2136775" y="1524000"/>
            <a:ext cx="71438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7087" name="Line 111"/>
          <p:cNvSpPr>
            <a:spLocks noChangeShapeType="1"/>
          </p:cNvSpPr>
          <p:nvPr/>
        </p:nvSpPr>
        <p:spPr bwMode="auto">
          <a:xfrm flipV="1">
            <a:off x="2441575" y="3228975"/>
            <a:ext cx="71438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7088" name="Line 112"/>
          <p:cNvSpPr>
            <a:spLocks noChangeShapeType="1"/>
          </p:cNvSpPr>
          <p:nvPr/>
        </p:nvSpPr>
        <p:spPr bwMode="auto">
          <a:xfrm flipV="1">
            <a:off x="2468563" y="3265488"/>
            <a:ext cx="71437" cy="28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1" name="Group 116"/>
          <p:cNvGrpSpPr>
            <a:grpSpLocks/>
          </p:cNvGrpSpPr>
          <p:nvPr/>
        </p:nvGrpSpPr>
        <p:grpSpPr bwMode="auto">
          <a:xfrm rot="3667560">
            <a:off x="2122488" y="2984500"/>
            <a:ext cx="215900" cy="244475"/>
            <a:chOff x="3708" y="2132"/>
            <a:chExt cx="136" cy="154"/>
          </a:xfrm>
        </p:grpSpPr>
        <p:sp>
          <p:nvSpPr>
            <p:cNvPr id="10309" name="Arc 117"/>
            <p:cNvSpPr>
              <a:spLocks/>
            </p:cNvSpPr>
            <p:nvPr/>
          </p:nvSpPr>
          <p:spPr bwMode="auto">
            <a:xfrm>
              <a:off x="3750" y="2192"/>
              <a:ext cx="56" cy="76"/>
            </a:xfrm>
            <a:custGeom>
              <a:avLst/>
              <a:gdLst>
                <a:gd name="T0" fmla="*/ 0 w 21600"/>
                <a:gd name="T1" fmla="*/ 0 h 29104"/>
                <a:gd name="T2" fmla="*/ 0 w 21600"/>
                <a:gd name="T3" fmla="*/ 0 h 29104"/>
                <a:gd name="T4" fmla="*/ 0 w 21600"/>
                <a:gd name="T5" fmla="*/ 0 h 2910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04"/>
                <a:gd name="T11" fmla="*/ 21600 w 21600"/>
                <a:gd name="T12" fmla="*/ 29104 h 29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04" fill="none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</a:path>
                <a:path w="21600" h="29104" stroke="0" extrusionOk="0">
                  <a:moveTo>
                    <a:pt x="19062" y="-1"/>
                  </a:moveTo>
                  <a:cubicBezTo>
                    <a:pt x="20728" y="3126"/>
                    <a:pt x="21600" y="6615"/>
                    <a:pt x="21600" y="10158"/>
                  </a:cubicBezTo>
                  <a:cubicBezTo>
                    <a:pt x="21600" y="18050"/>
                    <a:pt x="17295" y="25314"/>
                    <a:pt x="10373" y="29104"/>
                  </a:cubicBezTo>
                  <a:lnTo>
                    <a:pt x="0" y="10158"/>
                  </a:lnTo>
                  <a:lnTo>
                    <a:pt x="19062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0" name="Text Box 118"/>
            <p:cNvSpPr txBox="1">
              <a:spLocks noChangeArrowheads="1"/>
            </p:cNvSpPr>
            <p:nvPr/>
          </p:nvSpPr>
          <p:spPr bwMode="auto">
            <a:xfrm>
              <a:off x="3708" y="2132"/>
              <a:ext cx="1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>
                  <a:solidFill>
                    <a:srgbClr val="0000CC"/>
                  </a:solidFill>
                </a:rPr>
                <a:t>.</a:t>
              </a:r>
            </a:p>
          </p:txBody>
        </p:sp>
      </p:grpSp>
      <p:sp>
        <p:nvSpPr>
          <p:cNvPr id="127095" name="Text Box 119"/>
          <p:cNvSpPr txBox="1">
            <a:spLocks noChangeArrowheads="1"/>
          </p:cNvSpPr>
          <p:nvPr/>
        </p:nvSpPr>
        <p:spPr bwMode="auto">
          <a:xfrm>
            <a:off x="1444625" y="3651250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i="1">
                <a:latin typeface="ISOCPEUR" pitchFamily="34" charset="0"/>
                <a:sym typeface="Symbol" pitchFamily="18" charset="2"/>
              </a:rPr>
              <a:t></a:t>
            </a:r>
            <a:endParaRPr lang="en-US" altLang="zh-CN" sz="2800" i="1">
              <a:latin typeface="ISOCPEUR" pitchFamily="34" charset="0"/>
              <a:sym typeface="Symbol" pitchFamily="18" charset="2"/>
            </a:endParaRPr>
          </a:p>
        </p:txBody>
      </p:sp>
      <p:sp>
        <p:nvSpPr>
          <p:cNvPr id="127096" name="Text Box 120"/>
          <p:cNvSpPr txBox="1">
            <a:spLocks noChangeArrowheads="1"/>
          </p:cNvSpPr>
          <p:nvPr/>
        </p:nvSpPr>
        <p:spPr bwMode="auto">
          <a:xfrm>
            <a:off x="550863" y="5333581"/>
            <a:ext cx="8040687" cy="124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直角三角形法</a:t>
            </a:r>
            <a:r>
              <a:rPr lang="zh-CN" altLang="en-US" sz="2800" dirty="0">
                <a:ea typeface="黑体" pitchFamily="2" charset="-122"/>
              </a:rPr>
              <a:t>：</a:t>
            </a:r>
            <a:r>
              <a:rPr lang="zh-CN" altLang="en-US" sz="2400" dirty="0">
                <a:ea typeface="黑体" pitchFamily="2" charset="-122"/>
              </a:rPr>
              <a:t>利用直线的一个已知投影和相对应的坐标差构建直角三角形，斜边为实长，斜边与已知投影的夹角为线段与投影面的夹角。</a:t>
            </a:r>
          </a:p>
        </p:txBody>
      </p:sp>
      <p:sp>
        <p:nvSpPr>
          <p:cNvPr id="2" name="Text Box 120">
            <a:extLst>
              <a:ext uri="{FF2B5EF4-FFF2-40B4-BE49-F238E27FC236}">
                <a16:creationId xmlns:a16="http://schemas.microsoft.com/office/drawing/2014/main" id="{930F6787-E76C-BC0D-60E4-A75AD74D9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523" y="4378839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黑体" pitchFamily="2" charset="-122"/>
              </a:rPr>
              <a:t>求</a:t>
            </a:r>
            <a:r>
              <a:rPr lang="en-US" altLang="zh-CN" sz="2400" dirty="0">
                <a:ea typeface="黑体" pitchFamily="2" charset="-122"/>
              </a:rPr>
              <a:t>EF</a:t>
            </a:r>
            <a:r>
              <a:rPr lang="zh-CN" altLang="en-US" sz="2400" dirty="0">
                <a:ea typeface="黑体" pitchFamily="2" charset="-122"/>
              </a:rPr>
              <a:t>与</a:t>
            </a:r>
            <a:r>
              <a:rPr lang="en-US" altLang="zh-CN" sz="2400" dirty="0">
                <a:ea typeface="黑体" pitchFamily="2" charset="-122"/>
              </a:rPr>
              <a:t>H</a:t>
            </a:r>
            <a:r>
              <a:rPr lang="zh-CN" altLang="en-US" sz="2400" dirty="0">
                <a:ea typeface="黑体" pitchFamily="2" charset="-122"/>
              </a:rPr>
              <a:t>面夹角和实长？</a:t>
            </a:r>
          </a:p>
        </p:txBody>
      </p:sp>
    </p:spTree>
    <p:extLst>
      <p:ext uri="{BB962C8B-B14F-4D97-AF65-F5344CB8AC3E}">
        <p14:creationId xmlns:p14="http://schemas.microsoft.com/office/powerpoint/2010/main" val="53997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2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0"/>
                                        <p:tgtEl>
                                          <p:spTgt spid="1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1000"/>
                                        <p:tgtEl>
                                          <p:spTgt spid="12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00"/>
                            </p:stCondLst>
                            <p:childTnLst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2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27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14" grpId="0" autoUpdateAnimBg="0"/>
      <p:bldP spid="127015" grpId="0" autoUpdateAnimBg="0"/>
      <p:bldP spid="127018" grpId="0" autoUpdateAnimBg="0"/>
      <p:bldP spid="127019" grpId="0" autoUpdateAnimBg="0"/>
      <p:bldP spid="127020" grpId="0" animBg="1"/>
      <p:bldP spid="127035" grpId="0" animBg="1"/>
      <p:bldP spid="127043" grpId="0" autoUpdateAnimBg="0"/>
      <p:bldP spid="127044" grpId="0" animBg="1"/>
      <p:bldP spid="127045" grpId="0" animBg="1"/>
      <p:bldP spid="127046" grpId="0"/>
      <p:bldP spid="127048" grpId="0"/>
      <p:bldP spid="127049" grpId="0" animBg="1"/>
      <p:bldP spid="127050" grpId="0"/>
      <p:bldP spid="127051" grpId="0"/>
      <p:bldP spid="127052" grpId="0" animBg="1"/>
      <p:bldP spid="127055" grpId="0" animBg="1"/>
      <p:bldP spid="127056" grpId="0"/>
      <p:bldP spid="127057" grpId="0" animBg="1"/>
      <p:bldP spid="127063" grpId="0"/>
      <p:bldP spid="127064" grpId="0" animBg="1"/>
      <p:bldP spid="127065" grpId="0" animBg="1"/>
      <p:bldP spid="127067" grpId="0" animBg="1"/>
      <p:bldP spid="127079" grpId="0" animBg="1"/>
      <p:bldP spid="127084" grpId="0" animBg="1"/>
      <p:bldP spid="127086" grpId="0" animBg="1"/>
      <p:bldP spid="127087" grpId="0" animBg="1"/>
      <p:bldP spid="127088" grpId="0" animBg="1"/>
      <p:bldP spid="127095" grpId="0"/>
      <p:bldP spid="127096" grpId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341313" y="293688"/>
            <a:ext cx="8802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四．属于直线的点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222250" y="1216025"/>
            <a:ext cx="892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同名投影（同面投影）：不同几何要素在同一投影面上的投影。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926013" y="4037013"/>
            <a:ext cx="3427412" cy="461962"/>
            <a:chOff x="127" y="2555"/>
            <a:chExt cx="2641" cy="291"/>
          </a:xfrm>
        </p:grpSpPr>
        <p:sp>
          <p:nvSpPr>
            <p:cNvPr id="11342" name="Text Box 13"/>
            <p:cNvSpPr txBox="1">
              <a:spLocks noChangeArrowheads="1"/>
            </p:cNvSpPr>
            <p:nvPr/>
          </p:nvSpPr>
          <p:spPr bwMode="auto">
            <a:xfrm>
              <a:off x="127" y="2558"/>
              <a:ext cx="3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1343" name="Text Box 14"/>
            <p:cNvSpPr txBox="1">
              <a:spLocks noChangeArrowheads="1"/>
            </p:cNvSpPr>
            <p:nvPr/>
          </p:nvSpPr>
          <p:spPr bwMode="auto">
            <a:xfrm>
              <a:off x="2406" y="2555"/>
              <a:ext cx="3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1344" name="Line 15"/>
            <p:cNvSpPr>
              <a:spLocks noChangeShapeType="1"/>
            </p:cNvSpPr>
            <p:nvPr/>
          </p:nvSpPr>
          <p:spPr bwMode="auto">
            <a:xfrm>
              <a:off x="408" y="280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364163" y="2557463"/>
            <a:ext cx="2779712" cy="3692525"/>
            <a:chOff x="714" y="1129"/>
            <a:chExt cx="1751" cy="2326"/>
          </a:xfrm>
        </p:grpSpPr>
        <p:sp>
          <p:nvSpPr>
            <p:cNvPr id="11334" name="Line 33"/>
            <p:cNvSpPr>
              <a:spLocks noChangeShapeType="1"/>
            </p:cNvSpPr>
            <p:nvPr/>
          </p:nvSpPr>
          <p:spPr bwMode="auto">
            <a:xfrm>
              <a:off x="984" y="2058"/>
              <a:ext cx="0" cy="1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5" name="Line 34"/>
            <p:cNvSpPr>
              <a:spLocks noChangeShapeType="1"/>
            </p:cNvSpPr>
            <p:nvPr/>
          </p:nvSpPr>
          <p:spPr bwMode="auto">
            <a:xfrm>
              <a:off x="2016" y="1224"/>
              <a:ext cx="0" cy="17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6" name="Line 35"/>
            <p:cNvSpPr>
              <a:spLocks noChangeShapeType="1"/>
            </p:cNvSpPr>
            <p:nvPr/>
          </p:nvSpPr>
          <p:spPr bwMode="auto">
            <a:xfrm flipH="1">
              <a:off x="984" y="2946"/>
              <a:ext cx="103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7" name="Line 36"/>
            <p:cNvSpPr>
              <a:spLocks noChangeShapeType="1"/>
            </p:cNvSpPr>
            <p:nvPr/>
          </p:nvSpPr>
          <p:spPr bwMode="auto">
            <a:xfrm flipV="1">
              <a:off x="984" y="1218"/>
              <a:ext cx="1038" cy="8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8" name="Text Box 37"/>
            <p:cNvSpPr txBox="1">
              <a:spLocks noChangeArrowheads="1"/>
            </p:cNvSpPr>
            <p:nvPr/>
          </p:nvSpPr>
          <p:spPr bwMode="auto">
            <a:xfrm>
              <a:off x="714" y="1891"/>
              <a:ext cx="4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</a:p>
          </p:txBody>
        </p:sp>
        <p:sp>
          <p:nvSpPr>
            <p:cNvPr id="11339" name="Text Box 38"/>
            <p:cNvSpPr txBox="1">
              <a:spLocks noChangeArrowheads="1"/>
            </p:cNvSpPr>
            <p:nvPr/>
          </p:nvSpPr>
          <p:spPr bwMode="auto">
            <a:xfrm>
              <a:off x="2005" y="1129"/>
              <a:ext cx="4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  <p:sp>
          <p:nvSpPr>
            <p:cNvPr id="11340" name="Text Box 39"/>
            <p:cNvSpPr txBox="1">
              <a:spLocks noChangeArrowheads="1"/>
            </p:cNvSpPr>
            <p:nvPr/>
          </p:nvSpPr>
          <p:spPr bwMode="auto">
            <a:xfrm>
              <a:off x="768" y="320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1341" name="Text Box 40"/>
            <p:cNvSpPr txBox="1">
              <a:spLocks noChangeArrowheads="1"/>
            </p:cNvSpPr>
            <p:nvPr/>
          </p:nvSpPr>
          <p:spPr bwMode="auto">
            <a:xfrm>
              <a:off x="1919" y="2884"/>
              <a:ext cx="4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 </a:t>
              </a:r>
              <a:endParaRPr lang="en-US" altLang="zh-CN" sz="2000" i="1">
                <a:latin typeface="ISOCPEUR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6227763" y="2992438"/>
            <a:ext cx="714375" cy="3082925"/>
            <a:chOff x="1260" y="1405"/>
            <a:chExt cx="450" cy="1942"/>
          </a:xfrm>
        </p:grpSpPr>
        <p:sp>
          <p:nvSpPr>
            <p:cNvPr id="11329" name="Line 42"/>
            <p:cNvSpPr>
              <a:spLocks noChangeShapeType="1"/>
            </p:cNvSpPr>
            <p:nvPr/>
          </p:nvSpPr>
          <p:spPr bwMode="auto">
            <a:xfrm>
              <a:off x="1548" y="1608"/>
              <a:ext cx="0" cy="14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0" name="AutoShape 43"/>
            <p:cNvSpPr>
              <a:spLocks noChangeArrowheads="1"/>
            </p:cNvSpPr>
            <p:nvPr/>
          </p:nvSpPr>
          <p:spPr bwMode="auto">
            <a:xfrm>
              <a:off x="1527" y="1577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31" name="AutoShape 44"/>
            <p:cNvSpPr>
              <a:spLocks noChangeArrowheads="1"/>
            </p:cNvSpPr>
            <p:nvPr/>
          </p:nvSpPr>
          <p:spPr bwMode="auto">
            <a:xfrm>
              <a:off x="1527" y="3089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32" name="Text Box 45"/>
            <p:cNvSpPr txBox="1">
              <a:spLocks noChangeArrowheads="1"/>
            </p:cNvSpPr>
            <p:nvPr/>
          </p:nvSpPr>
          <p:spPr bwMode="auto">
            <a:xfrm>
              <a:off x="1362" y="3097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l</a:t>
              </a:r>
            </a:p>
          </p:txBody>
        </p:sp>
        <p:sp>
          <p:nvSpPr>
            <p:cNvPr id="11333" name="Text Box 46"/>
            <p:cNvSpPr txBox="1">
              <a:spLocks noChangeArrowheads="1"/>
            </p:cNvSpPr>
            <p:nvPr/>
          </p:nvSpPr>
          <p:spPr bwMode="auto">
            <a:xfrm>
              <a:off x="1260" y="1405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l’</a:t>
              </a:r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5934075" y="3206750"/>
            <a:ext cx="784225" cy="3248025"/>
            <a:chOff x="1114" y="1507"/>
            <a:chExt cx="494" cy="2046"/>
          </a:xfrm>
        </p:grpSpPr>
        <p:sp>
          <p:nvSpPr>
            <p:cNvPr id="11324" name="Line 61"/>
            <p:cNvSpPr>
              <a:spLocks noChangeShapeType="1"/>
            </p:cNvSpPr>
            <p:nvPr/>
          </p:nvSpPr>
          <p:spPr bwMode="auto">
            <a:xfrm>
              <a:off x="1380" y="1734"/>
              <a:ext cx="0" cy="17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5" name="AutoShape 62"/>
            <p:cNvSpPr>
              <a:spLocks noChangeArrowheads="1"/>
            </p:cNvSpPr>
            <p:nvPr/>
          </p:nvSpPr>
          <p:spPr bwMode="auto">
            <a:xfrm>
              <a:off x="1359" y="3437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26" name="AutoShape 63"/>
            <p:cNvSpPr>
              <a:spLocks noChangeArrowheads="1"/>
            </p:cNvSpPr>
            <p:nvPr/>
          </p:nvSpPr>
          <p:spPr bwMode="auto">
            <a:xfrm>
              <a:off x="1359" y="1721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1327" name="Text Box 64"/>
            <p:cNvSpPr txBox="1">
              <a:spLocks noChangeArrowheads="1"/>
            </p:cNvSpPr>
            <p:nvPr/>
          </p:nvSpPr>
          <p:spPr bwMode="auto">
            <a:xfrm>
              <a:off x="1367" y="3322"/>
              <a:ext cx="24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k </a:t>
              </a:r>
            </a:p>
          </p:txBody>
        </p:sp>
        <p:sp>
          <p:nvSpPr>
            <p:cNvPr id="11328" name="Text Box 65"/>
            <p:cNvSpPr txBox="1">
              <a:spLocks noChangeArrowheads="1"/>
            </p:cNvSpPr>
            <p:nvPr/>
          </p:nvSpPr>
          <p:spPr bwMode="auto">
            <a:xfrm>
              <a:off x="1114" y="1507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k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</p:grpSp>
      <p:sp>
        <p:nvSpPr>
          <p:cNvPr id="128066" name="Text Box 66"/>
          <p:cNvSpPr txBox="1">
            <a:spLocks noChangeArrowheads="1"/>
          </p:cNvSpPr>
          <p:nvPr/>
        </p:nvSpPr>
        <p:spPr bwMode="auto">
          <a:xfrm>
            <a:off x="271463" y="1816100"/>
            <a:ext cx="84550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黑体" pitchFamily="2" charset="-122"/>
              </a:rPr>
              <a:t>几何条件：属于直线上的点，其各个投影必在该直线的同名投影上，且将直线的各投影分割成和空间相同的比例。</a:t>
            </a:r>
          </a:p>
        </p:txBody>
      </p: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766763" y="2886075"/>
            <a:ext cx="3556000" cy="3211513"/>
            <a:chOff x="3251" y="899"/>
            <a:chExt cx="2240" cy="2023"/>
          </a:xfrm>
        </p:grpSpPr>
        <p:sp>
          <p:nvSpPr>
            <p:cNvPr id="11313" name="Line 68"/>
            <p:cNvSpPr>
              <a:spLocks noChangeShapeType="1"/>
            </p:cNvSpPr>
            <p:nvPr/>
          </p:nvSpPr>
          <p:spPr bwMode="auto">
            <a:xfrm>
              <a:off x="5491" y="1656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14" name="Group 69"/>
            <p:cNvGrpSpPr>
              <a:grpSpLocks/>
            </p:cNvGrpSpPr>
            <p:nvPr/>
          </p:nvGrpSpPr>
          <p:grpSpPr bwMode="auto">
            <a:xfrm>
              <a:off x="3251" y="899"/>
              <a:ext cx="2240" cy="2023"/>
              <a:chOff x="3251" y="899"/>
              <a:chExt cx="2240" cy="2023"/>
            </a:xfrm>
          </p:grpSpPr>
          <p:sp>
            <p:nvSpPr>
              <p:cNvPr id="11315" name="Rectangle 70"/>
              <p:cNvSpPr>
                <a:spLocks noChangeArrowheads="1"/>
              </p:cNvSpPr>
              <p:nvPr/>
            </p:nvSpPr>
            <p:spPr bwMode="auto">
              <a:xfrm>
                <a:off x="3255" y="902"/>
                <a:ext cx="1479" cy="1211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1316" name="Freeform 71"/>
              <p:cNvSpPr>
                <a:spLocks/>
              </p:cNvSpPr>
              <p:nvPr/>
            </p:nvSpPr>
            <p:spPr bwMode="auto">
              <a:xfrm>
                <a:off x="3255" y="901"/>
                <a:ext cx="1481" cy="1213"/>
              </a:xfrm>
              <a:custGeom>
                <a:avLst/>
                <a:gdLst>
                  <a:gd name="T0" fmla="*/ 1118 w 1589"/>
                  <a:gd name="T1" fmla="*/ 0 h 1300"/>
                  <a:gd name="T2" fmla="*/ 0 w 1589"/>
                  <a:gd name="T3" fmla="*/ 0 h 1300"/>
                  <a:gd name="T4" fmla="*/ 0 w 1589"/>
                  <a:gd name="T5" fmla="*/ 919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7" name="Freeform 72"/>
              <p:cNvSpPr>
                <a:spLocks/>
              </p:cNvSpPr>
              <p:nvPr/>
            </p:nvSpPr>
            <p:spPr bwMode="auto">
              <a:xfrm>
                <a:off x="4736" y="901"/>
                <a:ext cx="749" cy="1959"/>
              </a:xfrm>
              <a:custGeom>
                <a:avLst/>
                <a:gdLst>
                  <a:gd name="T0" fmla="*/ 0 w 804"/>
                  <a:gd name="T1" fmla="*/ 0 h 2100"/>
                  <a:gd name="T2" fmla="*/ 0 w 804"/>
                  <a:gd name="T3" fmla="*/ 915 h 2100"/>
                  <a:gd name="T4" fmla="*/ 565 w 804"/>
                  <a:gd name="T5" fmla="*/ 1483 h 2100"/>
                  <a:gd name="T6" fmla="*/ 565 w 804"/>
                  <a:gd name="T7" fmla="*/ 573 h 2100"/>
                  <a:gd name="T8" fmla="*/ 0 w 804"/>
                  <a:gd name="T9" fmla="*/ 0 h 2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4"/>
                  <a:gd name="T16" fmla="*/ 0 h 2100"/>
                  <a:gd name="T17" fmla="*/ 804 w 804"/>
                  <a:gd name="T18" fmla="*/ 2100 h 2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4" h="2100">
                    <a:moveTo>
                      <a:pt x="0" y="0"/>
                    </a:moveTo>
                    <a:lnTo>
                      <a:pt x="0" y="1296"/>
                    </a:lnTo>
                    <a:lnTo>
                      <a:pt x="804" y="2100"/>
                    </a:lnTo>
                    <a:lnTo>
                      <a:pt x="804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8" name="Freeform 73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1122 w 2400"/>
                  <a:gd name="T3" fmla="*/ 0 h 810"/>
                  <a:gd name="T4" fmla="*/ 1692 w 2400"/>
                  <a:gd name="T5" fmla="*/ 574 h 810"/>
                  <a:gd name="T6" fmla="*/ 575 w 2400"/>
                  <a:gd name="T7" fmla="*/ 574 h 810"/>
                  <a:gd name="T8" fmla="*/ 0 w 2400"/>
                  <a:gd name="T9" fmla="*/ 0 h 8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0"/>
                  <a:gd name="T16" fmla="*/ 0 h 810"/>
                  <a:gd name="T17" fmla="*/ 2400 w 2400"/>
                  <a:gd name="T18" fmla="*/ 810 h 8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0" h="810">
                    <a:moveTo>
                      <a:pt x="0" y="0"/>
                    </a:moveTo>
                    <a:lnTo>
                      <a:pt x="1590" y="0"/>
                    </a:lnTo>
                    <a:lnTo>
                      <a:pt x="2400" y="810"/>
                    </a:lnTo>
                    <a:lnTo>
                      <a:pt x="816" y="8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19" name="Line 74"/>
              <p:cNvSpPr>
                <a:spLocks noChangeShapeType="1"/>
              </p:cNvSpPr>
              <p:nvPr/>
            </p:nvSpPr>
            <p:spPr bwMode="auto">
              <a:xfrm>
                <a:off x="4736" y="901"/>
                <a:ext cx="755" cy="75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0" name="Freeform 75"/>
              <p:cNvSpPr>
                <a:spLocks/>
              </p:cNvSpPr>
              <p:nvPr/>
            </p:nvSpPr>
            <p:spPr bwMode="auto">
              <a:xfrm>
                <a:off x="3251" y="2109"/>
                <a:ext cx="2238" cy="756"/>
              </a:xfrm>
              <a:custGeom>
                <a:avLst/>
                <a:gdLst>
                  <a:gd name="T0" fmla="*/ 0 w 2400"/>
                  <a:gd name="T1" fmla="*/ 0 h 810"/>
                  <a:gd name="T2" fmla="*/ 571 w 2400"/>
                  <a:gd name="T3" fmla="*/ 574 h 810"/>
                  <a:gd name="T4" fmla="*/ 1692 w 2400"/>
                  <a:gd name="T5" fmla="*/ 574 h 810"/>
                  <a:gd name="T6" fmla="*/ 0 60000 65536"/>
                  <a:gd name="T7" fmla="*/ 0 60000 65536"/>
                  <a:gd name="T8" fmla="*/ 0 60000 65536"/>
                  <a:gd name="T9" fmla="*/ 0 w 2400"/>
                  <a:gd name="T10" fmla="*/ 0 h 810"/>
                  <a:gd name="T11" fmla="*/ 2400 w 2400"/>
                  <a:gd name="T12" fmla="*/ 810 h 8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0" h="810">
                    <a:moveTo>
                      <a:pt x="0" y="0"/>
                    </a:moveTo>
                    <a:lnTo>
                      <a:pt x="810" y="810"/>
                    </a:lnTo>
                    <a:lnTo>
                      <a:pt x="2400" y="81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21" name="Text Box 76"/>
              <p:cNvSpPr txBox="1">
                <a:spLocks noChangeArrowheads="1"/>
              </p:cNvSpPr>
              <p:nvPr/>
            </p:nvSpPr>
            <p:spPr bwMode="auto">
              <a:xfrm>
                <a:off x="5215" y="1570"/>
                <a:ext cx="25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W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1322" name="Text Box 77"/>
              <p:cNvSpPr txBox="1">
                <a:spLocks noChangeArrowheads="1"/>
              </p:cNvSpPr>
              <p:nvPr/>
            </p:nvSpPr>
            <p:spPr bwMode="auto">
              <a:xfrm>
                <a:off x="3277" y="899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V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11323" name="Text Box 78"/>
              <p:cNvSpPr txBox="1">
                <a:spLocks noChangeArrowheads="1"/>
              </p:cNvSpPr>
              <p:nvPr/>
            </p:nvSpPr>
            <p:spPr bwMode="auto">
              <a:xfrm>
                <a:off x="3972" y="263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H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</p:grpSp>
      </p:grpSp>
      <p:sp>
        <p:nvSpPr>
          <p:cNvPr id="128079" name="Line 79"/>
          <p:cNvSpPr>
            <a:spLocks noChangeShapeType="1"/>
          </p:cNvSpPr>
          <p:nvPr/>
        </p:nvSpPr>
        <p:spPr bwMode="auto">
          <a:xfrm>
            <a:off x="2890838" y="3784600"/>
            <a:ext cx="6000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0" name="Line 80"/>
          <p:cNvSpPr>
            <a:spLocks noChangeShapeType="1"/>
          </p:cNvSpPr>
          <p:nvPr/>
        </p:nvSpPr>
        <p:spPr bwMode="auto">
          <a:xfrm>
            <a:off x="2238375" y="4614863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1" name="Line 81"/>
          <p:cNvSpPr>
            <a:spLocks noChangeShapeType="1"/>
          </p:cNvSpPr>
          <p:nvPr/>
        </p:nvSpPr>
        <p:spPr bwMode="auto">
          <a:xfrm>
            <a:off x="2236788" y="4614863"/>
            <a:ext cx="0" cy="9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2" name="Line 82"/>
          <p:cNvSpPr>
            <a:spLocks noChangeShapeType="1"/>
          </p:cNvSpPr>
          <p:nvPr/>
        </p:nvSpPr>
        <p:spPr bwMode="auto">
          <a:xfrm flipH="1" flipV="1">
            <a:off x="1441450" y="3817938"/>
            <a:ext cx="793750" cy="79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3" name="Line 83"/>
          <p:cNvSpPr>
            <a:spLocks noChangeShapeType="1"/>
          </p:cNvSpPr>
          <p:nvPr/>
        </p:nvSpPr>
        <p:spPr bwMode="auto">
          <a:xfrm flipV="1">
            <a:off x="2230438" y="5160963"/>
            <a:ext cx="661987" cy="433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4" name="Line 84"/>
          <p:cNvSpPr>
            <a:spLocks noChangeShapeType="1"/>
          </p:cNvSpPr>
          <p:nvPr/>
        </p:nvSpPr>
        <p:spPr bwMode="auto">
          <a:xfrm>
            <a:off x="3484563" y="3779838"/>
            <a:ext cx="434975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85" name="Text Box 85"/>
          <p:cNvSpPr txBox="1">
            <a:spLocks noChangeArrowheads="1"/>
          </p:cNvSpPr>
          <p:nvPr/>
        </p:nvSpPr>
        <p:spPr bwMode="auto">
          <a:xfrm>
            <a:off x="2744788" y="3405188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F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28086" name="Text Box 86"/>
          <p:cNvSpPr txBox="1">
            <a:spLocks noChangeArrowheads="1"/>
          </p:cNvSpPr>
          <p:nvPr/>
        </p:nvSpPr>
        <p:spPr bwMode="auto">
          <a:xfrm>
            <a:off x="1871663" y="4438650"/>
            <a:ext cx="44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E</a:t>
            </a:r>
            <a:r>
              <a:rPr lang="en-US" altLang="zh-CN" sz="2400" b="0" i="1">
                <a:latin typeface="ISOCPEUR" pitchFamily="34" charset="0"/>
              </a:rPr>
              <a:t> </a:t>
            </a:r>
          </a:p>
        </p:txBody>
      </p:sp>
      <p:sp>
        <p:nvSpPr>
          <p:cNvPr id="128087" name="Text Box 87"/>
          <p:cNvSpPr txBox="1">
            <a:spLocks noChangeArrowheads="1"/>
          </p:cNvSpPr>
          <p:nvPr/>
        </p:nvSpPr>
        <p:spPr bwMode="auto">
          <a:xfrm>
            <a:off x="1150938" y="3486150"/>
            <a:ext cx="555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e’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088" name="Text Box 88"/>
          <p:cNvSpPr txBox="1">
            <a:spLocks noChangeArrowheads="1"/>
          </p:cNvSpPr>
          <p:nvPr/>
        </p:nvSpPr>
        <p:spPr bwMode="auto">
          <a:xfrm>
            <a:off x="2100263" y="5470525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 </a:t>
            </a:r>
          </a:p>
        </p:txBody>
      </p:sp>
      <p:sp>
        <p:nvSpPr>
          <p:cNvPr id="128089" name="Text Box 89"/>
          <p:cNvSpPr txBox="1">
            <a:spLocks noChangeArrowheads="1"/>
          </p:cNvSpPr>
          <p:nvPr/>
        </p:nvSpPr>
        <p:spPr bwMode="auto">
          <a:xfrm>
            <a:off x="3836988" y="4403725"/>
            <a:ext cx="493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e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8090" name="Text Box 90"/>
          <p:cNvSpPr txBox="1">
            <a:spLocks noChangeArrowheads="1"/>
          </p:cNvSpPr>
          <p:nvPr/>
        </p:nvSpPr>
        <p:spPr bwMode="auto">
          <a:xfrm>
            <a:off x="3478213" y="35464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f” </a:t>
            </a:r>
          </a:p>
        </p:txBody>
      </p:sp>
      <p:sp>
        <p:nvSpPr>
          <p:cNvPr id="128091" name="Line 91"/>
          <p:cNvSpPr>
            <a:spLocks noChangeShapeType="1"/>
          </p:cNvSpPr>
          <p:nvPr/>
        </p:nvSpPr>
        <p:spPr bwMode="auto">
          <a:xfrm flipH="1" flipV="1">
            <a:off x="2519363" y="3413125"/>
            <a:ext cx="371475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2" name="Line 92"/>
          <p:cNvSpPr>
            <a:spLocks noChangeShapeType="1"/>
          </p:cNvSpPr>
          <p:nvPr/>
        </p:nvSpPr>
        <p:spPr bwMode="auto">
          <a:xfrm flipV="1">
            <a:off x="1436688" y="3411538"/>
            <a:ext cx="1085850" cy="412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3" name="Text Box 93"/>
          <p:cNvSpPr txBox="1">
            <a:spLocks noChangeArrowheads="1"/>
          </p:cNvSpPr>
          <p:nvPr/>
        </p:nvSpPr>
        <p:spPr bwMode="auto">
          <a:xfrm>
            <a:off x="2541588" y="5191125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g </a:t>
            </a:r>
          </a:p>
        </p:txBody>
      </p:sp>
      <p:sp>
        <p:nvSpPr>
          <p:cNvPr id="128094" name="Text Box 94"/>
          <p:cNvSpPr txBox="1">
            <a:spLocks noChangeArrowheads="1"/>
          </p:cNvSpPr>
          <p:nvPr/>
        </p:nvSpPr>
        <p:spPr bwMode="auto">
          <a:xfrm>
            <a:off x="2193925" y="3081338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f'</a:t>
            </a:r>
          </a:p>
        </p:txBody>
      </p:sp>
      <p:sp>
        <p:nvSpPr>
          <p:cNvPr id="128095" name="Line 95"/>
          <p:cNvSpPr>
            <a:spLocks noChangeShapeType="1"/>
          </p:cNvSpPr>
          <p:nvPr/>
        </p:nvSpPr>
        <p:spPr bwMode="auto">
          <a:xfrm flipH="1" flipV="1">
            <a:off x="1436688" y="4799013"/>
            <a:ext cx="800100" cy="795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6" name="Line 96"/>
          <p:cNvSpPr>
            <a:spLocks noChangeShapeType="1"/>
          </p:cNvSpPr>
          <p:nvPr/>
        </p:nvSpPr>
        <p:spPr bwMode="auto">
          <a:xfrm flipV="1">
            <a:off x="1439863" y="3817938"/>
            <a:ext cx="0" cy="982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7" name="Line 97"/>
          <p:cNvSpPr>
            <a:spLocks noChangeShapeType="1"/>
          </p:cNvSpPr>
          <p:nvPr/>
        </p:nvSpPr>
        <p:spPr bwMode="auto">
          <a:xfrm flipH="1" flipV="1">
            <a:off x="2519363" y="4799013"/>
            <a:ext cx="369887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8" name="Line 98"/>
          <p:cNvSpPr>
            <a:spLocks noChangeShapeType="1"/>
          </p:cNvSpPr>
          <p:nvPr/>
        </p:nvSpPr>
        <p:spPr bwMode="auto">
          <a:xfrm flipV="1">
            <a:off x="2519363" y="3417888"/>
            <a:ext cx="0" cy="1382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099" name="Line 99"/>
          <p:cNvSpPr>
            <a:spLocks noChangeShapeType="1"/>
          </p:cNvSpPr>
          <p:nvPr/>
        </p:nvSpPr>
        <p:spPr bwMode="auto">
          <a:xfrm>
            <a:off x="2890838" y="5167313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0" name="Line 100"/>
          <p:cNvSpPr>
            <a:spLocks noChangeShapeType="1"/>
          </p:cNvSpPr>
          <p:nvPr/>
        </p:nvSpPr>
        <p:spPr bwMode="auto">
          <a:xfrm>
            <a:off x="2238375" y="5592763"/>
            <a:ext cx="1668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1" name="Line 101"/>
          <p:cNvSpPr>
            <a:spLocks noChangeShapeType="1"/>
          </p:cNvSpPr>
          <p:nvPr/>
        </p:nvSpPr>
        <p:spPr bwMode="auto">
          <a:xfrm flipV="1">
            <a:off x="3490913" y="3789363"/>
            <a:ext cx="0" cy="137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2" name="Line 102"/>
          <p:cNvSpPr>
            <a:spLocks noChangeShapeType="1"/>
          </p:cNvSpPr>
          <p:nvPr/>
        </p:nvSpPr>
        <p:spPr bwMode="auto">
          <a:xfrm flipV="1">
            <a:off x="3913188" y="4619625"/>
            <a:ext cx="0" cy="969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05" name="Text Box 105"/>
          <p:cNvSpPr txBox="1">
            <a:spLocks noChangeArrowheads="1"/>
          </p:cNvSpPr>
          <p:nvPr/>
        </p:nvSpPr>
        <p:spPr bwMode="auto">
          <a:xfrm>
            <a:off x="887413" y="51133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128121" name="Line 121"/>
          <p:cNvSpPr>
            <a:spLocks noChangeShapeType="1"/>
          </p:cNvSpPr>
          <p:nvPr/>
        </p:nvSpPr>
        <p:spPr bwMode="auto">
          <a:xfrm flipV="1">
            <a:off x="2236788" y="3787775"/>
            <a:ext cx="654050" cy="8270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26" name="Line 126"/>
          <p:cNvSpPr>
            <a:spLocks noChangeShapeType="1"/>
          </p:cNvSpPr>
          <p:nvPr/>
        </p:nvSpPr>
        <p:spPr bwMode="auto">
          <a:xfrm>
            <a:off x="2890838" y="3784600"/>
            <a:ext cx="0" cy="1381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6" name="Line 136"/>
          <p:cNvSpPr>
            <a:spLocks noChangeShapeType="1"/>
          </p:cNvSpPr>
          <p:nvPr/>
        </p:nvSpPr>
        <p:spPr bwMode="auto">
          <a:xfrm flipH="1" flipV="1">
            <a:off x="2078038" y="3557588"/>
            <a:ext cx="533400" cy="534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7" name="Line 137"/>
          <p:cNvSpPr>
            <a:spLocks noChangeShapeType="1"/>
          </p:cNvSpPr>
          <p:nvPr/>
        </p:nvSpPr>
        <p:spPr bwMode="auto">
          <a:xfrm>
            <a:off x="2630488" y="4138613"/>
            <a:ext cx="0" cy="1184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5" name="AutoShape 135"/>
          <p:cNvSpPr>
            <a:spLocks noChangeArrowheads="1"/>
          </p:cNvSpPr>
          <p:nvPr/>
        </p:nvSpPr>
        <p:spPr bwMode="auto">
          <a:xfrm>
            <a:off x="2595563" y="5281613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38" name="Line 138"/>
          <p:cNvSpPr>
            <a:spLocks noChangeShapeType="1"/>
          </p:cNvSpPr>
          <p:nvPr/>
        </p:nvSpPr>
        <p:spPr bwMode="auto">
          <a:xfrm flipV="1">
            <a:off x="2624138" y="4129088"/>
            <a:ext cx="10318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134" name="AutoShape 134"/>
          <p:cNvSpPr>
            <a:spLocks noChangeArrowheads="1"/>
          </p:cNvSpPr>
          <p:nvPr/>
        </p:nvSpPr>
        <p:spPr bwMode="auto">
          <a:xfrm>
            <a:off x="2593975" y="4081463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39" name="AutoShape 139"/>
          <p:cNvSpPr>
            <a:spLocks noChangeArrowheads="1"/>
          </p:cNvSpPr>
          <p:nvPr/>
        </p:nvSpPr>
        <p:spPr bwMode="auto">
          <a:xfrm>
            <a:off x="3625850" y="4079875"/>
            <a:ext cx="74613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40" name="AutoShape 140"/>
          <p:cNvSpPr>
            <a:spLocks noChangeArrowheads="1"/>
          </p:cNvSpPr>
          <p:nvPr/>
        </p:nvSpPr>
        <p:spPr bwMode="auto">
          <a:xfrm>
            <a:off x="2074863" y="3516313"/>
            <a:ext cx="74612" cy="76200"/>
          </a:xfrm>
          <a:prstGeom prst="flowChartConnector">
            <a:avLst/>
          </a:prstGeom>
          <a:solidFill>
            <a:srgbClr val="CC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8142" name="Text Box 142"/>
          <p:cNvSpPr txBox="1">
            <a:spLocks noChangeArrowheads="1"/>
          </p:cNvSpPr>
          <p:nvPr/>
        </p:nvSpPr>
        <p:spPr bwMode="auto">
          <a:xfrm>
            <a:off x="3627438" y="3873500"/>
            <a:ext cx="506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g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 </a:t>
            </a:r>
          </a:p>
        </p:txBody>
      </p:sp>
      <p:sp>
        <p:nvSpPr>
          <p:cNvPr id="128143" name="Text Box 143"/>
          <p:cNvSpPr txBox="1">
            <a:spLocks noChangeArrowheads="1"/>
          </p:cNvSpPr>
          <p:nvPr/>
        </p:nvSpPr>
        <p:spPr bwMode="auto">
          <a:xfrm>
            <a:off x="2746375" y="50577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f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 </a:t>
            </a:r>
          </a:p>
        </p:txBody>
      </p:sp>
      <p:sp>
        <p:nvSpPr>
          <p:cNvPr id="128145" name="Text Box 145"/>
          <p:cNvSpPr txBox="1">
            <a:spLocks noChangeArrowheads="1"/>
          </p:cNvSpPr>
          <p:nvPr/>
        </p:nvSpPr>
        <p:spPr bwMode="auto">
          <a:xfrm>
            <a:off x="1752600" y="3209925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g’</a:t>
            </a:r>
            <a:r>
              <a:rPr lang="en-US" altLang="zh-CN" sz="1800" i="1">
                <a:latin typeface="ISOCPEUR" pitchFamily="34" charset="0"/>
              </a:rPr>
              <a:t> 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28146" name="Text Box 146"/>
          <p:cNvSpPr txBox="1">
            <a:spLocks noChangeArrowheads="1"/>
          </p:cNvSpPr>
          <p:nvPr/>
        </p:nvSpPr>
        <p:spPr bwMode="auto">
          <a:xfrm>
            <a:off x="2438400" y="4019550"/>
            <a:ext cx="55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G</a:t>
            </a:r>
            <a:r>
              <a:rPr lang="en-US" altLang="zh-CN" sz="1800" i="1">
                <a:latin typeface="ISOCPEUR" pitchFamily="34" charset="0"/>
              </a:rPr>
              <a:t> </a:t>
            </a:r>
            <a:endParaRPr lang="en-US" altLang="zh-CN" sz="2400">
              <a:latin typeface="ISOCPEU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11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2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2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2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2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2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2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2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2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2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2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2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2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2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2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2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2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2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2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autoUpdateAnimBg="0"/>
      <p:bldP spid="128066" grpId="0" autoUpdateAnimBg="0"/>
      <p:bldP spid="128079" grpId="0" animBg="1"/>
      <p:bldP spid="128080" grpId="0" animBg="1"/>
      <p:bldP spid="128081" grpId="0" animBg="1"/>
      <p:bldP spid="128082" grpId="0" animBg="1"/>
      <p:bldP spid="128083" grpId="0" animBg="1"/>
      <p:bldP spid="128084" grpId="0" animBg="1"/>
      <p:bldP spid="128085" grpId="0"/>
      <p:bldP spid="128086" grpId="0"/>
      <p:bldP spid="128087" grpId="0"/>
      <p:bldP spid="128088" grpId="0"/>
      <p:bldP spid="128089" grpId="0"/>
      <p:bldP spid="128090" grpId="0"/>
      <p:bldP spid="128091" grpId="0" animBg="1"/>
      <p:bldP spid="128092" grpId="0" animBg="1"/>
      <p:bldP spid="128093" grpId="0"/>
      <p:bldP spid="128094" grpId="0"/>
      <p:bldP spid="128095" grpId="0" animBg="1"/>
      <p:bldP spid="128096" grpId="0" animBg="1"/>
      <p:bldP spid="128097" grpId="0" animBg="1"/>
      <p:bldP spid="128098" grpId="0" animBg="1"/>
      <p:bldP spid="128099" grpId="0" animBg="1"/>
      <p:bldP spid="128100" grpId="0" animBg="1"/>
      <p:bldP spid="128101" grpId="0" animBg="1"/>
      <p:bldP spid="128102" grpId="0" animBg="1"/>
      <p:bldP spid="128105" grpId="0"/>
      <p:bldP spid="128121" grpId="0" animBg="1"/>
      <p:bldP spid="128126" grpId="0" animBg="1"/>
      <p:bldP spid="128136" grpId="0" animBg="1"/>
      <p:bldP spid="128137" grpId="0" animBg="1"/>
      <p:bldP spid="128135" grpId="0" animBg="1"/>
      <p:bldP spid="128138" grpId="0" animBg="1"/>
      <p:bldP spid="128134" grpId="0" animBg="1"/>
      <p:bldP spid="128139" grpId="0" animBg="1"/>
      <p:bldP spid="128140" grpId="0" animBg="1"/>
      <p:bldP spid="128142" grpId="0"/>
      <p:bldP spid="128143" grpId="0"/>
      <p:bldP spid="128145" grpId="0"/>
      <p:bldP spid="12814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1150" y="723900"/>
            <a:ext cx="4257675" cy="3987800"/>
            <a:chOff x="-37" y="362"/>
            <a:chExt cx="2866" cy="2684"/>
          </a:xfrm>
        </p:grpSpPr>
        <p:sp>
          <p:nvSpPr>
            <p:cNvPr id="12345" name="Line 5"/>
            <p:cNvSpPr>
              <a:spLocks noChangeShapeType="1"/>
            </p:cNvSpPr>
            <p:nvPr/>
          </p:nvSpPr>
          <p:spPr bwMode="auto">
            <a:xfrm>
              <a:off x="199" y="1704"/>
              <a:ext cx="2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6" name="Line 6"/>
            <p:cNvSpPr>
              <a:spLocks noChangeShapeType="1"/>
            </p:cNvSpPr>
            <p:nvPr/>
          </p:nvSpPr>
          <p:spPr bwMode="auto">
            <a:xfrm>
              <a:off x="1315" y="552"/>
              <a:ext cx="0" cy="2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7" name="Text Box 7"/>
            <p:cNvSpPr txBox="1">
              <a:spLocks noChangeArrowheads="1"/>
            </p:cNvSpPr>
            <p:nvPr/>
          </p:nvSpPr>
          <p:spPr bwMode="auto">
            <a:xfrm>
              <a:off x="-37" y="1442"/>
              <a:ext cx="32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2348" name="Text Box 8"/>
            <p:cNvSpPr txBox="1">
              <a:spLocks noChangeArrowheads="1"/>
            </p:cNvSpPr>
            <p:nvPr/>
          </p:nvSpPr>
          <p:spPr bwMode="auto">
            <a:xfrm>
              <a:off x="1254" y="1467"/>
              <a:ext cx="3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2349" name="Text Box 9"/>
            <p:cNvSpPr txBox="1">
              <a:spLocks noChangeArrowheads="1"/>
            </p:cNvSpPr>
            <p:nvPr/>
          </p:nvSpPr>
          <p:spPr bwMode="auto">
            <a:xfrm>
              <a:off x="2481" y="1406"/>
              <a:ext cx="34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</a:t>
              </a:r>
            </a:p>
          </p:txBody>
        </p:sp>
        <p:sp>
          <p:nvSpPr>
            <p:cNvPr id="12350" name="Text Box 10"/>
            <p:cNvSpPr txBox="1">
              <a:spLocks noChangeArrowheads="1"/>
            </p:cNvSpPr>
            <p:nvPr/>
          </p:nvSpPr>
          <p:spPr bwMode="auto">
            <a:xfrm>
              <a:off x="1265" y="362"/>
              <a:ext cx="3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12351" name="Text Box 11"/>
            <p:cNvSpPr txBox="1">
              <a:spLocks noChangeArrowheads="1"/>
            </p:cNvSpPr>
            <p:nvPr/>
          </p:nvSpPr>
          <p:spPr bwMode="auto">
            <a:xfrm>
              <a:off x="1233" y="2738"/>
              <a:ext cx="45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  <a:r>
                <a:rPr lang="en-US" altLang="zh-CN" sz="2400" i="1">
                  <a:latin typeface="ISOCPEUR" pitchFamily="34" charset="0"/>
                </a:rPr>
                <a:t> </a:t>
              </a:r>
            </a:p>
          </p:txBody>
        </p:sp>
      </p:grpSp>
      <p:sp>
        <p:nvSpPr>
          <p:cNvPr id="143376" name="Line 16"/>
          <p:cNvSpPr>
            <a:spLocks noChangeShapeType="1"/>
          </p:cNvSpPr>
          <p:nvPr/>
        </p:nvSpPr>
        <p:spPr bwMode="auto">
          <a:xfrm>
            <a:off x="2317750" y="2716213"/>
            <a:ext cx="1609725" cy="160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7" name="Line 17"/>
          <p:cNvSpPr>
            <a:spLocks noChangeShapeType="1"/>
          </p:cNvSpPr>
          <p:nvPr/>
        </p:nvSpPr>
        <p:spPr bwMode="auto">
          <a:xfrm>
            <a:off x="1465263" y="4111625"/>
            <a:ext cx="223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8" name="Line 18"/>
          <p:cNvSpPr>
            <a:spLocks noChangeShapeType="1"/>
          </p:cNvSpPr>
          <p:nvPr/>
        </p:nvSpPr>
        <p:spPr bwMode="auto">
          <a:xfrm flipV="1">
            <a:off x="3708400" y="1263650"/>
            <a:ext cx="0" cy="283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9" name="Line 19"/>
          <p:cNvSpPr>
            <a:spLocks noChangeShapeType="1"/>
          </p:cNvSpPr>
          <p:nvPr/>
        </p:nvSpPr>
        <p:spPr bwMode="auto">
          <a:xfrm>
            <a:off x="1465263" y="1263650"/>
            <a:ext cx="223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0" name="Line 20"/>
          <p:cNvSpPr>
            <a:spLocks noChangeShapeType="1"/>
          </p:cNvSpPr>
          <p:nvPr/>
        </p:nvSpPr>
        <p:spPr bwMode="auto">
          <a:xfrm>
            <a:off x="1465263" y="30162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1" name="Line 21"/>
          <p:cNvSpPr>
            <a:spLocks noChangeShapeType="1"/>
          </p:cNvSpPr>
          <p:nvPr/>
        </p:nvSpPr>
        <p:spPr bwMode="auto">
          <a:xfrm flipV="1">
            <a:off x="2617788" y="1920875"/>
            <a:ext cx="0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2" name="Line 22"/>
          <p:cNvSpPr>
            <a:spLocks noChangeShapeType="1"/>
          </p:cNvSpPr>
          <p:nvPr/>
        </p:nvSpPr>
        <p:spPr bwMode="auto">
          <a:xfrm>
            <a:off x="1470025" y="19161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3" name="Line 23"/>
          <p:cNvSpPr>
            <a:spLocks noChangeShapeType="1"/>
          </p:cNvSpPr>
          <p:nvPr/>
        </p:nvSpPr>
        <p:spPr bwMode="auto">
          <a:xfrm flipH="1">
            <a:off x="2613025" y="1265238"/>
            <a:ext cx="1095375" cy="650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4" name="Text Box 24"/>
          <p:cNvSpPr txBox="1">
            <a:spLocks noChangeArrowheads="1"/>
          </p:cNvSpPr>
          <p:nvPr/>
        </p:nvSpPr>
        <p:spPr bwMode="auto">
          <a:xfrm>
            <a:off x="3276600" y="927100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143385" name="Text Box 25"/>
          <p:cNvSpPr txBox="1">
            <a:spLocks noChangeArrowheads="1"/>
          </p:cNvSpPr>
          <p:nvPr/>
        </p:nvSpPr>
        <p:spPr bwMode="auto">
          <a:xfrm>
            <a:off x="2286000" y="1563688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43386" name="Line 26"/>
          <p:cNvSpPr>
            <a:spLocks noChangeShapeType="1"/>
          </p:cNvSpPr>
          <p:nvPr/>
        </p:nvSpPr>
        <p:spPr bwMode="auto">
          <a:xfrm>
            <a:off x="1465263" y="3368675"/>
            <a:ext cx="149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7" name="Line 27"/>
          <p:cNvSpPr>
            <a:spLocks noChangeShapeType="1"/>
          </p:cNvSpPr>
          <p:nvPr/>
        </p:nvSpPr>
        <p:spPr bwMode="auto">
          <a:xfrm flipV="1">
            <a:off x="2970213" y="1477963"/>
            <a:ext cx="0" cy="188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8" name="Line 28"/>
          <p:cNvSpPr>
            <a:spLocks noChangeShapeType="1"/>
          </p:cNvSpPr>
          <p:nvPr/>
        </p:nvSpPr>
        <p:spPr bwMode="auto">
          <a:xfrm>
            <a:off x="1460500" y="1487488"/>
            <a:ext cx="1514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9" name="AutoShape 29"/>
          <p:cNvSpPr>
            <a:spLocks noChangeArrowheads="1"/>
          </p:cNvSpPr>
          <p:nvPr/>
        </p:nvSpPr>
        <p:spPr bwMode="auto">
          <a:xfrm>
            <a:off x="2935288" y="1444625"/>
            <a:ext cx="69850" cy="69850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43390" name="Text Box 30"/>
          <p:cNvSpPr txBox="1">
            <a:spLocks noChangeArrowheads="1"/>
          </p:cNvSpPr>
          <p:nvPr/>
        </p:nvSpPr>
        <p:spPr bwMode="auto">
          <a:xfrm>
            <a:off x="2735263" y="1173163"/>
            <a:ext cx="757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143391" name="Text Box 31"/>
          <p:cNvSpPr txBox="1">
            <a:spLocks noChangeArrowheads="1"/>
          </p:cNvSpPr>
          <p:nvPr/>
        </p:nvSpPr>
        <p:spPr bwMode="auto">
          <a:xfrm>
            <a:off x="803275" y="5324475"/>
            <a:ext cx="7608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对于侧平线，有两种判断方法：利用侧投影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                                                         利用比例法。</a:t>
            </a: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855663" y="1076325"/>
            <a:ext cx="768350" cy="3165475"/>
            <a:chOff x="3237" y="1295"/>
            <a:chExt cx="484" cy="1994"/>
          </a:xfrm>
        </p:grpSpPr>
        <p:sp>
          <p:nvSpPr>
            <p:cNvPr id="12338" name="Line 48"/>
            <p:cNvSpPr>
              <a:spLocks noChangeShapeType="1"/>
            </p:cNvSpPr>
            <p:nvPr/>
          </p:nvSpPr>
          <p:spPr bwMode="auto">
            <a:xfrm>
              <a:off x="3624" y="1412"/>
              <a:ext cx="0" cy="4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9" name="Line 49"/>
            <p:cNvSpPr>
              <a:spLocks noChangeShapeType="1"/>
            </p:cNvSpPr>
            <p:nvPr/>
          </p:nvSpPr>
          <p:spPr bwMode="auto">
            <a:xfrm>
              <a:off x="3624" y="1828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0" name="Line 50"/>
            <p:cNvSpPr>
              <a:spLocks noChangeShapeType="1"/>
            </p:cNvSpPr>
            <p:nvPr/>
          </p:nvSpPr>
          <p:spPr bwMode="auto">
            <a:xfrm>
              <a:off x="3624" y="2516"/>
              <a:ext cx="0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1" name="Text Box 51"/>
            <p:cNvSpPr txBox="1">
              <a:spLocks noChangeArrowheads="1"/>
            </p:cNvSpPr>
            <p:nvPr/>
          </p:nvSpPr>
          <p:spPr bwMode="auto">
            <a:xfrm>
              <a:off x="3263" y="1295"/>
              <a:ext cx="4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2342" name="Text Box 52"/>
            <p:cNvSpPr txBox="1">
              <a:spLocks noChangeArrowheads="1"/>
            </p:cNvSpPr>
            <p:nvPr/>
          </p:nvSpPr>
          <p:spPr bwMode="auto">
            <a:xfrm>
              <a:off x="3356" y="3039"/>
              <a:ext cx="3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2343" name="Text Box 53"/>
            <p:cNvSpPr txBox="1">
              <a:spLocks noChangeArrowheads="1"/>
            </p:cNvSpPr>
            <p:nvPr/>
          </p:nvSpPr>
          <p:spPr bwMode="auto">
            <a:xfrm>
              <a:off x="3237" y="1767"/>
              <a:ext cx="4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2344" name="Text Box 54"/>
            <p:cNvSpPr txBox="1">
              <a:spLocks noChangeArrowheads="1"/>
            </p:cNvSpPr>
            <p:nvPr/>
          </p:nvSpPr>
          <p:spPr bwMode="auto">
            <a:xfrm>
              <a:off x="3338" y="2433"/>
              <a:ext cx="3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992188" y="1289050"/>
            <a:ext cx="574675" cy="2276475"/>
            <a:chOff x="3323" y="1429"/>
            <a:chExt cx="362" cy="1434"/>
          </a:xfrm>
        </p:grpSpPr>
        <p:sp>
          <p:nvSpPr>
            <p:cNvPr id="12334" name="AutoShape 56"/>
            <p:cNvSpPr>
              <a:spLocks noChangeArrowheads="1"/>
            </p:cNvSpPr>
            <p:nvPr/>
          </p:nvSpPr>
          <p:spPr bwMode="auto">
            <a:xfrm>
              <a:off x="3599" y="1533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2335" name="Text Box 57"/>
            <p:cNvSpPr txBox="1">
              <a:spLocks noChangeArrowheads="1"/>
            </p:cNvSpPr>
            <p:nvPr/>
          </p:nvSpPr>
          <p:spPr bwMode="auto">
            <a:xfrm>
              <a:off x="3323" y="1429"/>
              <a:ext cx="35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c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2336" name="AutoShape 58"/>
            <p:cNvSpPr>
              <a:spLocks noChangeArrowheads="1"/>
            </p:cNvSpPr>
            <p:nvPr/>
          </p:nvSpPr>
          <p:spPr bwMode="auto">
            <a:xfrm>
              <a:off x="3599" y="2715"/>
              <a:ext cx="44" cy="44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>
                <a:solidFill>
                  <a:srgbClr val="FFFF00"/>
                </a:solidFill>
                <a:latin typeface="ISOCPEUR" pitchFamily="34" charset="0"/>
              </a:endParaRPr>
            </a:p>
          </p:txBody>
        </p:sp>
        <p:sp>
          <p:nvSpPr>
            <p:cNvPr id="12337" name="Text Box 59"/>
            <p:cNvSpPr txBox="1">
              <a:spLocks noChangeArrowheads="1"/>
            </p:cNvSpPr>
            <p:nvPr/>
          </p:nvSpPr>
          <p:spPr bwMode="auto">
            <a:xfrm>
              <a:off x="3335" y="2632"/>
              <a:ext cx="35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c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5" name="Group 119"/>
          <p:cNvGrpSpPr>
            <a:grpSpLocks/>
          </p:cNvGrpSpPr>
          <p:nvPr/>
        </p:nvGrpSpPr>
        <p:grpSpPr bwMode="auto">
          <a:xfrm>
            <a:off x="5330825" y="1066800"/>
            <a:ext cx="2781300" cy="3165475"/>
            <a:chOff x="3358" y="672"/>
            <a:chExt cx="1752" cy="1994"/>
          </a:xfrm>
        </p:grpSpPr>
        <p:sp>
          <p:nvSpPr>
            <p:cNvPr id="12318" name="Line 67"/>
            <p:cNvSpPr>
              <a:spLocks noChangeShapeType="1"/>
            </p:cNvSpPr>
            <p:nvPr/>
          </p:nvSpPr>
          <p:spPr bwMode="auto">
            <a:xfrm>
              <a:off x="3579" y="1706"/>
              <a:ext cx="13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9" name="Text Box 69"/>
            <p:cNvSpPr txBox="1">
              <a:spLocks noChangeArrowheads="1"/>
            </p:cNvSpPr>
            <p:nvPr/>
          </p:nvSpPr>
          <p:spPr bwMode="auto">
            <a:xfrm>
              <a:off x="3358" y="1461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2320" name="Text Box 70"/>
            <p:cNvSpPr txBox="1">
              <a:spLocks noChangeArrowheads="1"/>
            </p:cNvSpPr>
            <p:nvPr/>
          </p:nvSpPr>
          <p:spPr bwMode="auto">
            <a:xfrm>
              <a:off x="4814" y="1444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grpSp>
          <p:nvGrpSpPr>
            <p:cNvPr id="12321" name="Group 89"/>
            <p:cNvGrpSpPr>
              <a:grpSpLocks/>
            </p:cNvGrpSpPr>
            <p:nvPr/>
          </p:nvGrpSpPr>
          <p:grpSpPr bwMode="auto">
            <a:xfrm>
              <a:off x="3701" y="672"/>
              <a:ext cx="484" cy="1994"/>
              <a:chOff x="3237" y="1295"/>
              <a:chExt cx="484" cy="1994"/>
            </a:xfrm>
          </p:grpSpPr>
          <p:sp>
            <p:nvSpPr>
              <p:cNvPr id="12327" name="Line 90"/>
              <p:cNvSpPr>
                <a:spLocks noChangeShapeType="1"/>
              </p:cNvSpPr>
              <p:nvPr/>
            </p:nvSpPr>
            <p:spPr bwMode="auto">
              <a:xfrm>
                <a:off x="3624" y="1412"/>
                <a:ext cx="0" cy="4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8" name="Line 91"/>
              <p:cNvSpPr>
                <a:spLocks noChangeShapeType="1"/>
              </p:cNvSpPr>
              <p:nvPr/>
            </p:nvSpPr>
            <p:spPr bwMode="auto">
              <a:xfrm>
                <a:off x="3624" y="1828"/>
                <a:ext cx="0" cy="6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9" name="Line 92"/>
              <p:cNvSpPr>
                <a:spLocks noChangeShapeType="1"/>
              </p:cNvSpPr>
              <p:nvPr/>
            </p:nvSpPr>
            <p:spPr bwMode="auto">
              <a:xfrm>
                <a:off x="3624" y="2516"/>
                <a:ext cx="0" cy="6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0" name="Text Box 93"/>
              <p:cNvSpPr txBox="1">
                <a:spLocks noChangeArrowheads="1"/>
              </p:cNvSpPr>
              <p:nvPr/>
            </p:nvSpPr>
            <p:spPr bwMode="auto">
              <a:xfrm>
                <a:off x="3263" y="1295"/>
                <a:ext cx="45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a’</a:t>
                </a:r>
                <a:endParaRPr lang="en-US" altLang="zh-CN" sz="2400" b="0">
                  <a:latin typeface="ISOCPEUR" pitchFamily="34" charset="0"/>
                </a:endParaRPr>
              </a:p>
            </p:txBody>
          </p:sp>
          <p:sp>
            <p:nvSpPr>
              <p:cNvPr id="12331" name="Text Box 94"/>
              <p:cNvSpPr txBox="1">
                <a:spLocks noChangeArrowheads="1"/>
              </p:cNvSpPr>
              <p:nvPr/>
            </p:nvSpPr>
            <p:spPr bwMode="auto">
              <a:xfrm>
                <a:off x="3356" y="303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a</a:t>
                </a:r>
              </a:p>
            </p:txBody>
          </p:sp>
          <p:sp>
            <p:nvSpPr>
              <p:cNvPr id="12332" name="Text Box 95"/>
              <p:cNvSpPr txBox="1">
                <a:spLocks noChangeArrowheads="1"/>
              </p:cNvSpPr>
              <p:nvPr/>
            </p:nvSpPr>
            <p:spPr bwMode="auto">
              <a:xfrm>
                <a:off x="3237" y="1767"/>
                <a:ext cx="47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b</a:t>
                </a: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’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  <p:sp>
            <p:nvSpPr>
              <p:cNvPr id="12333" name="Text Box 96"/>
              <p:cNvSpPr txBox="1">
                <a:spLocks noChangeArrowheads="1"/>
              </p:cNvSpPr>
              <p:nvPr/>
            </p:nvSpPr>
            <p:spPr bwMode="auto">
              <a:xfrm>
                <a:off x="3338" y="2424"/>
                <a:ext cx="3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b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</p:grpSp>
        <p:grpSp>
          <p:nvGrpSpPr>
            <p:cNvPr id="12322" name="Group 97"/>
            <p:cNvGrpSpPr>
              <a:grpSpLocks/>
            </p:cNvGrpSpPr>
            <p:nvPr/>
          </p:nvGrpSpPr>
          <p:grpSpPr bwMode="auto">
            <a:xfrm>
              <a:off x="3787" y="806"/>
              <a:ext cx="362" cy="1444"/>
              <a:chOff x="3323" y="1429"/>
              <a:chExt cx="362" cy="1444"/>
            </a:xfrm>
          </p:grpSpPr>
          <p:sp>
            <p:nvSpPr>
              <p:cNvPr id="12323" name="AutoShape 98"/>
              <p:cNvSpPr>
                <a:spLocks noChangeArrowheads="1"/>
              </p:cNvSpPr>
              <p:nvPr/>
            </p:nvSpPr>
            <p:spPr bwMode="auto">
              <a:xfrm>
                <a:off x="3599" y="1533"/>
                <a:ext cx="44" cy="44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2324" name="Text Box 99"/>
              <p:cNvSpPr txBox="1">
                <a:spLocks noChangeArrowheads="1"/>
              </p:cNvSpPr>
              <p:nvPr/>
            </p:nvSpPr>
            <p:spPr bwMode="auto">
              <a:xfrm>
                <a:off x="3323" y="1429"/>
                <a:ext cx="3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c</a:t>
                </a:r>
                <a:r>
                  <a:rPr lang="en-US" altLang="zh-CN" sz="2000" i="1">
                    <a:latin typeface="ISOCPEUR" pitchFamily="34" charset="0"/>
                    <a:ea typeface="仿宋_GB2312" pitchFamily="49" charset="-122"/>
                  </a:rPr>
                  <a:t>'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  <p:sp>
            <p:nvSpPr>
              <p:cNvPr id="12325" name="AutoShape 100"/>
              <p:cNvSpPr>
                <a:spLocks noChangeArrowheads="1"/>
              </p:cNvSpPr>
              <p:nvPr/>
            </p:nvSpPr>
            <p:spPr bwMode="auto">
              <a:xfrm>
                <a:off x="3599" y="2715"/>
                <a:ext cx="44" cy="44"/>
              </a:xfrm>
              <a:prstGeom prst="flowChartConnec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>
                  <a:solidFill>
                    <a:srgbClr val="FFFF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2326" name="Text Box 101"/>
              <p:cNvSpPr txBox="1">
                <a:spLocks noChangeArrowheads="1"/>
              </p:cNvSpPr>
              <p:nvPr/>
            </p:nvSpPr>
            <p:spPr bwMode="auto">
              <a:xfrm>
                <a:off x="3335" y="2623"/>
                <a:ext cx="35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i="1">
                    <a:latin typeface="ISOCPEUR" pitchFamily="34" charset="0"/>
                  </a:rPr>
                  <a:t>c</a:t>
                </a:r>
                <a:endParaRPr lang="en-US" altLang="zh-CN" sz="2000" b="0">
                  <a:latin typeface="ISOCPEUR" pitchFamily="34" charset="0"/>
                </a:endParaRPr>
              </a:p>
            </p:txBody>
          </p:sp>
        </p:grpSp>
      </p:grpSp>
      <p:sp>
        <p:nvSpPr>
          <p:cNvPr id="143462" name="Line 102"/>
          <p:cNvSpPr>
            <a:spLocks noChangeShapeType="1"/>
          </p:cNvSpPr>
          <p:nvPr/>
        </p:nvSpPr>
        <p:spPr bwMode="auto">
          <a:xfrm flipV="1">
            <a:off x="6500813" y="3590925"/>
            <a:ext cx="45243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64" name="Line 104"/>
          <p:cNvSpPr>
            <a:spLocks noChangeShapeType="1"/>
          </p:cNvSpPr>
          <p:nvPr/>
        </p:nvSpPr>
        <p:spPr bwMode="auto">
          <a:xfrm>
            <a:off x="6492875" y="3692525"/>
            <a:ext cx="179388" cy="204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3463" name="AutoShape 103"/>
          <p:cNvSpPr>
            <a:spLocks noChangeArrowheads="1"/>
          </p:cNvSpPr>
          <p:nvPr/>
        </p:nvSpPr>
        <p:spPr bwMode="auto">
          <a:xfrm>
            <a:off x="6642100" y="3860800"/>
            <a:ext cx="69850" cy="69850"/>
          </a:xfrm>
          <a:prstGeom prst="flowChartConnector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  <a:latin typeface="ISOCPEUR" pitchFamily="34" charset="0"/>
            </a:endParaRPr>
          </a:p>
        </p:txBody>
      </p:sp>
      <p:sp>
        <p:nvSpPr>
          <p:cNvPr id="143465" name="Line 105"/>
          <p:cNvSpPr>
            <a:spLocks noChangeShapeType="1"/>
          </p:cNvSpPr>
          <p:nvPr/>
        </p:nvSpPr>
        <p:spPr bwMode="auto">
          <a:xfrm flipH="1" flipV="1">
            <a:off x="6500813" y="3008313"/>
            <a:ext cx="444500" cy="579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3476" name="Text Box 116"/>
          <p:cNvSpPr txBox="1">
            <a:spLocks noChangeArrowheads="1"/>
          </p:cNvSpPr>
          <p:nvPr/>
        </p:nvSpPr>
        <p:spPr bwMode="auto">
          <a:xfrm>
            <a:off x="6780213" y="3392488"/>
            <a:ext cx="661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b</a:t>
            </a:r>
            <a:r>
              <a:rPr lang="en-US" altLang="zh-CN" sz="2000" i="1" baseline="-25000">
                <a:latin typeface="ISOCPEUR" pitchFamily="34" charset="0"/>
              </a:rPr>
              <a:t>1</a:t>
            </a:r>
            <a:endParaRPr lang="en-US" altLang="zh-CN" sz="2000" i="1" baseline="-25000"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43477" name="Text Box 117"/>
          <p:cNvSpPr txBox="1">
            <a:spLocks noChangeArrowheads="1"/>
          </p:cNvSpPr>
          <p:nvPr/>
        </p:nvSpPr>
        <p:spPr bwMode="auto">
          <a:xfrm>
            <a:off x="6645275" y="374491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 baseline="-25000">
                <a:latin typeface="ISOCPEUR" pitchFamily="34" charset="0"/>
              </a:rPr>
              <a:t>1</a:t>
            </a:r>
            <a:endParaRPr lang="en-US" altLang="zh-CN" sz="2000" i="1" baseline="-25000">
              <a:latin typeface="ISOCPEUR" pitchFamily="34" charset="0"/>
              <a:ea typeface="仿宋_GB2312" pitchFamily="49" charset="-122"/>
            </a:endParaRPr>
          </a:p>
        </p:txBody>
      </p:sp>
      <p:sp>
        <p:nvSpPr>
          <p:cNvPr id="143478" name="Text Box 118"/>
          <p:cNvSpPr txBox="1">
            <a:spLocks noChangeArrowheads="1"/>
          </p:cNvSpPr>
          <p:nvPr/>
        </p:nvSpPr>
        <p:spPr bwMode="auto">
          <a:xfrm>
            <a:off x="6107113" y="3470275"/>
            <a:ext cx="382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endParaRPr lang="en-US" altLang="zh-CN" sz="2000" i="1" baseline="-25000">
              <a:latin typeface="ISOCPEUR" pitchFamily="34" charset="0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12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4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4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4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4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3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76" grpId="0" animBg="1"/>
      <p:bldP spid="143377" grpId="0" animBg="1"/>
      <p:bldP spid="143378" grpId="0" animBg="1"/>
      <p:bldP spid="143379" grpId="0" animBg="1"/>
      <p:bldP spid="143380" grpId="0" animBg="1"/>
      <p:bldP spid="143381" grpId="0" animBg="1"/>
      <p:bldP spid="143382" grpId="0" animBg="1"/>
      <p:bldP spid="143383" grpId="0" animBg="1"/>
      <p:bldP spid="143384" grpId="0" autoUpdateAnimBg="0"/>
      <p:bldP spid="143385" grpId="0" autoUpdateAnimBg="0"/>
      <p:bldP spid="143386" grpId="0" animBg="1"/>
      <p:bldP spid="143387" grpId="0" animBg="1"/>
      <p:bldP spid="143388" grpId="0" animBg="1"/>
      <p:bldP spid="143389" grpId="0" animBg="1" autoUpdateAnimBg="0"/>
      <p:bldP spid="143390" grpId="0" autoUpdateAnimBg="0"/>
      <p:bldP spid="143391" grpId="0"/>
      <p:bldP spid="143462" grpId="0" animBg="1"/>
      <p:bldP spid="143464" grpId="0" animBg="1"/>
      <p:bldP spid="143463" grpId="0" animBg="1"/>
      <p:bldP spid="143465" grpId="0" animBg="1"/>
      <p:bldP spid="143476" grpId="0"/>
      <p:bldP spid="143477" grpId="0"/>
      <p:bldP spid="14347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11"/>
          <p:cNvSpPr txBox="1">
            <a:spLocks noChangeArrowheads="1"/>
          </p:cNvSpPr>
          <p:nvPr/>
        </p:nvSpPr>
        <p:spPr bwMode="auto">
          <a:xfrm>
            <a:off x="341313" y="220663"/>
            <a:ext cx="8802687" cy="641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五．两直线的相对位置</a:t>
            </a:r>
          </a:p>
        </p:txBody>
      </p:sp>
      <p:sp>
        <p:nvSpPr>
          <p:cNvPr id="145501" name="Text Box 93"/>
          <p:cNvSpPr txBox="1">
            <a:spLocks noChangeArrowheads="1"/>
          </p:cNvSpPr>
          <p:nvPr/>
        </p:nvSpPr>
        <p:spPr bwMode="auto">
          <a:xfrm>
            <a:off x="479425" y="912813"/>
            <a:ext cx="8062913" cy="9699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两直线的相对位置可分为三种情况：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     平行、相交、交叉  （</a:t>
            </a:r>
            <a:r>
              <a:rPr lang="zh-CN" altLang="en-US" sz="2400"/>
              <a:t>垂直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）。</a:t>
            </a:r>
          </a:p>
        </p:txBody>
      </p:sp>
      <p:sp>
        <p:nvSpPr>
          <p:cNvPr id="145503" name="Text Box 95"/>
          <p:cNvSpPr txBox="1">
            <a:spLocks noChangeArrowheads="1"/>
          </p:cNvSpPr>
          <p:nvPr/>
        </p:nvSpPr>
        <p:spPr bwMode="auto">
          <a:xfrm>
            <a:off x="358775" y="1928813"/>
            <a:ext cx="3376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⒈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两直线平行</a:t>
            </a:r>
            <a:endParaRPr lang="zh-CN" altLang="en-US" sz="2800" b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96"/>
          <p:cNvGrpSpPr>
            <a:grpSpLocks/>
          </p:cNvGrpSpPr>
          <p:nvPr/>
        </p:nvGrpSpPr>
        <p:grpSpPr bwMode="auto">
          <a:xfrm>
            <a:off x="1295400" y="2566988"/>
            <a:ext cx="3683000" cy="2955925"/>
            <a:chOff x="816" y="1617"/>
            <a:chExt cx="2320" cy="1862"/>
          </a:xfrm>
        </p:grpSpPr>
        <p:sp>
          <p:nvSpPr>
            <p:cNvPr id="14368" name="AutoShape 97"/>
            <p:cNvSpPr>
              <a:spLocks noChangeArrowheads="1"/>
            </p:cNvSpPr>
            <p:nvPr/>
          </p:nvSpPr>
          <p:spPr bwMode="auto">
            <a:xfrm flipH="1">
              <a:off x="816" y="2724"/>
              <a:ext cx="2320" cy="755"/>
            </a:xfrm>
            <a:prstGeom prst="parallelogram">
              <a:avLst>
                <a:gd name="adj" fmla="val 99512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4369" name="Rectangle 98"/>
            <p:cNvSpPr>
              <a:spLocks noChangeArrowheads="1"/>
            </p:cNvSpPr>
            <p:nvPr/>
          </p:nvSpPr>
          <p:spPr bwMode="auto">
            <a:xfrm>
              <a:off x="816" y="1642"/>
              <a:ext cx="1566" cy="108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4370" name="Line 99"/>
            <p:cNvSpPr>
              <a:spLocks noChangeShapeType="1"/>
            </p:cNvSpPr>
            <p:nvPr/>
          </p:nvSpPr>
          <p:spPr bwMode="auto">
            <a:xfrm flipV="1">
              <a:off x="1340" y="1922"/>
              <a:ext cx="525" cy="3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1" name="Line 100"/>
            <p:cNvSpPr>
              <a:spLocks noChangeShapeType="1"/>
            </p:cNvSpPr>
            <p:nvPr/>
          </p:nvSpPr>
          <p:spPr bwMode="auto">
            <a:xfrm>
              <a:off x="1509" y="2886"/>
              <a:ext cx="678" cy="14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2" name="Line 101"/>
            <p:cNvSpPr>
              <a:spLocks noChangeShapeType="1"/>
            </p:cNvSpPr>
            <p:nvPr/>
          </p:nvSpPr>
          <p:spPr bwMode="auto">
            <a:xfrm flipV="1">
              <a:off x="956" y="1893"/>
              <a:ext cx="475" cy="27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3" name="Line 102"/>
            <p:cNvSpPr>
              <a:spLocks noChangeShapeType="1"/>
            </p:cNvSpPr>
            <p:nvPr/>
          </p:nvSpPr>
          <p:spPr bwMode="auto">
            <a:xfrm>
              <a:off x="1418" y="1880"/>
              <a:ext cx="607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4" name="Line 103"/>
            <p:cNvSpPr>
              <a:spLocks noChangeShapeType="1"/>
            </p:cNvSpPr>
            <p:nvPr/>
          </p:nvSpPr>
          <p:spPr bwMode="auto">
            <a:xfrm flipV="1">
              <a:off x="1509" y="2229"/>
              <a:ext cx="678" cy="14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104"/>
            <p:cNvSpPr>
              <a:spLocks noChangeShapeType="1"/>
            </p:cNvSpPr>
            <p:nvPr/>
          </p:nvSpPr>
          <p:spPr bwMode="auto">
            <a:xfrm>
              <a:off x="1858" y="1915"/>
              <a:ext cx="322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Line 105"/>
            <p:cNvSpPr>
              <a:spLocks noChangeShapeType="1"/>
            </p:cNvSpPr>
            <p:nvPr/>
          </p:nvSpPr>
          <p:spPr bwMode="auto">
            <a:xfrm flipV="1">
              <a:off x="2032" y="2481"/>
              <a:ext cx="0" cy="8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Line 106"/>
            <p:cNvSpPr>
              <a:spLocks noChangeShapeType="1"/>
            </p:cNvSpPr>
            <p:nvPr/>
          </p:nvSpPr>
          <p:spPr bwMode="auto">
            <a:xfrm>
              <a:off x="1410" y="2621"/>
              <a:ext cx="0" cy="5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8" name="Line 107"/>
            <p:cNvSpPr>
              <a:spLocks noChangeShapeType="1"/>
            </p:cNvSpPr>
            <p:nvPr/>
          </p:nvSpPr>
          <p:spPr bwMode="auto">
            <a:xfrm>
              <a:off x="956" y="2152"/>
              <a:ext cx="454" cy="4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9" name="Line 108"/>
            <p:cNvSpPr>
              <a:spLocks noChangeShapeType="1"/>
            </p:cNvSpPr>
            <p:nvPr/>
          </p:nvSpPr>
          <p:spPr bwMode="auto">
            <a:xfrm>
              <a:off x="1409" y="3179"/>
              <a:ext cx="624" cy="13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0" name="Line 109"/>
            <p:cNvSpPr>
              <a:spLocks noChangeShapeType="1"/>
            </p:cNvSpPr>
            <p:nvPr/>
          </p:nvSpPr>
          <p:spPr bwMode="auto">
            <a:xfrm flipV="1">
              <a:off x="1404" y="2487"/>
              <a:ext cx="621" cy="13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1" name="Rectangle 110"/>
            <p:cNvSpPr>
              <a:spLocks noChangeArrowheads="1"/>
            </p:cNvSpPr>
            <p:nvPr/>
          </p:nvSpPr>
          <p:spPr bwMode="auto">
            <a:xfrm>
              <a:off x="2236" y="296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2" name="Rectangle 111"/>
            <p:cNvSpPr>
              <a:spLocks noChangeArrowheads="1"/>
            </p:cNvSpPr>
            <p:nvPr/>
          </p:nvSpPr>
          <p:spPr bwMode="auto">
            <a:xfrm>
              <a:off x="1451" y="2957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83" name="Rectangle 112"/>
            <p:cNvSpPr>
              <a:spLocks noChangeArrowheads="1"/>
            </p:cNvSpPr>
            <p:nvPr/>
          </p:nvSpPr>
          <p:spPr bwMode="auto">
            <a:xfrm>
              <a:off x="2087" y="315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84" name="Rectangle 113"/>
            <p:cNvSpPr>
              <a:spLocks noChangeArrowheads="1"/>
            </p:cNvSpPr>
            <p:nvPr/>
          </p:nvSpPr>
          <p:spPr bwMode="auto">
            <a:xfrm>
              <a:off x="2780" y="3228"/>
              <a:ext cx="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4385" name="Rectangle 114"/>
            <p:cNvSpPr>
              <a:spLocks noChangeArrowheads="1"/>
            </p:cNvSpPr>
            <p:nvPr/>
          </p:nvSpPr>
          <p:spPr bwMode="auto">
            <a:xfrm>
              <a:off x="1540" y="2334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6" name="Rectangle 115"/>
            <p:cNvSpPr>
              <a:spLocks noChangeArrowheads="1"/>
            </p:cNvSpPr>
            <p:nvPr/>
          </p:nvSpPr>
          <p:spPr bwMode="auto">
            <a:xfrm>
              <a:off x="1368" y="1677"/>
              <a:ext cx="15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r>
                <a:rPr lang="en-US" altLang="zh-CN" sz="2800" i="1">
                  <a:solidFill>
                    <a:srgbClr val="000000"/>
                  </a:solidFill>
                  <a:sym typeface="Symbol" pitchFamily="18" charset="2"/>
                </a:rPr>
                <a:t>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7" name="Rectangle 116"/>
            <p:cNvSpPr>
              <a:spLocks noChangeArrowheads="1"/>
            </p:cNvSpPr>
            <p:nvPr/>
          </p:nvSpPr>
          <p:spPr bwMode="auto">
            <a:xfrm>
              <a:off x="1550" y="266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88" name="Rectangle 117"/>
            <p:cNvSpPr>
              <a:spLocks noChangeArrowheads="1"/>
            </p:cNvSpPr>
            <p:nvPr/>
          </p:nvSpPr>
          <p:spPr bwMode="auto">
            <a:xfrm>
              <a:off x="1201" y="2502"/>
              <a:ext cx="1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89" name="Rectangle 118"/>
            <p:cNvSpPr>
              <a:spLocks noChangeArrowheads="1"/>
            </p:cNvSpPr>
            <p:nvPr/>
          </p:nvSpPr>
          <p:spPr bwMode="auto">
            <a:xfrm>
              <a:off x="916" y="1915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90" name="Rectangle 119"/>
            <p:cNvSpPr>
              <a:spLocks noChangeArrowheads="1"/>
            </p:cNvSpPr>
            <p:nvPr/>
          </p:nvSpPr>
          <p:spPr bwMode="auto">
            <a:xfrm>
              <a:off x="860" y="1617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4391" name="Rectangle 120"/>
            <p:cNvSpPr>
              <a:spLocks noChangeArrowheads="1"/>
            </p:cNvSpPr>
            <p:nvPr/>
          </p:nvSpPr>
          <p:spPr bwMode="auto">
            <a:xfrm>
              <a:off x="1243" y="201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92" name="Freeform 121"/>
            <p:cNvSpPr>
              <a:spLocks/>
            </p:cNvSpPr>
            <p:nvPr/>
          </p:nvSpPr>
          <p:spPr bwMode="auto">
            <a:xfrm>
              <a:off x="1346" y="2213"/>
              <a:ext cx="164" cy="163"/>
            </a:xfrm>
            <a:custGeom>
              <a:avLst/>
              <a:gdLst>
                <a:gd name="T0" fmla="*/ 0 w 600"/>
                <a:gd name="T1" fmla="*/ 0 h 599"/>
                <a:gd name="T2" fmla="*/ 1 w 600"/>
                <a:gd name="T3" fmla="*/ 1 h 599"/>
                <a:gd name="T4" fmla="*/ 1 w 600"/>
                <a:gd name="T5" fmla="*/ 1 h 599"/>
                <a:gd name="T6" fmla="*/ 0 60000 65536"/>
                <a:gd name="T7" fmla="*/ 0 60000 65536"/>
                <a:gd name="T8" fmla="*/ 0 60000 65536"/>
                <a:gd name="T9" fmla="*/ 0 w 600"/>
                <a:gd name="T10" fmla="*/ 0 h 599"/>
                <a:gd name="T11" fmla="*/ 600 w 600"/>
                <a:gd name="T12" fmla="*/ 599 h 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0" h="599">
                  <a:moveTo>
                    <a:pt x="0" y="0"/>
                  </a:moveTo>
                  <a:lnTo>
                    <a:pt x="599" y="599"/>
                  </a:lnTo>
                  <a:lnTo>
                    <a:pt x="600" y="59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3" name="Rectangle 122"/>
            <p:cNvSpPr>
              <a:spLocks noChangeArrowheads="1"/>
            </p:cNvSpPr>
            <p:nvPr/>
          </p:nvSpPr>
          <p:spPr bwMode="auto">
            <a:xfrm>
              <a:off x="2047" y="2388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94" name="Rectangle 123"/>
            <p:cNvSpPr>
              <a:spLocks noChangeArrowheads="1"/>
            </p:cNvSpPr>
            <p:nvPr/>
          </p:nvSpPr>
          <p:spPr bwMode="auto">
            <a:xfrm>
              <a:off x="1879" y="168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95" name="Rectangle 124"/>
            <p:cNvSpPr>
              <a:spLocks noChangeArrowheads="1"/>
            </p:cNvSpPr>
            <p:nvPr/>
          </p:nvSpPr>
          <p:spPr bwMode="auto">
            <a:xfrm>
              <a:off x="2228" y="2073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96" name="Line 125"/>
            <p:cNvSpPr>
              <a:spLocks noChangeShapeType="1"/>
            </p:cNvSpPr>
            <p:nvPr/>
          </p:nvSpPr>
          <p:spPr bwMode="auto">
            <a:xfrm flipV="1">
              <a:off x="2187" y="2236"/>
              <a:ext cx="0" cy="7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7" name="Line 126"/>
            <p:cNvSpPr>
              <a:spLocks noChangeShapeType="1"/>
            </p:cNvSpPr>
            <p:nvPr/>
          </p:nvSpPr>
          <p:spPr bwMode="auto">
            <a:xfrm>
              <a:off x="1340" y="2214"/>
              <a:ext cx="169" cy="1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8" name="Line 127"/>
            <p:cNvSpPr>
              <a:spLocks noChangeShapeType="1"/>
            </p:cNvSpPr>
            <p:nvPr/>
          </p:nvSpPr>
          <p:spPr bwMode="auto">
            <a:xfrm flipV="1">
              <a:off x="1515" y="2376"/>
              <a:ext cx="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99" name="Text Box 128"/>
            <p:cNvSpPr txBox="1">
              <a:spLocks noChangeArrowheads="1"/>
            </p:cNvSpPr>
            <p:nvPr/>
          </p:nvSpPr>
          <p:spPr bwMode="auto">
            <a:xfrm>
              <a:off x="1486" y="1634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/>
            </a:p>
          </p:txBody>
        </p:sp>
        <p:sp>
          <p:nvSpPr>
            <p:cNvPr id="14400" name="Text Box 129"/>
            <p:cNvSpPr txBox="1">
              <a:spLocks noChangeArrowheads="1"/>
            </p:cNvSpPr>
            <p:nvPr/>
          </p:nvSpPr>
          <p:spPr bwMode="auto">
            <a:xfrm>
              <a:off x="1293" y="2004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401" name="Text Box 130"/>
            <p:cNvSpPr txBox="1">
              <a:spLocks noChangeArrowheads="1"/>
            </p:cNvSpPr>
            <p:nvPr/>
          </p:nvSpPr>
          <p:spPr bwMode="auto">
            <a:xfrm>
              <a:off x="1918" y="1642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402" name="Text Box 131"/>
            <p:cNvSpPr txBox="1">
              <a:spLocks noChangeArrowheads="1"/>
            </p:cNvSpPr>
            <p:nvPr/>
          </p:nvSpPr>
          <p:spPr bwMode="auto">
            <a:xfrm>
              <a:off x="958" y="1900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403" name="Line 132"/>
            <p:cNvSpPr>
              <a:spLocks noChangeShapeType="1"/>
            </p:cNvSpPr>
            <p:nvPr/>
          </p:nvSpPr>
          <p:spPr bwMode="auto">
            <a:xfrm>
              <a:off x="1865" y="1922"/>
              <a:ext cx="0" cy="8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4" name="Line 133"/>
            <p:cNvSpPr>
              <a:spLocks noChangeShapeType="1"/>
            </p:cNvSpPr>
            <p:nvPr/>
          </p:nvSpPr>
          <p:spPr bwMode="auto">
            <a:xfrm>
              <a:off x="1865" y="2718"/>
              <a:ext cx="300" cy="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5" name="Line 134"/>
            <p:cNvSpPr>
              <a:spLocks noChangeShapeType="1"/>
            </p:cNvSpPr>
            <p:nvPr/>
          </p:nvSpPr>
          <p:spPr bwMode="auto">
            <a:xfrm>
              <a:off x="956" y="2159"/>
              <a:ext cx="0" cy="5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6" name="Line 135"/>
            <p:cNvSpPr>
              <a:spLocks noChangeShapeType="1"/>
            </p:cNvSpPr>
            <p:nvPr/>
          </p:nvSpPr>
          <p:spPr bwMode="auto">
            <a:xfrm>
              <a:off x="942" y="2711"/>
              <a:ext cx="462" cy="4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7" name="Line 136"/>
            <p:cNvSpPr>
              <a:spLocks noChangeShapeType="1"/>
            </p:cNvSpPr>
            <p:nvPr/>
          </p:nvSpPr>
          <p:spPr bwMode="auto">
            <a:xfrm>
              <a:off x="1340" y="2208"/>
              <a:ext cx="0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8" name="Line 137"/>
            <p:cNvSpPr>
              <a:spLocks noChangeShapeType="1"/>
            </p:cNvSpPr>
            <p:nvPr/>
          </p:nvSpPr>
          <p:spPr bwMode="auto">
            <a:xfrm flipH="1" flipV="1">
              <a:off x="1326" y="2718"/>
              <a:ext cx="183" cy="1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09" name="Line 138"/>
            <p:cNvSpPr>
              <a:spLocks noChangeShapeType="1"/>
            </p:cNvSpPr>
            <p:nvPr/>
          </p:nvSpPr>
          <p:spPr bwMode="auto">
            <a:xfrm flipV="1">
              <a:off x="1334" y="2691"/>
              <a:ext cx="0" cy="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39"/>
          <p:cNvGrpSpPr>
            <a:grpSpLocks/>
          </p:cNvGrpSpPr>
          <p:nvPr/>
        </p:nvGrpSpPr>
        <p:grpSpPr bwMode="auto">
          <a:xfrm>
            <a:off x="5373688" y="2646363"/>
            <a:ext cx="2389187" cy="2695575"/>
            <a:chOff x="3423" y="1131"/>
            <a:chExt cx="1362" cy="1538"/>
          </a:xfrm>
        </p:grpSpPr>
        <p:sp>
          <p:nvSpPr>
            <p:cNvPr id="14345" name="Rectangle 140"/>
            <p:cNvSpPr>
              <a:spLocks noChangeArrowheads="1"/>
            </p:cNvSpPr>
            <p:nvPr/>
          </p:nvSpPr>
          <p:spPr bwMode="auto">
            <a:xfrm>
              <a:off x="3919" y="2083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6" name="Rectangle 141"/>
            <p:cNvSpPr>
              <a:spLocks noChangeArrowheads="1"/>
            </p:cNvSpPr>
            <p:nvPr/>
          </p:nvSpPr>
          <p:spPr bwMode="auto">
            <a:xfrm>
              <a:off x="3584" y="2367"/>
              <a:ext cx="7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7" name="Rectangle 142"/>
            <p:cNvSpPr>
              <a:spLocks noChangeArrowheads="1"/>
            </p:cNvSpPr>
            <p:nvPr/>
          </p:nvSpPr>
          <p:spPr bwMode="auto">
            <a:xfrm>
              <a:off x="4171" y="2461"/>
              <a:ext cx="8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8" name="Rectangle 143"/>
            <p:cNvSpPr>
              <a:spLocks noChangeArrowheads="1"/>
            </p:cNvSpPr>
            <p:nvPr/>
          </p:nvSpPr>
          <p:spPr bwMode="auto">
            <a:xfrm>
              <a:off x="4580" y="2249"/>
              <a:ext cx="8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49" name="Rectangle 144"/>
            <p:cNvSpPr>
              <a:spLocks noChangeArrowheads="1"/>
            </p:cNvSpPr>
            <p:nvPr/>
          </p:nvSpPr>
          <p:spPr bwMode="auto">
            <a:xfrm>
              <a:off x="3573" y="1371"/>
              <a:ext cx="120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r>
                <a:rPr lang="en-US" altLang="zh-CN" sz="2400" b="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0" name="Rectangle 145"/>
            <p:cNvSpPr>
              <a:spLocks noChangeArrowheads="1"/>
            </p:cNvSpPr>
            <p:nvPr/>
          </p:nvSpPr>
          <p:spPr bwMode="auto">
            <a:xfrm>
              <a:off x="4176" y="1183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1" name="Rectangle 146"/>
            <p:cNvSpPr>
              <a:spLocks noChangeArrowheads="1"/>
            </p:cNvSpPr>
            <p:nvPr/>
          </p:nvSpPr>
          <p:spPr bwMode="auto">
            <a:xfrm>
              <a:off x="3928" y="1471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2" name="Rectangle 147"/>
            <p:cNvSpPr>
              <a:spLocks noChangeArrowheads="1"/>
            </p:cNvSpPr>
            <p:nvPr/>
          </p:nvSpPr>
          <p:spPr bwMode="auto">
            <a:xfrm>
              <a:off x="4556" y="1176"/>
              <a:ext cx="8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 b="0">
                <a:solidFill>
                  <a:srgbClr val="FF3300"/>
                </a:solidFill>
              </a:endParaRPr>
            </a:p>
          </p:txBody>
        </p:sp>
        <p:sp>
          <p:nvSpPr>
            <p:cNvPr id="14353" name="Rectangle 148"/>
            <p:cNvSpPr>
              <a:spLocks noChangeArrowheads="1"/>
            </p:cNvSpPr>
            <p:nvPr/>
          </p:nvSpPr>
          <p:spPr bwMode="auto">
            <a:xfrm>
              <a:off x="4698" y="1911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54" name="Rectangle 149"/>
            <p:cNvSpPr>
              <a:spLocks noChangeArrowheads="1"/>
            </p:cNvSpPr>
            <p:nvPr/>
          </p:nvSpPr>
          <p:spPr bwMode="auto">
            <a:xfrm>
              <a:off x="3423" y="1898"/>
              <a:ext cx="8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4355" name="Text Box 150"/>
            <p:cNvSpPr txBox="1">
              <a:spLocks noChangeArrowheads="1"/>
            </p:cNvSpPr>
            <p:nvPr/>
          </p:nvSpPr>
          <p:spPr bwMode="auto">
            <a:xfrm>
              <a:off x="3585" y="1370"/>
              <a:ext cx="211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</a:t>
              </a:r>
              <a:endParaRPr lang="en-US" altLang="zh-CN" sz="2400" b="0"/>
            </a:p>
          </p:txBody>
        </p:sp>
        <p:sp>
          <p:nvSpPr>
            <p:cNvPr id="14356" name="Text Box 151"/>
            <p:cNvSpPr txBox="1">
              <a:spLocks noChangeArrowheads="1"/>
            </p:cNvSpPr>
            <p:nvPr/>
          </p:nvSpPr>
          <p:spPr bwMode="auto">
            <a:xfrm>
              <a:off x="3948" y="1454"/>
              <a:ext cx="17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357" name="Text Box 152"/>
            <p:cNvSpPr txBox="1">
              <a:spLocks noChangeArrowheads="1"/>
            </p:cNvSpPr>
            <p:nvPr/>
          </p:nvSpPr>
          <p:spPr bwMode="auto">
            <a:xfrm>
              <a:off x="4565" y="1131"/>
              <a:ext cx="17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358" name="Text Box 153"/>
            <p:cNvSpPr txBox="1">
              <a:spLocks noChangeArrowheads="1"/>
            </p:cNvSpPr>
            <p:nvPr/>
          </p:nvSpPr>
          <p:spPr bwMode="auto">
            <a:xfrm>
              <a:off x="4224" y="1132"/>
              <a:ext cx="179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ym typeface="Symbol" pitchFamily="18" charset="2"/>
                </a:rPr>
                <a:t></a:t>
              </a:r>
              <a:endParaRPr lang="en-US" altLang="zh-CN" sz="2400" b="0"/>
            </a:p>
          </p:txBody>
        </p:sp>
        <p:sp>
          <p:nvSpPr>
            <p:cNvPr id="14359" name="Line 154"/>
            <p:cNvSpPr>
              <a:spLocks noChangeShapeType="1"/>
            </p:cNvSpPr>
            <p:nvPr/>
          </p:nvSpPr>
          <p:spPr bwMode="auto">
            <a:xfrm>
              <a:off x="3546" y="2036"/>
              <a:ext cx="110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0" name="Line 155"/>
            <p:cNvSpPr>
              <a:spLocks noChangeShapeType="1"/>
            </p:cNvSpPr>
            <p:nvPr/>
          </p:nvSpPr>
          <p:spPr bwMode="auto">
            <a:xfrm>
              <a:off x="3693" y="1562"/>
              <a:ext cx="0" cy="8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1" name="Line 156"/>
            <p:cNvSpPr>
              <a:spLocks noChangeShapeType="1"/>
            </p:cNvSpPr>
            <p:nvPr/>
          </p:nvSpPr>
          <p:spPr bwMode="auto">
            <a:xfrm>
              <a:off x="4045" y="1600"/>
              <a:ext cx="0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2" name="Line 157"/>
            <p:cNvSpPr>
              <a:spLocks noChangeShapeType="1"/>
            </p:cNvSpPr>
            <p:nvPr/>
          </p:nvSpPr>
          <p:spPr bwMode="auto">
            <a:xfrm>
              <a:off x="4134" y="1318"/>
              <a:ext cx="0" cy="12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3" name="Line 158"/>
            <p:cNvSpPr>
              <a:spLocks noChangeShapeType="1"/>
            </p:cNvSpPr>
            <p:nvPr/>
          </p:nvSpPr>
          <p:spPr bwMode="auto">
            <a:xfrm>
              <a:off x="4525" y="1338"/>
              <a:ext cx="0" cy="10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4" name="Line 159"/>
            <p:cNvSpPr>
              <a:spLocks noChangeShapeType="1"/>
            </p:cNvSpPr>
            <p:nvPr/>
          </p:nvSpPr>
          <p:spPr bwMode="auto">
            <a:xfrm flipV="1">
              <a:off x="3686" y="1318"/>
              <a:ext cx="442" cy="25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5" name="Line 160"/>
            <p:cNvSpPr>
              <a:spLocks noChangeShapeType="1"/>
            </p:cNvSpPr>
            <p:nvPr/>
          </p:nvSpPr>
          <p:spPr bwMode="auto">
            <a:xfrm flipV="1">
              <a:off x="4045" y="1338"/>
              <a:ext cx="473" cy="26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6" name="Line 161"/>
            <p:cNvSpPr>
              <a:spLocks noChangeShapeType="1"/>
            </p:cNvSpPr>
            <p:nvPr/>
          </p:nvSpPr>
          <p:spPr bwMode="auto">
            <a:xfrm flipH="1" flipV="1">
              <a:off x="4038" y="2206"/>
              <a:ext cx="480" cy="1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67" name="Line 162"/>
            <p:cNvSpPr>
              <a:spLocks noChangeShapeType="1"/>
            </p:cNvSpPr>
            <p:nvPr/>
          </p:nvSpPr>
          <p:spPr bwMode="auto">
            <a:xfrm>
              <a:off x="3680" y="2445"/>
              <a:ext cx="461" cy="1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45571" name="Text Box 163"/>
          <p:cNvSpPr txBox="1">
            <a:spLocks noChangeArrowheads="1"/>
          </p:cNvSpPr>
          <p:nvPr/>
        </p:nvSpPr>
        <p:spPr bwMode="auto">
          <a:xfrm>
            <a:off x="757238" y="5662613"/>
            <a:ext cx="78882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几何条件：空间两直线平行，则其各同名投影必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    相互平行，反之亦然。</a:t>
            </a:r>
          </a:p>
        </p:txBody>
      </p:sp>
    </p:spTree>
    <p:extLst>
      <p:ext uri="{BB962C8B-B14F-4D97-AF65-F5344CB8AC3E}">
        <p14:creationId xmlns:p14="http://schemas.microsoft.com/office/powerpoint/2010/main" val="6328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501" grpId="0" animBg="1"/>
      <p:bldP spid="145503" grpId="0" autoUpdateAnimBg="0"/>
      <p:bldP spid="14557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5110163" y="4206875"/>
            <a:ext cx="3446462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  <a:ea typeface="仿宋_GB2312" pitchFamily="49" charset="-122"/>
              </a:rPr>
              <a:t>a’b’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仿宋_GB2312" pitchFamily="49" charset="-122"/>
              </a:rPr>
              <a:t>c’d’,ab</a:t>
            </a:r>
            <a:r>
              <a:rPr lang="en-US" altLang="zh-CN" sz="2400" i="1">
                <a:latin typeface="ISOCPEUR" pitchFamily="34" charset="0"/>
                <a:ea typeface="黑体" pitchFamily="2" charset="-122"/>
              </a:rPr>
              <a:t>∥</a:t>
            </a:r>
            <a:r>
              <a:rPr lang="en-US" altLang="zh-CN" sz="2400" i="1">
                <a:latin typeface="ISOCPEUR" pitchFamily="34" charset="0"/>
                <a:ea typeface="仿宋_GB2312" pitchFamily="49" charset="-122"/>
              </a:rPr>
              <a:t>dc,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837113" y="4610100"/>
            <a:ext cx="2609850" cy="457200"/>
            <a:chOff x="3298" y="4002"/>
            <a:chExt cx="1644" cy="288"/>
          </a:xfrm>
        </p:grpSpPr>
        <p:sp>
          <p:nvSpPr>
            <p:cNvPr id="15452" name="Text Box 4"/>
            <p:cNvSpPr txBox="1">
              <a:spLocks noChangeArrowheads="1"/>
            </p:cNvSpPr>
            <p:nvPr/>
          </p:nvSpPr>
          <p:spPr bwMode="auto">
            <a:xfrm>
              <a:off x="3298" y="4002"/>
              <a:ext cx="164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  <a:ea typeface="仿宋_GB2312" pitchFamily="49" charset="-122"/>
                </a:rPr>
                <a:t>  a”b”</a:t>
              </a:r>
              <a:r>
                <a:rPr lang="en-US" altLang="zh-CN" sz="800" i="1">
                  <a:latin typeface="ISOCPEUR" pitchFamily="34" charset="0"/>
                  <a:ea typeface="仿宋_GB2312" pitchFamily="49" charset="-122"/>
                </a:rPr>
                <a:t> </a:t>
              </a:r>
              <a:r>
                <a:rPr lang="en-US" altLang="zh-CN" sz="2400" i="1">
                  <a:latin typeface="ISOCPEUR" pitchFamily="34" charset="0"/>
                  <a:ea typeface="黑体" pitchFamily="2" charset="-122"/>
                </a:rPr>
                <a:t>∥</a:t>
              </a:r>
              <a:r>
                <a:rPr lang="en-US" altLang="zh-CN" sz="2400" i="1">
                  <a:latin typeface="ISOCPEUR" pitchFamily="34" charset="0"/>
                  <a:ea typeface="仿宋_GB2312" pitchFamily="49" charset="-122"/>
                </a:rPr>
                <a:t>c”d”    </a:t>
              </a:r>
              <a:r>
                <a:rPr lang="en-US" altLang="zh-CN" sz="1200" i="1">
                  <a:latin typeface="ISOCPEUR" pitchFamily="34" charset="0"/>
                  <a:ea typeface="仿宋_GB2312" pitchFamily="49" charset="-122"/>
                </a:rPr>
                <a:t> </a:t>
              </a:r>
              <a:r>
                <a:rPr lang="en-US" altLang="zh-CN" sz="2400" i="1">
                  <a:latin typeface="ISOCPEUR" pitchFamily="34" charset="0"/>
                  <a:ea typeface="仿宋_GB2312" pitchFamily="49" charset="-122"/>
                </a:rPr>
                <a:t>  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15453" name="Text Box 5"/>
            <p:cNvSpPr txBox="1">
              <a:spLocks noChangeArrowheads="1"/>
            </p:cNvSpPr>
            <p:nvPr/>
          </p:nvSpPr>
          <p:spPr bwMode="auto">
            <a:xfrm>
              <a:off x="3815" y="401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黑体" pitchFamily="2" charset="-122"/>
                </a:rPr>
                <a:t>╲</a:t>
              </a:r>
            </a:p>
          </p:txBody>
        </p:sp>
      </p:grp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5002213" y="4097338"/>
            <a:ext cx="2859087" cy="11287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343525" y="2466975"/>
            <a:ext cx="1931988" cy="479425"/>
            <a:chOff x="3445" y="2582"/>
            <a:chExt cx="1217" cy="302"/>
          </a:xfrm>
        </p:grpSpPr>
        <p:sp>
          <p:nvSpPr>
            <p:cNvPr id="15449" name="Line 8"/>
            <p:cNvSpPr>
              <a:spLocks noChangeShapeType="1"/>
            </p:cNvSpPr>
            <p:nvPr/>
          </p:nvSpPr>
          <p:spPr bwMode="auto">
            <a:xfrm>
              <a:off x="3645" y="2827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0" name="Text Box 9"/>
            <p:cNvSpPr txBox="1">
              <a:spLocks noChangeArrowheads="1"/>
            </p:cNvSpPr>
            <p:nvPr/>
          </p:nvSpPr>
          <p:spPr bwMode="auto">
            <a:xfrm>
              <a:off x="3445" y="258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5451" name="Text Box 10"/>
            <p:cNvSpPr txBox="1">
              <a:spLocks noChangeArrowheads="1"/>
            </p:cNvSpPr>
            <p:nvPr/>
          </p:nvSpPr>
          <p:spPr bwMode="auto">
            <a:xfrm>
              <a:off x="4366" y="2596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65100" y="2436813"/>
            <a:ext cx="2598738" cy="458787"/>
            <a:chOff x="183" y="2563"/>
            <a:chExt cx="1637" cy="289"/>
          </a:xfrm>
        </p:grpSpPr>
        <p:sp>
          <p:nvSpPr>
            <p:cNvPr id="15446" name="Text Box 13"/>
            <p:cNvSpPr txBox="1">
              <a:spLocks noChangeArrowheads="1"/>
            </p:cNvSpPr>
            <p:nvPr/>
          </p:nvSpPr>
          <p:spPr bwMode="auto">
            <a:xfrm>
              <a:off x="183" y="25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5447" name="Text Box 14"/>
            <p:cNvSpPr txBox="1">
              <a:spLocks noChangeArrowheads="1"/>
            </p:cNvSpPr>
            <p:nvPr/>
          </p:nvSpPr>
          <p:spPr bwMode="auto">
            <a:xfrm>
              <a:off x="1524" y="256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5448" name="Line 15"/>
            <p:cNvSpPr>
              <a:spLocks noChangeShapeType="1"/>
            </p:cNvSpPr>
            <p:nvPr/>
          </p:nvSpPr>
          <p:spPr bwMode="auto">
            <a:xfrm>
              <a:off x="400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2736850" y="2455863"/>
            <a:ext cx="2608263" cy="458787"/>
            <a:chOff x="1803" y="2575"/>
            <a:chExt cx="1643" cy="289"/>
          </a:xfrm>
        </p:grpSpPr>
        <p:sp>
          <p:nvSpPr>
            <p:cNvPr id="15443" name="Text Box 17"/>
            <p:cNvSpPr txBox="1">
              <a:spLocks noChangeArrowheads="1"/>
            </p:cNvSpPr>
            <p:nvPr/>
          </p:nvSpPr>
          <p:spPr bwMode="auto">
            <a:xfrm>
              <a:off x="1803" y="257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5444" name="Text Box 18"/>
            <p:cNvSpPr txBox="1">
              <a:spLocks noChangeArrowheads="1"/>
            </p:cNvSpPr>
            <p:nvPr/>
          </p:nvSpPr>
          <p:spPr bwMode="auto">
            <a:xfrm>
              <a:off x="3150" y="2575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5445" name="Line 19"/>
            <p:cNvSpPr>
              <a:spLocks noChangeShapeType="1"/>
            </p:cNvSpPr>
            <p:nvPr/>
          </p:nvSpPr>
          <p:spPr bwMode="auto">
            <a:xfrm>
              <a:off x="2026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0068" name="Line 20"/>
          <p:cNvSpPr>
            <a:spLocks noChangeShapeType="1"/>
          </p:cNvSpPr>
          <p:nvPr/>
        </p:nvSpPr>
        <p:spPr bwMode="auto">
          <a:xfrm>
            <a:off x="798513" y="2311400"/>
            <a:ext cx="0" cy="1209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69" name="Line 21"/>
          <p:cNvSpPr>
            <a:spLocks noChangeShapeType="1"/>
          </p:cNvSpPr>
          <p:nvPr/>
        </p:nvSpPr>
        <p:spPr bwMode="auto">
          <a:xfrm>
            <a:off x="1360488" y="1873250"/>
            <a:ext cx="0" cy="1971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0" name="Line 22"/>
          <p:cNvSpPr>
            <a:spLocks noChangeShapeType="1"/>
          </p:cNvSpPr>
          <p:nvPr/>
        </p:nvSpPr>
        <p:spPr bwMode="auto">
          <a:xfrm>
            <a:off x="1550988" y="2263775"/>
            <a:ext cx="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1" name="Line 23"/>
          <p:cNvSpPr>
            <a:spLocks noChangeShapeType="1"/>
          </p:cNvSpPr>
          <p:nvPr/>
        </p:nvSpPr>
        <p:spPr bwMode="auto">
          <a:xfrm>
            <a:off x="2125663" y="1828800"/>
            <a:ext cx="635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2" name="Line 24"/>
          <p:cNvSpPr>
            <a:spLocks noChangeShapeType="1"/>
          </p:cNvSpPr>
          <p:nvPr/>
        </p:nvSpPr>
        <p:spPr bwMode="auto">
          <a:xfrm>
            <a:off x="798513" y="3521075"/>
            <a:ext cx="561975" cy="31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3" name="Line 25"/>
          <p:cNvSpPr>
            <a:spLocks noChangeShapeType="1"/>
          </p:cNvSpPr>
          <p:nvPr/>
        </p:nvSpPr>
        <p:spPr bwMode="auto">
          <a:xfrm>
            <a:off x="1550988" y="3425825"/>
            <a:ext cx="581025" cy="3238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4" name="Text Box 26"/>
          <p:cNvSpPr txBox="1">
            <a:spLocks noChangeArrowheads="1"/>
          </p:cNvSpPr>
          <p:nvPr/>
        </p:nvSpPr>
        <p:spPr bwMode="auto">
          <a:xfrm>
            <a:off x="579438" y="340836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30075" name="Text Box 27"/>
          <p:cNvSpPr txBox="1">
            <a:spLocks noChangeArrowheads="1"/>
          </p:cNvSpPr>
          <p:nvPr/>
        </p:nvSpPr>
        <p:spPr bwMode="auto">
          <a:xfrm>
            <a:off x="1128713" y="3798888"/>
            <a:ext cx="404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 </a:t>
            </a:r>
          </a:p>
        </p:txBody>
      </p:sp>
      <p:sp>
        <p:nvSpPr>
          <p:cNvPr id="130076" name="Text Box 28"/>
          <p:cNvSpPr txBox="1">
            <a:spLocks noChangeArrowheads="1"/>
          </p:cNvSpPr>
          <p:nvPr/>
        </p:nvSpPr>
        <p:spPr bwMode="auto">
          <a:xfrm>
            <a:off x="1320800" y="3341688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30077" name="Text Box 29"/>
          <p:cNvSpPr txBox="1">
            <a:spLocks noChangeArrowheads="1"/>
          </p:cNvSpPr>
          <p:nvPr/>
        </p:nvSpPr>
        <p:spPr bwMode="auto">
          <a:xfrm>
            <a:off x="1814513" y="3656013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30078" name="Line 30"/>
          <p:cNvSpPr>
            <a:spLocks noChangeShapeType="1"/>
          </p:cNvSpPr>
          <p:nvPr/>
        </p:nvSpPr>
        <p:spPr bwMode="auto">
          <a:xfrm>
            <a:off x="3322638" y="2359025"/>
            <a:ext cx="0" cy="1209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79" name="Line 31"/>
          <p:cNvSpPr>
            <a:spLocks noChangeShapeType="1"/>
          </p:cNvSpPr>
          <p:nvPr/>
        </p:nvSpPr>
        <p:spPr bwMode="auto">
          <a:xfrm>
            <a:off x="3884613" y="1920875"/>
            <a:ext cx="0" cy="174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0" name="Line 32"/>
          <p:cNvSpPr>
            <a:spLocks noChangeShapeType="1"/>
          </p:cNvSpPr>
          <p:nvPr/>
        </p:nvSpPr>
        <p:spPr bwMode="auto">
          <a:xfrm>
            <a:off x="4449763" y="1876425"/>
            <a:ext cx="6350" cy="191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1" name="Line 33"/>
          <p:cNvSpPr>
            <a:spLocks noChangeShapeType="1"/>
          </p:cNvSpPr>
          <p:nvPr/>
        </p:nvSpPr>
        <p:spPr bwMode="auto">
          <a:xfrm>
            <a:off x="3317875" y="3560763"/>
            <a:ext cx="565150" cy="10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2" name="Line 34"/>
          <p:cNvSpPr>
            <a:spLocks noChangeShapeType="1"/>
          </p:cNvSpPr>
          <p:nvPr/>
        </p:nvSpPr>
        <p:spPr bwMode="auto">
          <a:xfrm>
            <a:off x="3883025" y="3662363"/>
            <a:ext cx="584200" cy="1143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3" name="Text Box 35"/>
          <p:cNvSpPr txBox="1">
            <a:spLocks noChangeArrowheads="1"/>
          </p:cNvSpPr>
          <p:nvPr/>
        </p:nvSpPr>
        <p:spPr bwMode="auto">
          <a:xfrm>
            <a:off x="3030538" y="3338513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30084" name="Text Box 36"/>
          <p:cNvSpPr txBox="1">
            <a:spLocks noChangeArrowheads="1"/>
          </p:cNvSpPr>
          <p:nvPr/>
        </p:nvSpPr>
        <p:spPr bwMode="auto">
          <a:xfrm>
            <a:off x="3538538" y="3624263"/>
            <a:ext cx="5480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30085" name="Text Box 37"/>
          <p:cNvSpPr txBox="1">
            <a:spLocks noChangeArrowheads="1"/>
          </p:cNvSpPr>
          <p:nvPr/>
        </p:nvSpPr>
        <p:spPr bwMode="auto">
          <a:xfrm>
            <a:off x="4300538" y="3681413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30086" name="Line 38"/>
          <p:cNvSpPr>
            <a:spLocks noChangeShapeType="1"/>
          </p:cNvSpPr>
          <p:nvPr/>
        </p:nvSpPr>
        <p:spPr bwMode="auto">
          <a:xfrm>
            <a:off x="5989638" y="2435225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7" name="Line 39"/>
          <p:cNvSpPr>
            <a:spLocks noChangeShapeType="1"/>
          </p:cNvSpPr>
          <p:nvPr/>
        </p:nvSpPr>
        <p:spPr bwMode="auto">
          <a:xfrm>
            <a:off x="6389688" y="2549525"/>
            <a:ext cx="0" cy="520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8" name="Line 40"/>
          <p:cNvSpPr>
            <a:spLocks noChangeShapeType="1"/>
          </p:cNvSpPr>
          <p:nvPr/>
        </p:nvSpPr>
        <p:spPr bwMode="auto">
          <a:xfrm>
            <a:off x="5989638" y="3078163"/>
            <a:ext cx="0" cy="542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89" name="Line 41"/>
          <p:cNvSpPr>
            <a:spLocks noChangeShapeType="1"/>
          </p:cNvSpPr>
          <p:nvPr/>
        </p:nvSpPr>
        <p:spPr bwMode="auto">
          <a:xfrm>
            <a:off x="6389688" y="3071813"/>
            <a:ext cx="0" cy="63817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0" name="Text Box 42"/>
          <p:cNvSpPr txBox="1">
            <a:spLocks noChangeArrowheads="1"/>
          </p:cNvSpPr>
          <p:nvPr/>
        </p:nvSpPr>
        <p:spPr bwMode="auto">
          <a:xfrm>
            <a:off x="5638800" y="28368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1" name="Text Box 43"/>
          <p:cNvSpPr txBox="1">
            <a:spLocks noChangeArrowheads="1"/>
          </p:cNvSpPr>
          <p:nvPr/>
        </p:nvSpPr>
        <p:spPr bwMode="auto">
          <a:xfrm>
            <a:off x="5667375" y="3484563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2" name="Text Box 44"/>
          <p:cNvSpPr txBox="1">
            <a:spLocks noChangeArrowheads="1"/>
          </p:cNvSpPr>
          <p:nvPr/>
        </p:nvSpPr>
        <p:spPr bwMode="auto">
          <a:xfrm>
            <a:off x="6208713" y="3636963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3" name="Text Box 45"/>
          <p:cNvSpPr txBox="1">
            <a:spLocks noChangeArrowheads="1"/>
          </p:cNvSpPr>
          <p:nvPr/>
        </p:nvSpPr>
        <p:spPr bwMode="auto">
          <a:xfrm>
            <a:off x="5959475" y="2779713"/>
            <a:ext cx="53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30094" name="Line 46"/>
          <p:cNvSpPr>
            <a:spLocks noChangeShapeType="1"/>
          </p:cNvSpPr>
          <p:nvPr/>
        </p:nvSpPr>
        <p:spPr bwMode="auto">
          <a:xfrm>
            <a:off x="5980113" y="1635125"/>
            <a:ext cx="1162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5" name="Line 47"/>
          <p:cNvSpPr>
            <a:spLocks noChangeShapeType="1"/>
          </p:cNvSpPr>
          <p:nvPr/>
        </p:nvSpPr>
        <p:spPr bwMode="auto">
          <a:xfrm>
            <a:off x="6370638" y="1930400"/>
            <a:ext cx="139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6" name="Line 48"/>
          <p:cNvSpPr>
            <a:spLocks noChangeShapeType="1"/>
          </p:cNvSpPr>
          <p:nvPr/>
        </p:nvSpPr>
        <p:spPr bwMode="auto">
          <a:xfrm>
            <a:off x="5980113" y="2435225"/>
            <a:ext cx="1695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7" name="Line 49"/>
          <p:cNvSpPr>
            <a:spLocks noChangeShapeType="1"/>
          </p:cNvSpPr>
          <p:nvPr/>
        </p:nvSpPr>
        <p:spPr bwMode="auto">
          <a:xfrm>
            <a:off x="6389688" y="2559050"/>
            <a:ext cx="749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8" name="Line 50"/>
          <p:cNvSpPr>
            <a:spLocks noChangeShapeType="1"/>
          </p:cNvSpPr>
          <p:nvPr/>
        </p:nvSpPr>
        <p:spPr bwMode="auto">
          <a:xfrm>
            <a:off x="5989638" y="3082925"/>
            <a:ext cx="1149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99" name="Line 51"/>
          <p:cNvSpPr>
            <a:spLocks noChangeShapeType="1"/>
          </p:cNvSpPr>
          <p:nvPr/>
        </p:nvSpPr>
        <p:spPr bwMode="auto">
          <a:xfrm>
            <a:off x="5989638" y="361632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0" name="Line 52"/>
          <p:cNvSpPr>
            <a:spLocks noChangeShapeType="1"/>
          </p:cNvSpPr>
          <p:nvPr/>
        </p:nvSpPr>
        <p:spPr bwMode="auto">
          <a:xfrm>
            <a:off x="6386513" y="370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1" name="Line 53"/>
          <p:cNvSpPr>
            <a:spLocks noChangeShapeType="1"/>
          </p:cNvSpPr>
          <p:nvPr/>
        </p:nvSpPr>
        <p:spPr bwMode="auto">
          <a:xfrm>
            <a:off x="6916738" y="285750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2" name="Line 54"/>
          <p:cNvSpPr>
            <a:spLocks noChangeShapeType="1"/>
          </p:cNvSpPr>
          <p:nvPr/>
        </p:nvSpPr>
        <p:spPr bwMode="auto">
          <a:xfrm flipV="1">
            <a:off x="7145338" y="1631950"/>
            <a:ext cx="0" cy="145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3" name="Line 55"/>
          <p:cNvSpPr>
            <a:spLocks noChangeShapeType="1"/>
          </p:cNvSpPr>
          <p:nvPr/>
        </p:nvSpPr>
        <p:spPr bwMode="auto">
          <a:xfrm flipV="1">
            <a:off x="7672388" y="2432050"/>
            <a:ext cx="0" cy="1187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4" name="Line 56"/>
          <p:cNvSpPr>
            <a:spLocks noChangeShapeType="1"/>
          </p:cNvSpPr>
          <p:nvPr/>
        </p:nvSpPr>
        <p:spPr bwMode="auto">
          <a:xfrm flipV="1">
            <a:off x="7767638" y="1930400"/>
            <a:ext cx="0" cy="177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5" name="Line 57"/>
          <p:cNvSpPr>
            <a:spLocks noChangeShapeType="1"/>
          </p:cNvSpPr>
          <p:nvPr/>
        </p:nvSpPr>
        <p:spPr bwMode="auto">
          <a:xfrm>
            <a:off x="7146925" y="1638300"/>
            <a:ext cx="520700" cy="800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6" name="Line 58"/>
          <p:cNvSpPr>
            <a:spLocks noChangeShapeType="1"/>
          </p:cNvSpPr>
          <p:nvPr/>
        </p:nvSpPr>
        <p:spPr bwMode="auto">
          <a:xfrm flipH="1">
            <a:off x="7145338" y="1930400"/>
            <a:ext cx="622300" cy="6286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107" name="Text Box 59"/>
          <p:cNvSpPr txBox="1">
            <a:spLocks noChangeArrowheads="1"/>
          </p:cNvSpPr>
          <p:nvPr/>
        </p:nvSpPr>
        <p:spPr bwMode="auto">
          <a:xfrm>
            <a:off x="7072313" y="13700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30108" name="Text Box 60"/>
          <p:cNvSpPr txBox="1">
            <a:spLocks noChangeArrowheads="1"/>
          </p:cNvSpPr>
          <p:nvPr/>
        </p:nvSpPr>
        <p:spPr bwMode="auto">
          <a:xfrm>
            <a:off x="7626350" y="2227263"/>
            <a:ext cx="552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b”</a:t>
            </a:r>
          </a:p>
        </p:txBody>
      </p:sp>
      <p:sp>
        <p:nvSpPr>
          <p:cNvPr id="130109" name="Text Box 61"/>
          <p:cNvSpPr txBox="1">
            <a:spLocks noChangeArrowheads="1"/>
          </p:cNvSpPr>
          <p:nvPr/>
        </p:nvSpPr>
        <p:spPr bwMode="auto">
          <a:xfrm>
            <a:off x="7594600" y="1611313"/>
            <a:ext cx="615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c”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30110" name="Text Box 62"/>
          <p:cNvSpPr txBox="1">
            <a:spLocks noChangeArrowheads="1"/>
          </p:cNvSpPr>
          <p:nvPr/>
        </p:nvSpPr>
        <p:spPr bwMode="auto">
          <a:xfrm>
            <a:off x="7067550" y="2379663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d”</a:t>
            </a:r>
          </a:p>
        </p:txBody>
      </p:sp>
      <p:sp>
        <p:nvSpPr>
          <p:cNvPr id="130111" name="Text Box 63"/>
          <p:cNvSpPr txBox="1">
            <a:spLocks noChangeArrowheads="1"/>
          </p:cNvSpPr>
          <p:nvPr/>
        </p:nvSpPr>
        <p:spPr bwMode="auto">
          <a:xfrm>
            <a:off x="1082675" y="4373563"/>
            <a:ext cx="111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平行</a:t>
            </a:r>
          </a:p>
        </p:txBody>
      </p:sp>
      <p:sp>
        <p:nvSpPr>
          <p:cNvPr id="130112" name="Text Box 64"/>
          <p:cNvSpPr txBox="1">
            <a:spLocks noChangeArrowheads="1"/>
          </p:cNvSpPr>
          <p:nvPr/>
        </p:nvSpPr>
        <p:spPr bwMode="auto">
          <a:xfrm>
            <a:off x="3378200" y="4364038"/>
            <a:ext cx="1552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平行</a:t>
            </a:r>
          </a:p>
        </p:txBody>
      </p: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6778625" y="1239838"/>
            <a:ext cx="1946275" cy="3041650"/>
            <a:chOff x="4349" y="1812"/>
            <a:chExt cx="1226" cy="1916"/>
          </a:xfrm>
        </p:grpSpPr>
        <p:sp>
          <p:nvSpPr>
            <p:cNvPr id="15438" name="Line 66"/>
            <p:cNvSpPr>
              <a:spLocks noChangeShapeType="1"/>
            </p:cNvSpPr>
            <p:nvPr/>
          </p:nvSpPr>
          <p:spPr bwMode="auto">
            <a:xfrm>
              <a:off x="4438" y="2012"/>
              <a:ext cx="0" cy="1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9" name="Text Box 67"/>
            <p:cNvSpPr txBox="1">
              <a:spLocks noChangeArrowheads="1"/>
            </p:cNvSpPr>
            <p:nvPr/>
          </p:nvSpPr>
          <p:spPr bwMode="auto">
            <a:xfrm>
              <a:off x="5199" y="2581"/>
              <a:ext cx="3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W </a:t>
              </a:r>
            </a:p>
          </p:txBody>
        </p:sp>
        <p:sp>
          <p:nvSpPr>
            <p:cNvPr id="15440" name="Text Box 68"/>
            <p:cNvSpPr txBox="1">
              <a:spLocks noChangeArrowheads="1"/>
            </p:cNvSpPr>
            <p:nvPr/>
          </p:nvSpPr>
          <p:spPr bwMode="auto">
            <a:xfrm>
              <a:off x="4393" y="1812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Z </a:t>
              </a:r>
            </a:p>
          </p:txBody>
        </p:sp>
        <p:sp>
          <p:nvSpPr>
            <p:cNvPr id="15441" name="Text Box 69"/>
            <p:cNvSpPr txBox="1">
              <a:spLocks noChangeArrowheads="1"/>
            </p:cNvSpPr>
            <p:nvPr/>
          </p:nvSpPr>
          <p:spPr bwMode="auto">
            <a:xfrm>
              <a:off x="4349" y="3440"/>
              <a:ext cx="4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Y</a:t>
              </a:r>
              <a:r>
                <a:rPr lang="en-US" altLang="zh-CN" sz="2400" i="1" baseline="-25000">
                  <a:latin typeface="ISOCPEUR" pitchFamily="34" charset="0"/>
                </a:rPr>
                <a:t>H </a:t>
              </a:r>
              <a:r>
                <a:rPr lang="en-US" altLang="zh-CN" sz="2400" i="1">
                  <a:latin typeface="ISOCPEUR" pitchFamily="34" charset="0"/>
                </a:rPr>
                <a:t> </a:t>
              </a:r>
            </a:p>
          </p:txBody>
        </p:sp>
        <p:sp>
          <p:nvSpPr>
            <p:cNvPr id="15442" name="Line 70"/>
            <p:cNvSpPr>
              <a:spLocks noChangeShapeType="1"/>
            </p:cNvSpPr>
            <p:nvPr/>
          </p:nvSpPr>
          <p:spPr bwMode="auto">
            <a:xfrm>
              <a:off x="4436" y="2828"/>
              <a:ext cx="9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0119" name="Text Box 71"/>
          <p:cNvSpPr txBox="1">
            <a:spLocks noChangeArrowheads="1"/>
          </p:cNvSpPr>
          <p:nvPr/>
        </p:nvSpPr>
        <p:spPr bwMode="auto">
          <a:xfrm>
            <a:off x="6223000" y="4378325"/>
            <a:ext cx="267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不平行</a:t>
            </a:r>
          </a:p>
        </p:txBody>
      </p: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420688" y="1489075"/>
            <a:ext cx="2001837" cy="898525"/>
            <a:chOff x="344" y="1966"/>
            <a:chExt cx="1261" cy="566"/>
          </a:xfrm>
        </p:grpSpPr>
        <p:sp>
          <p:nvSpPr>
            <p:cNvPr id="15432" name="Text Box 73"/>
            <p:cNvSpPr txBox="1">
              <a:spLocks noChangeArrowheads="1"/>
            </p:cNvSpPr>
            <p:nvPr/>
          </p:nvSpPr>
          <p:spPr bwMode="auto">
            <a:xfrm>
              <a:off x="344" y="2282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3" name="Text Box 74"/>
            <p:cNvSpPr txBox="1">
              <a:spLocks noChangeArrowheads="1"/>
            </p:cNvSpPr>
            <p:nvPr/>
          </p:nvSpPr>
          <p:spPr bwMode="auto">
            <a:xfrm>
              <a:off x="721" y="2008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4" name="Text Box 75"/>
            <p:cNvSpPr txBox="1">
              <a:spLocks noChangeArrowheads="1"/>
            </p:cNvSpPr>
            <p:nvPr/>
          </p:nvSpPr>
          <p:spPr bwMode="auto">
            <a:xfrm>
              <a:off x="853" y="2248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5" name="Text Box 76"/>
            <p:cNvSpPr txBox="1">
              <a:spLocks noChangeArrowheads="1"/>
            </p:cNvSpPr>
            <p:nvPr/>
          </p:nvSpPr>
          <p:spPr bwMode="auto">
            <a:xfrm>
              <a:off x="1243" y="1966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6" name="Line 77"/>
            <p:cNvSpPr>
              <a:spLocks noChangeShapeType="1"/>
            </p:cNvSpPr>
            <p:nvPr/>
          </p:nvSpPr>
          <p:spPr bwMode="auto">
            <a:xfrm flipV="1">
              <a:off x="575" y="2199"/>
              <a:ext cx="36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7" name="Line 78"/>
            <p:cNvSpPr>
              <a:spLocks noChangeShapeType="1"/>
            </p:cNvSpPr>
            <p:nvPr/>
          </p:nvSpPr>
          <p:spPr bwMode="auto">
            <a:xfrm flipV="1">
              <a:off x="1055" y="2175"/>
              <a:ext cx="360" cy="276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9"/>
          <p:cNvGrpSpPr>
            <a:grpSpLocks/>
          </p:cNvGrpSpPr>
          <p:nvPr/>
        </p:nvGrpSpPr>
        <p:grpSpPr bwMode="auto">
          <a:xfrm>
            <a:off x="2921000" y="1541463"/>
            <a:ext cx="1820863" cy="898525"/>
            <a:chOff x="1926" y="1999"/>
            <a:chExt cx="1147" cy="566"/>
          </a:xfrm>
        </p:grpSpPr>
        <p:sp>
          <p:nvSpPr>
            <p:cNvPr id="15426" name="Text Box 80"/>
            <p:cNvSpPr txBox="1">
              <a:spLocks noChangeArrowheads="1"/>
            </p:cNvSpPr>
            <p:nvPr/>
          </p:nvSpPr>
          <p:spPr bwMode="auto">
            <a:xfrm>
              <a:off x="1926" y="2315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7" name="Text Box 81"/>
            <p:cNvSpPr txBox="1">
              <a:spLocks noChangeArrowheads="1"/>
            </p:cNvSpPr>
            <p:nvPr/>
          </p:nvSpPr>
          <p:spPr bwMode="auto">
            <a:xfrm>
              <a:off x="2303" y="2041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8" name="Text Box 82"/>
            <p:cNvSpPr txBox="1">
              <a:spLocks noChangeArrowheads="1"/>
            </p:cNvSpPr>
            <p:nvPr/>
          </p:nvSpPr>
          <p:spPr bwMode="auto">
            <a:xfrm>
              <a:off x="2321" y="2281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9" name="Text Box 83"/>
            <p:cNvSpPr txBox="1">
              <a:spLocks noChangeArrowheads="1"/>
            </p:cNvSpPr>
            <p:nvPr/>
          </p:nvSpPr>
          <p:spPr bwMode="auto">
            <a:xfrm>
              <a:off x="2711" y="1999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30" name="Line 84"/>
            <p:cNvSpPr>
              <a:spLocks noChangeShapeType="1"/>
            </p:cNvSpPr>
            <p:nvPr/>
          </p:nvSpPr>
          <p:spPr bwMode="auto">
            <a:xfrm flipV="1">
              <a:off x="2172" y="2232"/>
              <a:ext cx="36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1" name="Line 85"/>
            <p:cNvSpPr>
              <a:spLocks noChangeShapeType="1"/>
            </p:cNvSpPr>
            <p:nvPr/>
          </p:nvSpPr>
          <p:spPr bwMode="auto">
            <a:xfrm flipV="1">
              <a:off x="2524" y="2208"/>
              <a:ext cx="368" cy="28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86"/>
          <p:cNvGrpSpPr>
            <a:grpSpLocks/>
          </p:cNvGrpSpPr>
          <p:nvPr/>
        </p:nvGrpSpPr>
        <p:grpSpPr bwMode="auto">
          <a:xfrm>
            <a:off x="5472113" y="1436688"/>
            <a:ext cx="1036637" cy="1377950"/>
            <a:chOff x="3524" y="1933"/>
            <a:chExt cx="653" cy="868"/>
          </a:xfrm>
        </p:grpSpPr>
        <p:sp>
          <p:nvSpPr>
            <p:cNvPr id="15420" name="Line 87"/>
            <p:cNvSpPr>
              <a:spLocks noChangeShapeType="1"/>
            </p:cNvSpPr>
            <p:nvPr/>
          </p:nvSpPr>
          <p:spPr bwMode="auto">
            <a:xfrm>
              <a:off x="3852" y="2058"/>
              <a:ext cx="0" cy="5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1" name="Line 88"/>
            <p:cNvSpPr>
              <a:spLocks noChangeShapeType="1"/>
            </p:cNvSpPr>
            <p:nvPr/>
          </p:nvSpPr>
          <p:spPr bwMode="auto">
            <a:xfrm>
              <a:off x="4104" y="2244"/>
              <a:ext cx="0" cy="40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2" name="Text Box 89"/>
            <p:cNvSpPr txBox="1">
              <a:spLocks noChangeArrowheads="1"/>
            </p:cNvSpPr>
            <p:nvPr/>
          </p:nvSpPr>
          <p:spPr bwMode="auto">
            <a:xfrm>
              <a:off x="3524" y="1933"/>
              <a:ext cx="4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3" name="Text Box 90"/>
            <p:cNvSpPr txBox="1">
              <a:spLocks noChangeArrowheads="1"/>
            </p:cNvSpPr>
            <p:nvPr/>
          </p:nvSpPr>
          <p:spPr bwMode="auto">
            <a:xfrm>
              <a:off x="3534" y="2413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4" name="Text Box 91"/>
            <p:cNvSpPr txBox="1">
              <a:spLocks noChangeArrowheads="1"/>
            </p:cNvSpPr>
            <p:nvPr/>
          </p:nvSpPr>
          <p:spPr bwMode="auto">
            <a:xfrm>
              <a:off x="3822" y="2107"/>
              <a:ext cx="3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5425" name="Text Box 92"/>
            <p:cNvSpPr txBox="1">
              <a:spLocks noChangeArrowheads="1"/>
            </p:cNvSpPr>
            <p:nvPr/>
          </p:nvSpPr>
          <p:spPr bwMode="auto">
            <a:xfrm>
              <a:off x="3744" y="2551"/>
              <a:ext cx="4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sp>
        <p:nvSpPr>
          <p:cNvPr id="130145" name="Text Box 97"/>
          <p:cNvSpPr txBox="1">
            <a:spLocks noChangeArrowheads="1"/>
          </p:cNvSpPr>
          <p:nvPr/>
        </p:nvSpPr>
        <p:spPr bwMode="auto">
          <a:xfrm>
            <a:off x="203200" y="5392738"/>
            <a:ext cx="87709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注意：对一般位置直线，根据任意两对同名投影可判断是否平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    行。对某些投影面平行线，则要根据第三个同名投影。</a:t>
            </a:r>
          </a:p>
        </p:txBody>
      </p:sp>
    </p:spTree>
    <p:extLst>
      <p:ext uri="{BB962C8B-B14F-4D97-AF65-F5344CB8AC3E}">
        <p14:creationId xmlns:p14="http://schemas.microsoft.com/office/powerpoint/2010/main" val="329690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3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3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3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3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3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3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3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3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3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3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13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3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3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13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3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13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1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4" dur="500"/>
                                        <p:tgtEl>
                                          <p:spTgt spid="13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nimBg="1" autoUpdateAnimBg="0"/>
      <p:bldP spid="130054" grpId="0" animBg="1"/>
      <p:bldP spid="130068" grpId="0" animBg="1"/>
      <p:bldP spid="130069" grpId="0" animBg="1"/>
      <p:bldP spid="130070" grpId="0" animBg="1"/>
      <p:bldP spid="130071" grpId="0" animBg="1"/>
      <p:bldP spid="130072" grpId="0" animBg="1"/>
      <p:bldP spid="130073" grpId="0" animBg="1"/>
      <p:bldP spid="130074" grpId="0" autoUpdateAnimBg="0"/>
      <p:bldP spid="130075" grpId="0" autoUpdateAnimBg="0"/>
      <p:bldP spid="130076" grpId="0" autoUpdateAnimBg="0"/>
      <p:bldP spid="130077" grpId="0" autoUpdateAnimBg="0"/>
      <p:bldP spid="130078" grpId="0" animBg="1"/>
      <p:bldP spid="130079" grpId="0" animBg="1"/>
      <p:bldP spid="130080" grpId="0" animBg="1"/>
      <p:bldP spid="130081" grpId="0" animBg="1"/>
      <p:bldP spid="130082" grpId="0" animBg="1"/>
      <p:bldP spid="130083" grpId="0" autoUpdateAnimBg="0"/>
      <p:bldP spid="130084" grpId="0" autoUpdateAnimBg="0"/>
      <p:bldP spid="130085" grpId="0" autoUpdateAnimBg="0"/>
      <p:bldP spid="130086" grpId="0" animBg="1"/>
      <p:bldP spid="130087" grpId="0" animBg="1"/>
      <p:bldP spid="130088" grpId="0" animBg="1"/>
      <p:bldP spid="130089" grpId="0" animBg="1"/>
      <p:bldP spid="130090" grpId="0" autoUpdateAnimBg="0"/>
      <p:bldP spid="130091" grpId="0" autoUpdateAnimBg="0"/>
      <p:bldP spid="130092" grpId="0" autoUpdateAnimBg="0"/>
      <p:bldP spid="130093" grpId="0" autoUpdateAnimBg="0"/>
      <p:bldP spid="130094" grpId="0" animBg="1"/>
      <p:bldP spid="130095" grpId="0" animBg="1"/>
      <p:bldP spid="130096" grpId="0" animBg="1"/>
      <p:bldP spid="130097" grpId="0" animBg="1"/>
      <p:bldP spid="130098" grpId="0" animBg="1"/>
      <p:bldP spid="130099" grpId="0" animBg="1"/>
      <p:bldP spid="130100" grpId="0" animBg="1"/>
      <p:bldP spid="130101" grpId="0" animBg="1"/>
      <p:bldP spid="130102" grpId="0" animBg="1"/>
      <p:bldP spid="130103" grpId="0" animBg="1"/>
      <p:bldP spid="130104" grpId="0" animBg="1"/>
      <p:bldP spid="130105" grpId="0" animBg="1"/>
      <p:bldP spid="130106" grpId="0" animBg="1"/>
      <p:bldP spid="130107" grpId="0" autoUpdateAnimBg="0"/>
      <p:bldP spid="130108" grpId="0" autoUpdateAnimBg="0"/>
      <p:bldP spid="130109" grpId="0" autoUpdateAnimBg="0"/>
      <p:bldP spid="130110" grpId="0" autoUpdateAnimBg="0"/>
      <p:bldP spid="130111" grpId="0"/>
      <p:bldP spid="130112" grpId="0"/>
      <p:bldP spid="130119" grpId="0"/>
      <p:bldP spid="13014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88" name="Text Box 16"/>
          <p:cNvSpPr txBox="1">
            <a:spLocks noChangeArrowheads="1"/>
          </p:cNvSpPr>
          <p:nvPr/>
        </p:nvSpPr>
        <p:spPr bwMode="auto">
          <a:xfrm>
            <a:off x="314325" y="5305425"/>
            <a:ext cx="8561388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几何条件：两相交直线各同名投影均相交，且交点符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合点的投影规律，即两直线只有一个公有点。</a:t>
            </a:r>
          </a:p>
        </p:txBody>
      </p:sp>
      <p:sp>
        <p:nvSpPr>
          <p:cNvPr id="131131" name="Rectangle 59"/>
          <p:cNvSpPr>
            <a:spLocks noChangeArrowheads="1"/>
          </p:cNvSpPr>
          <p:nvPr/>
        </p:nvSpPr>
        <p:spPr bwMode="auto">
          <a:xfrm>
            <a:off x="984250" y="1239838"/>
            <a:ext cx="2876550" cy="2208212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6389" name="Text Box 60"/>
          <p:cNvSpPr txBox="1">
            <a:spLocks noChangeArrowheads="1"/>
          </p:cNvSpPr>
          <p:nvPr/>
        </p:nvSpPr>
        <p:spPr bwMode="auto">
          <a:xfrm>
            <a:off x="431800" y="298450"/>
            <a:ext cx="33829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两直线相交</a:t>
            </a:r>
            <a:endParaRPr lang="zh-CN" altLang="en-US"/>
          </a:p>
        </p:txBody>
      </p:sp>
      <p:sp>
        <p:nvSpPr>
          <p:cNvPr id="131134" name="AutoShape 62"/>
          <p:cNvSpPr>
            <a:spLocks noChangeArrowheads="1"/>
          </p:cNvSpPr>
          <p:nvPr/>
        </p:nvSpPr>
        <p:spPr bwMode="auto">
          <a:xfrm flipH="1">
            <a:off x="984250" y="3438525"/>
            <a:ext cx="4216400" cy="1363663"/>
          </a:xfrm>
          <a:prstGeom prst="parallelogram">
            <a:avLst>
              <a:gd name="adj" fmla="val 99516"/>
            </a:avLst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31135" name="Line 63"/>
          <p:cNvSpPr>
            <a:spLocks noChangeShapeType="1"/>
          </p:cNvSpPr>
          <p:nvPr/>
        </p:nvSpPr>
        <p:spPr bwMode="auto">
          <a:xfrm flipV="1">
            <a:off x="2157413" y="3846513"/>
            <a:ext cx="1335087" cy="2936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6" name="Line 64"/>
          <p:cNvSpPr>
            <a:spLocks noChangeShapeType="1"/>
          </p:cNvSpPr>
          <p:nvPr/>
        </p:nvSpPr>
        <p:spPr bwMode="auto">
          <a:xfrm>
            <a:off x="1992313" y="3835400"/>
            <a:ext cx="2005012" cy="257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7" name="Line 65"/>
          <p:cNvSpPr>
            <a:spLocks noChangeShapeType="1"/>
          </p:cNvSpPr>
          <p:nvPr/>
        </p:nvSpPr>
        <p:spPr bwMode="auto">
          <a:xfrm flipV="1">
            <a:off x="2016125" y="2346325"/>
            <a:ext cx="1981200" cy="4810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8" name="Line 66"/>
          <p:cNvSpPr>
            <a:spLocks noChangeShapeType="1"/>
          </p:cNvSpPr>
          <p:nvPr/>
        </p:nvSpPr>
        <p:spPr bwMode="auto">
          <a:xfrm>
            <a:off x="2144713" y="2381250"/>
            <a:ext cx="1336675" cy="37623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39" name="Line 67"/>
          <p:cNvSpPr>
            <a:spLocks noChangeShapeType="1"/>
          </p:cNvSpPr>
          <p:nvPr/>
        </p:nvSpPr>
        <p:spPr bwMode="auto">
          <a:xfrm>
            <a:off x="1430338" y="1677988"/>
            <a:ext cx="1639887" cy="66833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0" name="Line 68"/>
          <p:cNvSpPr>
            <a:spLocks noChangeShapeType="1"/>
          </p:cNvSpPr>
          <p:nvPr/>
        </p:nvSpPr>
        <p:spPr bwMode="auto">
          <a:xfrm flipV="1">
            <a:off x="1595438" y="1689100"/>
            <a:ext cx="1733550" cy="7159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1" name="Line 69"/>
          <p:cNvSpPr>
            <a:spLocks noChangeShapeType="1"/>
          </p:cNvSpPr>
          <p:nvPr/>
        </p:nvSpPr>
        <p:spPr bwMode="auto">
          <a:xfrm>
            <a:off x="2401888" y="2065338"/>
            <a:ext cx="541337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2" name="Line 70"/>
          <p:cNvSpPr>
            <a:spLocks noChangeShapeType="1"/>
          </p:cNvSpPr>
          <p:nvPr/>
        </p:nvSpPr>
        <p:spPr bwMode="auto">
          <a:xfrm>
            <a:off x="3070225" y="2333625"/>
            <a:ext cx="387350" cy="387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3" name="Line 71"/>
          <p:cNvSpPr>
            <a:spLocks noChangeShapeType="1"/>
          </p:cNvSpPr>
          <p:nvPr/>
        </p:nvSpPr>
        <p:spPr bwMode="auto">
          <a:xfrm>
            <a:off x="3340100" y="3436938"/>
            <a:ext cx="247650" cy="246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4" name="Line 72"/>
          <p:cNvSpPr>
            <a:spLocks noChangeShapeType="1"/>
          </p:cNvSpPr>
          <p:nvPr/>
        </p:nvSpPr>
        <p:spPr bwMode="auto">
          <a:xfrm>
            <a:off x="3751263" y="3857625"/>
            <a:ext cx="246062" cy="24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5" name="Line 73"/>
          <p:cNvSpPr>
            <a:spLocks noChangeShapeType="1"/>
          </p:cNvSpPr>
          <p:nvPr/>
        </p:nvSpPr>
        <p:spPr bwMode="auto">
          <a:xfrm>
            <a:off x="3340100" y="1701800"/>
            <a:ext cx="0" cy="1735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6" name="Line 74"/>
          <p:cNvSpPr>
            <a:spLocks noChangeShapeType="1"/>
          </p:cNvSpPr>
          <p:nvPr/>
        </p:nvSpPr>
        <p:spPr bwMode="auto">
          <a:xfrm>
            <a:off x="3997325" y="2357438"/>
            <a:ext cx="0" cy="1735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7" name="Line 75"/>
          <p:cNvSpPr>
            <a:spLocks noChangeShapeType="1"/>
          </p:cNvSpPr>
          <p:nvPr/>
        </p:nvSpPr>
        <p:spPr bwMode="auto">
          <a:xfrm>
            <a:off x="3492500" y="2757488"/>
            <a:ext cx="0" cy="1077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8" name="Line 76"/>
          <p:cNvSpPr>
            <a:spLocks noChangeShapeType="1"/>
          </p:cNvSpPr>
          <p:nvPr/>
        </p:nvSpPr>
        <p:spPr bwMode="auto">
          <a:xfrm>
            <a:off x="3070225" y="3436938"/>
            <a:ext cx="400050" cy="398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49" name="Line 77"/>
          <p:cNvSpPr>
            <a:spLocks noChangeShapeType="1"/>
          </p:cNvSpPr>
          <p:nvPr/>
        </p:nvSpPr>
        <p:spPr bwMode="auto">
          <a:xfrm>
            <a:off x="3070225" y="2322513"/>
            <a:ext cx="0" cy="11255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0" name="Line 78"/>
          <p:cNvSpPr>
            <a:spLocks noChangeShapeType="1"/>
          </p:cNvSpPr>
          <p:nvPr/>
        </p:nvSpPr>
        <p:spPr bwMode="auto">
          <a:xfrm>
            <a:off x="2965450" y="2616200"/>
            <a:ext cx="0" cy="1336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1" name="Line 79"/>
          <p:cNvSpPr>
            <a:spLocks noChangeShapeType="1"/>
          </p:cNvSpPr>
          <p:nvPr/>
        </p:nvSpPr>
        <p:spPr bwMode="auto">
          <a:xfrm>
            <a:off x="1454150" y="1677988"/>
            <a:ext cx="703263" cy="703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2" name="Line 80"/>
          <p:cNvSpPr>
            <a:spLocks noChangeShapeType="1"/>
          </p:cNvSpPr>
          <p:nvPr/>
        </p:nvSpPr>
        <p:spPr bwMode="auto">
          <a:xfrm>
            <a:off x="2157413" y="2370138"/>
            <a:ext cx="0" cy="1193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3" name="Line 81"/>
          <p:cNvSpPr>
            <a:spLocks noChangeShapeType="1"/>
          </p:cNvSpPr>
          <p:nvPr/>
        </p:nvSpPr>
        <p:spPr bwMode="auto">
          <a:xfrm>
            <a:off x="2157413" y="3811588"/>
            <a:ext cx="0" cy="328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4" name="Line 82"/>
          <p:cNvSpPr>
            <a:spLocks noChangeShapeType="1"/>
          </p:cNvSpPr>
          <p:nvPr/>
        </p:nvSpPr>
        <p:spPr bwMode="auto">
          <a:xfrm>
            <a:off x="2016125" y="2827338"/>
            <a:ext cx="0" cy="1008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5" name="Line 83"/>
          <p:cNvSpPr>
            <a:spLocks noChangeShapeType="1"/>
          </p:cNvSpPr>
          <p:nvPr/>
        </p:nvSpPr>
        <p:spPr bwMode="auto">
          <a:xfrm>
            <a:off x="1595438" y="2392363"/>
            <a:ext cx="422275" cy="423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6" name="Line 84"/>
          <p:cNvSpPr>
            <a:spLocks noChangeShapeType="1"/>
          </p:cNvSpPr>
          <p:nvPr/>
        </p:nvSpPr>
        <p:spPr bwMode="auto">
          <a:xfrm>
            <a:off x="1595438" y="3436938"/>
            <a:ext cx="409575" cy="409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7" name="Line 85"/>
          <p:cNvSpPr>
            <a:spLocks noChangeShapeType="1"/>
          </p:cNvSpPr>
          <p:nvPr/>
        </p:nvSpPr>
        <p:spPr bwMode="auto">
          <a:xfrm>
            <a:off x="1604963" y="2392363"/>
            <a:ext cx="0" cy="1044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8" name="Line 86"/>
          <p:cNvSpPr>
            <a:spLocks noChangeShapeType="1"/>
          </p:cNvSpPr>
          <p:nvPr/>
        </p:nvSpPr>
        <p:spPr bwMode="auto">
          <a:xfrm>
            <a:off x="1441450" y="3425825"/>
            <a:ext cx="703263" cy="703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59" name="Line 87"/>
          <p:cNvSpPr>
            <a:spLocks noChangeShapeType="1"/>
          </p:cNvSpPr>
          <p:nvPr/>
        </p:nvSpPr>
        <p:spPr bwMode="auto">
          <a:xfrm>
            <a:off x="1454150" y="1677988"/>
            <a:ext cx="0" cy="1770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1160" name="Rectangle 88"/>
          <p:cNvSpPr>
            <a:spLocks noChangeArrowheads="1"/>
          </p:cNvSpPr>
          <p:nvPr/>
        </p:nvSpPr>
        <p:spPr bwMode="auto">
          <a:xfrm>
            <a:off x="1514475" y="1958975"/>
            <a:ext cx="2270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a</a:t>
            </a:r>
            <a:r>
              <a:rPr lang="en-US" altLang="zh-CN" sz="2400" b="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61" name="Rectangle 89"/>
          <p:cNvSpPr>
            <a:spLocks noChangeArrowheads="1"/>
          </p:cNvSpPr>
          <p:nvPr/>
        </p:nvSpPr>
        <p:spPr bwMode="auto">
          <a:xfrm>
            <a:off x="1317625" y="1343025"/>
            <a:ext cx="2111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c</a:t>
            </a:r>
            <a:r>
              <a:rPr lang="en-US" altLang="zh-CN" sz="2400" i="1">
                <a:solidFill>
                  <a:srgbClr val="000000"/>
                </a:solidFill>
                <a:sym typeface="Symbol" pitchFamily="18" charset="2"/>
              </a:rPr>
              <a:t></a:t>
            </a:r>
            <a:endParaRPr lang="en-US" altLang="zh-CN" sz="2400" i="1">
              <a:solidFill>
                <a:srgbClr val="000000"/>
              </a:solidFill>
              <a:sym typeface="CommercialPi BT" pitchFamily="18" charset="2"/>
            </a:endParaRPr>
          </a:p>
        </p:txBody>
      </p:sp>
      <p:sp>
        <p:nvSpPr>
          <p:cNvPr id="131162" name="Rectangle 90"/>
          <p:cNvSpPr>
            <a:spLocks noChangeArrowheads="1"/>
          </p:cNvSpPr>
          <p:nvPr/>
        </p:nvSpPr>
        <p:spPr bwMode="auto">
          <a:xfrm>
            <a:off x="1041400" y="1438275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宋体" charset="-122"/>
              </a:rPr>
              <a:t>V</a:t>
            </a:r>
            <a:endParaRPr lang="en-US" altLang="zh-CN" sz="2400" i="1">
              <a:solidFill>
                <a:srgbClr val="FF3300"/>
              </a:solidFill>
            </a:endParaRPr>
          </a:p>
        </p:txBody>
      </p:sp>
      <p:sp>
        <p:nvSpPr>
          <p:cNvPr id="131163" name="Rectangle 91"/>
          <p:cNvSpPr>
            <a:spLocks noChangeArrowheads="1"/>
          </p:cNvSpPr>
          <p:nvPr/>
        </p:nvSpPr>
        <p:spPr bwMode="auto">
          <a:xfrm>
            <a:off x="765175" y="3259138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charset="-122"/>
              </a:rPr>
              <a:t>X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64" name="Rectangle 92"/>
          <p:cNvSpPr>
            <a:spLocks noChangeArrowheads="1"/>
          </p:cNvSpPr>
          <p:nvPr/>
        </p:nvSpPr>
        <p:spPr bwMode="auto">
          <a:xfrm>
            <a:off x="3217863" y="1281113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b</a:t>
            </a: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131165" name="Rectangle 93"/>
          <p:cNvSpPr>
            <a:spLocks noChangeArrowheads="1"/>
          </p:cNvSpPr>
          <p:nvPr/>
        </p:nvSpPr>
        <p:spPr bwMode="auto">
          <a:xfrm>
            <a:off x="4678363" y="4406900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宋体" charset="-122"/>
              </a:rPr>
              <a:t>H</a:t>
            </a:r>
            <a:endParaRPr lang="en-US" altLang="zh-CN" sz="2400" i="1">
              <a:solidFill>
                <a:srgbClr val="FF3300"/>
              </a:solidFill>
            </a:endParaRPr>
          </a:p>
        </p:txBody>
      </p:sp>
      <p:sp>
        <p:nvSpPr>
          <p:cNvPr id="131166" name="Rectangle 94"/>
          <p:cNvSpPr>
            <a:spLocks noChangeArrowheads="1"/>
          </p:cNvSpPr>
          <p:nvPr/>
        </p:nvSpPr>
        <p:spPr bwMode="auto">
          <a:xfrm>
            <a:off x="3568700" y="2471738"/>
            <a:ext cx="2190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67" name="Rectangle 95"/>
          <p:cNvSpPr>
            <a:spLocks noChangeArrowheads="1"/>
          </p:cNvSpPr>
          <p:nvPr/>
        </p:nvSpPr>
        <p:spPr bwMode="auto">
          <a:xfrm>
            <a:off x="2051050" y="348615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a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68" name="Rectangle 96"/>
          <p:cNvSpPr>
            <a:spLocks noChangeArrowheads="1"/>
          </p:cNvSpPr>
          <p:nvPr/>
        </p:nvSpPr>
        <p:spPr bwMode="auto">
          <a:xfrm>
            <a:off x="2143125" y="4029075"/>
            <a:ext cx="1349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c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69" name="Rectangle 97"/>
          <p:cNvSpPr>
            <a:spLocks noChangeArrowheads="1"/>
          </p:cNvSpPr>
          <p:nvPr/>
        </p:nvSpPr>
        <p:spPr bwMode="auto">
          <a:xfrm>
            <a:off x="3563938" y="3617913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d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0" name="Rectangle 98"/>
          <p:cNvSpPr>
            <a:spLocks noChangeArrowheads="1"/>
          </p:cNvSpPr>
          <p:nvPr/>
        </p:nvSpPr>
        <p:spPr bwMode="auto">
          <a:xfrm>
            <a:off x="2921000" y="3937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k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1" name="Rectangle 99"/>
          <p:cNvSpPr>
            <a:spLocks noChangeArrowheads="1"/>
          </p:cNvSpPr>
          <p:nvPr/>
        </p:nvSpPr>
        <p:spPr bwMode="auto">
          <a:xfrm>
            <a:off x="1895475" y="2330450"/>
            <a:ext cx="2000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2" name="Rectangle 100"/>
          <p:cNvSpPr>
            <a:spLocks noChangeArrowheads="1"/>
          </p:cNvSpPr>
          <p:nvPr/>
        </p:nvSpPr>
        <p:spPr bwMode="auto">
          <a:xfrm>
            <a:off x="1798638" y="2711450"/>
            <a:ext cx="1905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3" name="Rectangle 101"/>
          <p:cNvSpPr>
            <a:spLocks noChangeArrowheads="1"/>
          </p:cNvSpPr>
          <p:nvPr/>
        </p:nvSpPr>
        <p:spPr bwMode="auto">
          <a:xfrm>
            <a:off x="2365375" y="1627188"/>
            <a:ext cx="2270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k</a:t>
            </a:r>
            <a:r>
              <a:rPr lang="en-US" altLang="zh-CN" sz="2400" b="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lang="en-US" altLang="zh-CN" sz="2400" b="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131174" name="Rectangle 102"/>
          <p:cNvSpPr>
            <a:spLocks noChangeArrowheads="1"/>
          </p:cNvSpPr>
          <p:nvPr/>
        </p:nvSpPr>
        <p:spPr bwMode="auto">
          <a:xfrm>
            <a:off x="2722563" y="2590800"/>
            <a:ext cx="193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5" name="Rectangle 103"/>
          <p:cNvSpPr>
            <a:spLocks noChangeArrowheads="1"/>
          </p:cNvSpPr>
          <p:nvPr/>
        </p:nvSpPr>
        <p:spPr bwMode="auto">
          <a:xfrm>
            <a:off x="3011488" y="1968500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d</a:t>
            </a:r>
            <a:r>
              <a:rPr lang="en-US" altLang="zh-CN" sz="2400" i="1">
                <a:solidFill>
                  <a:srgbClr val="000000"/>
                </a:solidFill>
                <a:sym typeface="Symbol" pitchFamily="18" charset="2"/>
              </a:rPr>
              <a:t>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6" name="Rectangle 104"/>
          <p:cNvSpPr>
            <a:spLocks noChangeArrowheads="1"/>
          </p:cNvSpPr>
          <p:nvPr/>
        </p:nvSpPr>
        <p:spPr bwMode="auto">
          <a:xfrm>
            <a:off x="4113213" y="3946525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</a:rPr>
              <a:t>b</a:t>
            </a:r>
            <a:endParaRPr lang="en-US" altLang="zh-CN" sz="2400" b="0">
              <a:solidFill>
                <a:srgbClr val="FF3300"/>
              </a:solidFill>
            </a:endParaRPr>
          </a:p>
        </p:txBody>
      </p:sp>
      <p:sp>
        <p:nvSpPr>
          <p:cNvPr id="131177" name="Rectangle 105"/>
          <p:cNvSpPr>
            <a:spLocks noChangeArrowheads="1"/>
          </p:cNvSpPr>
          <p:nvPr/>
        </p:nvSpPr>
        <p:spPr bwMode="auto">
          <a:xfrm>
            <a:off x="3668713" y="3116263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宋体" charset="-122"/>
              </a:rPr>
              <a:t>O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8" name="Rectangle 106"/>
          <p:cNvSpPr>
            <a:spLocks noChangeArrowheads="1"/>
          </p:cNvSpPr>
          <p:nvPr/>
        </p:nvSpPr>
        <p:spPr bwMode="auto">
          <a:xfrm>
            <a:off x="4044950" y="2224088"/>
            <a:ext cx="195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131179" name="Line 107"/>
          <p:cNvSpPr>
            <a:spLocks noChangeShapeType="1"/>
          </p:cNvSpPr>
          <p:nvPr/>
        </p:nvSpPr>
        <p:spPr bwMode="auto">
          <a:xfrm flipH="1" flipV="1">
            <a:off x="3319463" y="1695450"/>
            <a:ext cx="663575" cy="663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08"/>
          <p:cNvGrpSpPr>
            <a:grpSpLocks/>
          </p:cNvGrpSpPr>
          <p:nvPr/>
        </p:nvGrpSpPr>
        <p:grpSpPr bwMode="auto">
          <a:xfrm>
            <a:off x="5740400" y="1552575"/>
            <a:ext cx="2582863" cy="3265488"/>
            <a:chOff x="3690" y="968"/>
            <a:chExt cx="1627" cy="2057"/>
          </a:xfrm>
        </p:grpSpPr>
        <p:sp>
          <p:nvSpPr>
            <p:cNvPr id="16437" name="Text Box 109"/>
            <p:cNvSpPr txBox="1">
              <a:spLocks noChangeArrowheads="1"/>
            </p:cNvSpPr>
            <p:nvPr/>
          </p:nvSpPr>
          <p:spPr bwMode="auto">
            <a:xfrm>
              <a:off x="3945" y="2737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c</a:t>
              </a:r>
              <a:endParaRPr lang="en-US" altLang="zh-CN" sz="2400"/>
            </a:p>
          </p:txBody>
        </p:sp>
        <p:sp>
          <p:nvSpPr>
            <p:cNvPr id="16438" name="Line 110"/>
            <p:cNvSpPr>
              <a:spLocks noChangeShapeType="1"/>
            </p:cNvSpPr>
            <p:nvPr/>
          </p:nvSpPr>
          <p:spPr bwMode="auto">
            <a:xfrm flipV="1">
              <a:off x="5077" y="1141"/>
              <a:ext cx="0" cy="17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39" name="Line 111"/>
            <p:cNvSpPr>
              <a:spLocks noChangeShapeType="1"/>
            </p:cNvSpPr>
            <p:nvPr/>
          </p:nvSpPr>
          <p:spPr bwMode="auto">
            <a:xfrm>
              <a:off x="4433" y="1510"/>
              <a:ext cx="0" cy="1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0" name="Line 112"/>
            <p:cNvSpPr>
              <a:spLocks noChangeShapeType="1"/>
            </p:cNvSpPr>
            <p:nvPr/>
          </p:nvSpPr>
          <p:spPr bwMode="auto">
            <a:xfrm>
              <a:off x="4112" y="2663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1" name="Line 113"/>
            <p:cNvSpPr>
              <a:spLocks noChangeShapeType="1"/>
            </p:cNvSpPr>
            <p:nvPr/>
          </p:nvSpPr>
          <p:spPr bwMode="auto">
            <a:xfrm>
              <a:off x="3694" y="2102"/>
              <a:ext cx="15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2" name="Line 114"/>
            <p:cNvSpPr>
              <a:spLocks noChangeShapeType="1"/>
            </p:cNvSpPr>
            <p:nvPr/>
          </p:nvSpPr>
          <p:spPr bwMode="auto">
            <a:xfrm flipV="1">
              <a:off x="3880" y="1123"/>
              <a:ext cx="1197" cy="69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3" name="Line 115"/>
            <p:cNvSpPr>
              <a:spLocks noChangeShapeType="1"/>
            </p:cNvSpPr>
            <p:nvPr/>
          </p:nvSpPr>
          <p:spPr bwMode="auto">
            <a:xfrm>
              <a:off x="4112" y="1328"/>
              <a:ext cx="745" cy="43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4" name="Line 116"/>
            <p:cNvSpPr>
              <a:spLocks noChangeShapeType="1"/>
            </p:cNvSpPr>
            <p:nvPr/>
          </p:nvSpPr>
          <p:spPr bwMode="auto">
            <a:xfrm>
              <a:off x="4112" y="1348"/>
              <a:ext cx="0" cy="15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5" name="Line 117"/>
            <p:cNvSpPr>
              <a:spLocks noChangeShapeType="1"/>
            </p:cNvSpPr>
            <p:nvPr/>
          </p:nvSpPr>
          <p:spPr bwMode="auto">
            <a:xfrm>
              <a:off x="4857" y="1758"/>
              <a:ext cx="0" cy="7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6" name="Line 118"/>
            <p:cNvSpPr>
              <a:spLocks noChangeShapeType="1"/>
            </p:cNvSpPr>
            <p:nvPr/>
          </p:nvSpPr>
          <p:spPr bwMode="auto">
            <a:xfrm flipH="1">
              <a:off x="4112" y="2515"/>
              <a:ext cx="745" cy="35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7" name="Line 119"/>
            <p:cNvSpPr>
              <a:spLocks noChangeShapeType="1"/>
            </p:cNvSpPr>
            <p:nvPr/>
          </p:nvSpPr>
          <p:spPr bwMode="auto">
            <a:xfrm>
              <a:off x="3880" y="1814"/>
              <a:ext cx="0" cy="7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8" name="Line 120"/>
            <p:cNvSpPr>
              <a:spLocks noChangeShapeType="1"/>
            </p:cNvSpPr>
            <p:nvPr/>
          </p:nvSpPr>
          <p:spPr bwMode="auto">
            <a:xfrm>
              <a:off x="3880" y="2592"/>
              <a:ext cx="1197" cy="2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49" name="Text Box 121"/>
            <p:cNvSpPr txBox="1">
              <a:spLocks noChangeArrowheads="1"/>
            </p:cNvSpPr>
            <p:nvPr/>
          </p:nvSpPr>
          <p:spPr bwMode="auto">
            <a:xfrm>
              <a:off x="3690" y="241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a</a:t>
              </a:r>
              <a:endParaRPr lang="en-US" altLang="zh-CN" sz="2400"/>
            </a:p>
          </p:txBody>
        </p:sp>
        <p:sp>
          <p:nvSpPr>
            <p:cNvPr id="16450" name="Text Box 122"/>
            <p:cNvSpPr txBox="1">
              <a:spLocks noChangeArrowheads="1"/>
            </p:cNvSpPr>
            <p:nvPr/>
          </p:nvSpPr>
          <p:spPr bwMode="auto">
            <a:xfrm>
              <a:off x="5069" y="273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b</a:t>
              </a:r>
              <a:endParaRPr lang="en-US" altLang="zh-CN" sz="2400"/>
            </a:p>
          </p:txBody>
        </p:sp>
        <p:sp>
          <p:nvSpPr>
            <p:cNvPr id="16451" name="Text Box 123"/>
            <p:cNvSpPr txBox="1">
              <a:spLocks noChangeArrowheads="1"/>
            </p:cNvSpPr>
            <p:nvPr/>
          </p:nvSpPr>
          <p:spPr bwMode="auto">
            <a:xfrm>
              <a:off x="4855" y="237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d</a:t>
              </a:r>
              <a:endParaRPr lang="en-US" altLang="zh-CN" sz="2400"/>
            </a:p>
          </p:txBody>
        </p:sp>
        <p:sp>
          <p:nvSpPr>
            <p:cNvPr id="16452" name="Text Box 124"/>
            <p:cNvSpPr txBox="1">
              <a:spLocks noChangeArrowheads="1"/>
            </p:cNvSpPr>
            <p:nvPr/>
          </p:nvSpPr>
          <p:spPr bwMode="auto">
            <a:xfrm>
              <a:off x="5009" y="96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i="1">
                  <a:latin typeface="Dutch801 Rm BT" pitchFamily="18" charset="0"/>
                </a:rPr>
                <a:t> </a:t>
              </a:r>
              <a:r>
                <a:rPr lang="en-US" altLang="zh-CN" sz="2400" i="1"/>
                <a:t>b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3" name="Text Box 125"/>
            <p:cNvSpPr txBox="1">
              <a:spLocks noChangeArrowheads="1"/>
            </p:cNvSpPr>
            <p:nvPr/>
          </p:nvSpPr>
          <p:spPr bwMode="auto">
            <a:xfrm>
              <a:off x="3695" y="1581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a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4" name="Text Box 126"/>
            <p:cNvSpPr txBox="1">
              <a:spLocks noChangeArrowheads="1"/>
            </p:cNvSpPr>
            <p:nvPr/>
          </p:nvSpPr>
          <p:spPr bwMode="auto">
            <a:xfrm>
              <a:off x="3939" y="1151"/>
              <a:ext cx="2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c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5" name="Text Box 127"/>
            <p:cNvSpPr txBox="1">
              <a:spLocks noChangeArrowheads="1"/>
            </p:cNvSpPr>
            <p:nvPr/>
          </p:nvSpPr>
          <p:spPr bwMode="auto">
            <a:xfrm>
              <a:off x="4793" y="1508"/>
              <a:ext cx="3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d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  <p:sp>
          <p:nvSpPr>
            <p:cNvPr id="16456" name="Text Box 128"/>
            <p:cNvSpPr txBox="1">
              <a:spLocks noChangeArrowheads="1"/>
            </p:cNvSpPr>
            <p:nvPr/>
          </p:nvSpPr>
          <p:spPr bwMode="auto">
            <a:xfrm>
              <a:off x="4356" y="271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k</a:t>
              </a:r>
              <a:endParaRPr lang="en-US" altLang="zh-CN" sz="2400"/>
            </a:p>
          </p:txBody>
        </p:sp>
        <p:sp>
          <p:nvSpPr>
            <p:cNvPr id="16457" name="Text Box 129"/>
            <p:cNvSpPr txBox="1">
              <a:spLocks noChangeArrowheads="1"/>
            </p:cNvSpPr>
            <p:nvPr/>
          </p:nvSpPr>
          <p:spPr bwMode="auto">
            <a:xfrm>
              <a:off x="4328" y="1228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ym typeface="EuroRoman" pitchFamily="2" charset="2"/>
                </a:rPr>
                <a:t>k</a:t>
              </a:r>
              <a:r>
                <a:rPr lang="en-US" altLang="zh-CN" sz="2400">
                  <a:sym typeface="Symbol" pitchFamily="18" charset="2"/>
                </a:rPr>
                <a:t>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459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1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3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3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3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3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3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3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3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3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3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3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3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3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3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3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3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3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3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3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13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13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9" dur="500"/>
                                        <p:tgtEl>
                                          <p:spTgt spid="13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13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13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31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8" grpId="0"/>
      <p:bldP spid="131131" grpId="0" animBg="1"/>
      <p:bldP spid="131134" grpId="0" animBg="1"/>
      <p:bldP spid="131135" grpId="0" animBg="1"/>
      <p:bldP spid="131136" grpId="0" animBg="1"/>
      <p:bldP spid="131137" grpId="0" animBg="1"/>
      <p:bldP spid="131138" grpId="0" animBg="1"/>
      <p:bldP spid="131139" grpId="0" animBg="1"/>
      <p:bldP spid="131140" grpId="0" animBg="1"/>
      <p:bldP spid="131141" grpId="0" animBg="1"/>
      <p:bldP spid="131142" grpId="0" animBg="1"/>
      <p:bldP spid="131143" grpId="0" animBg="1"/>
      <p:bldP spid="131144" grpId="0" animBg="1"/>
      <p:bldP spid="131145" grpId="0" animBg="1"/>
      <p:bldP spid="131146" grpId="0" animBg="1"/>
      <p:bldP spid="131147" grpId="0" animBg="1"/>
      <p:bldP spid="131148" grpId="0" animBg="1"/>
      <p:bldP spid="131149" grpId="0" animBg="1"/>
      <p:bldP spid="131150" grpId="0" animBg="1"/>
      <p:bldP spid="131151" grpId="0" animBg="1"/>
      <p:bldP spid="131152" grpId="0" animBg="1"/>
      <p:bldP spid="131153" grpId="0" animBg="1"/>
      <p:bldP spid="131154" grpId="0" animBg="1"/>
      <p:bldP spid="131155" grpId="0" animBg="1"/>
      <p:bldP spid="131156" grpId="0" animBg="1"/>
      <p:bldP spid="131157" grpId="0" animBg="1"/>
      <p:bldP spid="131158" grpId="0" animBg="1"/>
      <p:bldP spid="131159" grpId="0" animBg="1"/>
      <p:bldP spid="131160" grpId="0"/>
      <p:bldP spid="131161" grpId="0"/>
      <p:bldP spid="131162" grpId="0"/>
      <p:bldP spid="131163" grpId="0"/>
      <p:bldP spid="131164" grpId="0"/>
      <p:bldP spid="131165" grpId="0"/>
      <p:bldP spid="131166" grpId="0"/>
      <p:bldP spid="131167" grpId="0"/>
      <p:bldP spid="131168" grpId="0"/>
      <p:bldP spid="131169" grpId="0"/>
      <p:bldP spid="131170" grpId="0"/>
      <p:bldP spid="131171" grpId="0"/>
      <p:bldP spid="131172" grpId="0"/>
      <p:bldP spid="131173" grpId="0"/>
      <p:bldP spid="131174" grpId="0"/>
      <p:bldP spid="131175" grpId="0"/>
      <p:bldP spid="131176" grpId="0"/>
      <p:bldP spid="131177" grpId="0"/>
      <p:bldP spid="131178" grpId="0"/>
      <p:bldP spid="13117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68350" y="782638"/>
            <a:ext cx="2141538" cy="1231900"/>
            <a:chOff x="584" y="1615"/>
            <a:chExt cx="1349" cy="776"/>
          </a:xfrm>
        </p:grpSpPr>
        <p:sp>
          <p:nvSpPr>
            <p:cNvPr id="17463" name="Line 3"/>
            <p:cNvSpPr>
              <a:spLocks noChangeShapeType="1"/>
            </p:cNvSpPr>
            <p:nvPr/>
          </p:nvSpPr>
          <p:spPr bwMode="auto">
            <a:xfrm flipV="1">
              <a:off x="840" y="1872"/>
              <a:ext cx="89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64" name="Line 4"/>
            <p:cNvSpPr>
              <a:spLocks noChangeShapeType="1"/>
            </p:cNvSpPr>
            <p:nvPr/>
          </p:nvSpPr>
          <p:spPr bwMode="auto">
            <a:xfrm>
              <a:off x="948" y="1848"/>
              <a:ext cx="624" cy="38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65" name="Text Box 5"/>
            <p:cNvSpPr txBox="1">
              <a:spLocks noChangeArrowheads="1"/>
            </p:cNvSpPr>
            <p:nvPr/>
          </p:nvSpPr>
          <p:spPr bwMode="auto">
            <a:xfrm>
              <a:off x="584" y="2141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6" name="Text Box 6"/>
            <p:cNvSpPr txBox="1">
              <a:spLocks noChangeArrowheads="1"/>
            </p:cNvSpPr>
            <p:nvPr/>
          </p:nvSpPr>
          <p:spPr bwMode="auto">
            <a:xfrm>
              <a:off x="1577" y="1643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7" name="Text Box 7"/>
            <p:cNvSpPr txBox="1">
              <a:spLocks noChangeArrowheads="1"/>
            </p:cNvSpPr>
            <p:nvPr/>
          </p:nvSpPr>
          <p:spPr bwMode="auto">
            <a:xfrm>
              <a:off x="785" y="1615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8" name="Text Box 8"/>
            <p:cNvSpPr txBox="1">
              <a:spLocks noChangeArrowheads="1"/>
            </p:cNvSpPr>
            <p:nvPr/>
          </p:nvSpPr>
          <p:spPr bwMode="auto">
            <a:xfrm>
              <a:off x="1487" y="2089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730750" y="801688"/>
            <a:ext cx="2141538" cy="1231900"/>
            <a:chOff x="3080" y="1627"/>
            <a:chExt cx="1349" cy="776"/>
          </a:xfrm>
        </p:grpSpPr>
        <p:sp>
          <p:nvSpPr>
            <p:cNvPr id="17457" name="Line 10"/>
            <p:cNvSpPr>
              <a:spLocks noChangeShapeType="1"/>
            </p:cNvSpPr>
            <p:nvPr/>
          </p:nvSpPr>
          <p:spPr bwMode="auto">
            <a:xfrm flipV="1">
              <a:off x="3336" y="1884"/>
              <a:ext cx="89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58" name="Line 11"/>
            <p:cNvSpPr>
              <a:spLocks noChangeShapeType="1"/>
            </p:cNvSpPr>
            <p:nvPr/>
          </p:nvSpPr>
          <p:spPr bwMode="auto">
            <a:xfrm>
              <a:off x="3444" y="1860"/>
              <a:ext cx="624" cy="38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59" name="Text Box 12"/>
            <p:cNvSpPr txBox="1">
              <a:spLocks noChangeArrowheads="1"/>
            </p:cNvSpPr>
            <p:nvPr/>
          </p:nvSpPr>
          <p:spPr bwMode="auto">
            <a:xfrm>
              <a:off x="3080" y="2153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0" name="Text Box 13"/>
            <p:cNvSpPr txBox="1">
              <a:spLocks noChangeArrowheads="1"/>
            </p:cNvSpPr>
            <p:nvPr/>
          </p:nvSpPr>
          <p:spPr bwMode="auto">
            <a:xfrm>
              <a:off x="4073" y="1655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1" name="Text Box 14"/>
            <p:cNvSpPr txBox="1">
              <a:spLocks noChangeArrowheads="1"/>
            </p:cNvSpPr>
            <p:nvPr/>
          </p:nvSpPr>
          <p:spPr bwMode="auto">
            <a:xfrm>
              <a:off x="3281" y="162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17462" name="Text Box 15"/>
            <p:cNvSpPr txBox="1">
              <a:spLocks noChangeArrowheads="1"/>
            </p:cNvSpPr>
            <p:nvPr/>
          </p:nvSpPr>
          <p:spPr bwMode="auto">
            <a:xfrm>
              <a:off x="3983" y="2101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>
                <a:latin typeface="ISOCPEUR" pitchFamily="34" charset="0"/>
              </a:endParaRP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03250" y="1863725"/>
            <a:ext cx="2598738" cy="458788"/>
            <a:chOff x="183" y="2563"/>
            <a:chExt cx="1637" cy="289"/>
          </a:xfrm>
        </p:grpSpPr>
        <p:sp>
          <p:nvSpPr>
            <p:cNvPr id="17454" name="Text Box 18"/>
            <p:cNvSpPr txBox="1">
              <a:spLocks noChangeArrowheads="1"/>
            </p:cNvSpPr>
            <p:nvPr/>
          </p:nvSpPr>
          <p:spPr bwMode="auto">
            <a:xfrm>
              <a:off x="183" y="25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7455" name="Text Box 19"/>
            <p:cNvSpPr txBox="1">
              <a:spLocks noChangeArrowheads="1"/>
            </p:cNvSpPr>
            <p:nvPr/>
          </p:nvSpPr>
          <p:spPr bwMode="auto">
            <a:xfrm>
              <a:off x="1524" y="256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7456" name="Line 20"/>
            <p:cNvSpPr>
              <a:spLocks noChangeShapeType="1"/>
            </p:cNvSpPr>
            <p:nvPr/>
          </p:nvSpPr>
          <p:spPr bwMode="auto">
            <a:xfrm>
              <a:off x="400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4527550" y="1863725"/>
            <a:ext cx="2598738" cy="458788"/>
            <a:chOff x="183" y="2563"/>
            <a:chExt cx="1637" cy="289"/>
          </a:xfrm>
        </p:grpSpPr>
        <p:sp>
          <p:nvSpPr>
            <p:cNvPr id="17451" name="Text Box 22"/>
            <p:cNvSpPr txBox="1">
              <a:spLocks noChangeArrowheads="1"/>
            </p:cNvSpPr>
            <p:nvPr/>
          </p:nvSpPr>
          <p:spPr bwMode="auto">
            <a:xfrm>
              <a:off x="183" y="256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7452" name="Text Box 23"/>
            <p:cNvSpPr txBox="1">
              <a:spLocks noChangeArrowheads="1"/>
            </p:cNvSpPr>
            <p:nvPr/>
          </p:nvSpPr>
          <p:spPr bwMode="auto">
            <a:xfrm>
              <a:off x="1524" y="2563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7453" name="Line 24"/>
            <p:cNvSpPr>
              <a:spLocks noChangeShapeType="1"/>
            </p:cNvSpPr>
            <p:nvPr/>
          </p:nvSpPr>
          <p:spPr bwMode="auto">
            <a:xfrm>
              <a:off x="400" y="2824"/>
              <a:ext cx="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6457" name="Line 25"/>
          <p:cNvSpPr>
            <a:spLocks noChangeShapeType="1"/>
          </p:cNvSpPr>
          <p:nvPr/>
        </p:nvSpPr>
        <p:spPr bwMode="auto">
          <a:xfrm>
            <a:off x="1169988" y="191611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58" name="Line 26"/>
          <p:cNvSpPr>
            <a:spLocks noChangeShapeType="1"/>
          </p:cNvSpPr>
          <p:nvPr/>
        </p:nvSpPr>
        <p:spPr bwMode="auto">
          <a:xfrm>
            <a:off x="2586038" y="1185863"/>
            <a:ext cx="0" cy="1187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59" name="Line 27"/>
          <p:cNvSpPr>
            <a:spLocks noChangeShapeType="1"/>
          </p:cNvSpPr>
          <p:nvPr/>
        </p:nvSpPr>
        <p:spPr bwMode="auto">
          <a:xfrm>
            <a:off x="1335088" y="1147763"/>
            <a:ext cx="0" cy="174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0" name="Line 28"/>
          <p:cNvSpPr>
            <a:spLocks noChangeShapeType="1"/>
          </p:cNvSpPr>
          <p:nvPr/>
        </p:nvSpPr>
        <p:spPr bwMode="auto">
          <a:xfrm>
            <a:off x="2325688" y="1751013"/>
            <a:ext cx="0" cy="142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1" name="Line 29"/>
          <p:cNvSpPr>
            <a:spLocks noChangeShapeType="1"/>
          </p:cNvSpPr>
          <p:nvPr/>
        </p:nvSpPr>
        <p:spPr bwMode="auto">
          <a:xfrm>
            <a:off x="1938338" y="1516063"/>
            <a:ext cx="0" cy="155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2" name="Line 30"/>
          <p:cNvSpPr>
            <a:spLocks noChangeShapeType="1"/>
          </p:cNvSpPr>
          <p:nvPr/>
        </p:nvSpPr>
        <p:spPr bwMode="auto">
          <a:xfrm flipV="1">
            <a:off x="1169988" y="2366963"/>
            <a:ext cx="1416050" cy="920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63" name="Line 31"/>
          <p:cNvSpPr>
            <a:spLocks noChangeShapeType="1"/>
          </p:cNvSpPr>
          <p:nvPr/>
        </p:nvSpPr>
        <p:spPr bwMode="auto">
          <a:xfrm>
            <a:off x="1335088" y="2894013"/>
            <a:ext cx="990600" cy="2921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64" name="Text Box 32"/>
          <p:cNvSpPr txBox="1">
            <a:spLocks noChangeArrowheads="1"/>
          </p:cNvSpPr>
          <p:nvPr/>
        </p:nvSpPr>
        <p:spPr bwMode="auto">
          <a:xfrm>
            <a:off x="931863" y="314960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46465" name="Text Box 33"/>
          <p:cNvSpPr txBox="1">
            <a:spLocks noChangeArrowheads="1"/>
          </p:cNvSpPr>
          <p:nvPr/>
        </p:nvSpPr>
        <p:spPr bwMode="auto">
          <a:xfrm>
            <a:off x="2541588" y="225425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46466" name="Text Box 34"/>
          <p:cNvSpPr txBox="1">
            <a:spLocks noChangeArrowheads="1"/>
          </p:cNvSpPr>
          <p:nvPr/>
        </p:nvSpPr>
        <p:spPr bwMode="auto">
          <a:xfrm>
            <a:off x="1292225" y="254000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46467" name="Text Box 35"/>
          <p:cNvSpPr txBox="1">
            <a:spLocks noChangeArrowheads="1"/>
          </p:cNvSpPr>
          <p:nvPr/>
        </p:nvSpPr>
        <p:spPr bwMode="auto">
          <a:xfrm>
            <a:off x="2138363" y="3035300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46468" name="Line 36"/>
          <p:cNvSpPr>
            <a:spLocks noChangeShapeType="1"/>
          </p:cNvSpPr>
          <p:nvPr/>
        </p:nvSpPr>
        <p:spPr bwMode="auto">
          <a:xfrm>
            <a:off x="5132388" y="193516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69" name="Line 37"/>
          <p:cNvSpPr>
            <a:spLocks noChangeShapeType="1"/>
          </p:cNvSpPr>
          <p:nvPr/>
        </p:nvSpPr>
        <p:spPr bwMode="auto">
          <a:xfrm>
            <a:off x="6548438" y="1204913"/>
            <a:ext cx="0" cy="168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0" name="Line 38"/>
          <p:cNvSpPr>
            <a:spLocks noChangeShapeType="1"/>
          </p:cNvSpPr>
          <p:nvPr/>
        </p:nvSpPr>
        <p:spPr bwMode="auto">
          <a:xfrm>
            <a:off x="5297488" y="1166813"/>
            <a:ext cx="0" cy="174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1" name="Line 39"/>
          <p:cNvSpPr>
            <a:spLocks noChangeShapeType="1"/>
          </p:cNvSpPr>
          <p:nvPr/>
        </p:nvSpPr>
        <p:spPr bwMode="auto">
          <a:xfrm>
            <a:off x="6288088" y="1770063"/>
            <a:ext cx="0" cy="1428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2" name="Line 40"/>
          <p:cNvSpPr>
            <a:spLocks noChangeShapeType="1"/>
          </p:cNvSpPr>
          <p:nvPr/>
        </p:nvSpPr>
        <p:spPr bwMode="auto">
          <a:xfrm>
            <a:off x="5900738" y="1535113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3" name="Line 41"/>
          <p:cNvSpPr>
            <a:spLocks noChangeShapeType="1"/>
          </p:cNvSpPr>
          <p:nvPr/>
        </p:nvSpPr>
        <p:spPr bwMode="auto">
          <a:xfrm>
            <a:off x="5307013" y="2894013"/>
            <a:ext cx="990600" cy="2921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474" name="Line 42"/>
          <p:cNvSpPr>
            <a:spLocks noChangeShapeType="1"/>
          </p:cNvSpPr>
          <p:nvPr/>
        </p:nvSpPr>
        <p:spPr bwMode="auto">
          <a:xfrm flipV="1">
            <a:off x="5132388" y="2881313"/>
            <a:ext cx="1419225" cy="419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6475" name="Text Box 43"/>
          <p:cNvSpPr txBox="1">
            <a:spLocks noChangeArrowheads="1"/>
          </p:cNvSpPr>
          <p:nvPr/>
        </p:nvSpPr>
        <p:spPr bwMode="auto">
          <a:xfrm>
            <a:off x="1081088" y="4119563"/>
            <a:ext cx="7694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不相交</a:t>
            </a:r>
          </a:p>
        </p:txBody>
      </p:sp>
      <p:sp>
        <p:nvSpPr>
          <p:cNvPr id="146476" name="Text Box 44"/>
          <p:cNvSpPr txBox="1">
            <a:spLocks noChangeArrowheads="1"/>
          </p:cNvSpPr>
          <p:nvPr/>
        </p:nvSpPr>
        <p:spPr bwMode="auto">
          <a:xfrm>
            <a:off x="5434013" y="4102100"/>
            <a:ext cx="341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相交</a:t>
            </a:r>
          </a:p>
        </p:txBody>
      </p:sp>
      <p:sp>
        <p:nvSpPr>
          <p:cNvPr id="146477" name="Text Box 45"/>
          <p:cNvSpPr txBox="1">
            <a:spLocks noChangeArrowheads="1"/>
          </p:cNvSpPr>
          <p:nvPr/>
        </p:nvSpPr>
        <p:spPr bwMode="auto">
          <a:xfrm>
            <a:off x="5580063" y="1073150"/>
            <a:ext cx="706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46478" name="Text Box 46"/>
          <p:cNvSpPr txBox="1">
            <a:spLocks noChangeArrowheads="1"/>
          </p:cNvSpPr>
          <p:nvPr/>
        </p:nvSpPr>
        <p:spPr bwMode="auto">
          <a:xfrm>
            <a:off x="5749925" y="3073400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endParaRPr lang="en-US" altLang="zh-CN" sz="2000">
              <a:latin typeface="ISOCPEUR" pitchFamily="34" charset="0"/>
            </a:endParaRPr>
          </a:p>
        </p:txBody>
      </p:sp>
      <p:sp>
        <p:nvSpPr>
          <p:cNvPr id="146479" name="Text Box 47"/>
          <p:cNvSpPr txBox="1">
            <a:spLocks noChangeArrowheads="1"/>
          </p:cNvSpPr>
          <p:nvPr/>
        </p:nvSpPr>
        <p:spPr bwMode="auto">
          <a:xfrm>
            <a:off x="4884738" y="3149600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146480" name="Text Box 48"/>
          <p:cNvSpPr txBox="1">
            <a:spLocks noChangeArrowheads="1"/>
          </p:cNvSpPr>
          <p:nvPr/>
        </p:nvSpPr>
        <p:spPr bwMode="auto">
          <a:xfrm>
            <a:off x="6523038" y="2625725"/>
            <a:ext cx="303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b</a:t>
            </a:r>
          </a:p>
        </p:txBody>
      </p:sp>
      <p:sp>
        <p:nvSpPr>
          <p:cNvPr id="146481" name="Text Box 49"/>
          <p:cNvSpPr txBox="1">
            <a:spLocks noChangeArrowheads="1"/>
          </p:cNvSpPr>
          <p:nvPr/>
        </p:nvSpPr>
        <p:spPr bwMode="auto">
          <a:xfrm>
            <a:off x="5245100" y="2540000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46482" name="Text Box 50"/>
          <p:cNvSpPr txBox="1">
            <a:spLocks noChangeArrowheads="1"/>
          </p:cNvSpPr>
          <p:nvPr/>
        </p:nvSpPr>
        <p:spPr bwMode="auto">
          <a:xfrm>
            <a:off x="6091238" y="3035300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d</a:t>
            </a:r>
          </a:p>
        </p:txBody>
      </p:sp>
      <p:sp>
        <p:nvSpPr>
          <p:cNvPr id="146483" name="Text Box 51"/>
          <p:cNvSpPr txBox="1">
            <a:spLocks noChangeArrowheads="1"/>
          </p:cNvSpPr>
          <p:nvPr/>
        </p:nvSpPr>
        <p:spPr bwMode="auto">
          <a:xfrm>
            <a:off x="1674813" y="1111250"/>
            <a:ext cx="592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000">
              <a:latin typeface="ISOCPEUR" pitchFamily="34" charset="0"/>
            </a:endParaRPr>
          </a:p>
        </p:txBody>
      </p:sp>
      <p:sp>
        <p:nvSpPr>
          <p:cNvPr id="146484" name="Text Box 52"/>
          <p:cNvSpPr txBox="1">
            <a:spLocks noChangeArrowheads="1"/>
          </p:cNvSpPr>
          <p:nvPr/>
        </p:nvSpPr>
        <p:spPr bwMode="auto">
          <a:xfrm>
            <a:off x="1423988" y="2406650"/>
            <a:ext cx="627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 baseline="-25000">
                <a:latin typeface="ISOCPEUR" pitchFamily="34" charset="0"/>
              </a:rPr>
              <a:t>1</a:t>
            </a:r>
            <a:endParaRPr lang="en-US" altLang="zh-CN" sz="2000" i="1">
              <a:latin typeface="ISOCPEUR" pitchFamily="34" charset="0"/>
            </a:endParaRPr>
          </a:p>
        </p:txBody>
      </p:sp>
      <p:sp>
        <p:nvSpPr>
          <p:cNvPr id="146485" name="Text Box 53"/>
          <p:cNvSpPr txBox="1">
            <a:spLocks noChangeArrowheads="1"/>
          </p:cNvSpPr>
          <p:nvPr/>
        </p:nvSpPr>
        <p:spPr bwMode="auto">
          <a:xfrm>
            <a:off x="1381125" y="2987675"/>
            <a:ext cx="779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 baseline="-25000">
                <a:latin typeface="ISOCPEUR" pitchFamily="34" charset="0"/>
              </a:rPr>
              <a:t>2</a:t>
            </a:r>
            <a:endParaRPr lang="en-US" altLang="zh-CN" sz="2000" i="1">
              <a:latin typeface="ISOCPEUR" pitchFamily="34" charset="0"/>
            </a:endParaRPr>
          </a:p>
        </p:txBody>
      </p:sp>
      <p:sp>
        <p:nvSpPr>
          <p:cNvPr id="146486" name="AutoShape 54"/>
          <p:cNvSpPr>
            <a:spLocks noChangeArrowheads="1"/>
          </p:cNvSpPr>
          <p:nvPr/>
        </p:nvSpPr>
        <p:spPr bwMode="auto">
          <a:xfrm>
            <a:off x="5865813" y="14906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87" name="AutoShape 55"/>
          <p:cNvSpPr>
            <a:spLocks noChangeArrowheads="1"/>
          </p:cNvSpPr>
          <p:nvPr/>
        </p:nvSpPr>
        <p:spPr bwMode="auto">
          <a:xfrm>
            <a:off x="5865813" y="30337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88" name="AutoShape 56"/>
          <p:cNvSpPr>
            <a:spLocks noChangeArrowheads="1"/>
          </p:cNvSpPr>
          <p:nvPr/>
        </p:nvSpPr>
        <p:spPr bwMode="auto">
          <a:xfrm>
            <a:off x="1893888" y="149066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89" name="AutoShape 57"/>
          <p:cNvSpPr>
            <a:spLocks noChangeArrowheads="1"/>
          </p:cNvSpPr>
          <p:nvPr/>
        </p:nvSpPr>
        <p:spPr bwMode="auto">
          <a:xfrm>
            <a:off x="1903413" y="2757488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90" name="AutoShape 58"/>
          <p:cNvSpPr>
            <a:spLocks noChangeArrowheads="1"/>
          </p:cNvSpPr>
          <p:nvPr/>
        </p:nvSpPr>
        <p:spPr bwMode="auto">
          <a:xfrm>
            <a:off x="1903413" y="3033713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46491" name="Text Box 59"/>
          <p:cNvSpPr txBox="1">
            <a:spLocks noChangeArrowheads="1"/>
          </p:cNvSpPr>
          <p:nvPr/>
        </p:nvSpPr>
        <p:spPr bwMode="auto">
          <a:xfrm>
            <a:off x="336550" y="4840288"/>
            <a:ext cx="379571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两同名投影交点不符合一点的投影规律。</a:t>
            </a:r>
          </a:p>
        </p:txBody>
      </p:sp>
      <p:sp>
        <p:nvSpPr>
          <p:cNvPr id="146492" name="Text Box 60"/>
          <p:cNvSpPr txBox="1">
            <a:spLocks noChangeArrowheads="1"/>
          </p:cNvSpPr>
          <p:nvPr/>
        </p:nvSpPr>
        <p:spPr bwMode="auto">
          <a:xfrm>
            <a:off x="4398963" y="4846638"/>
            <a:ext cx="379571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两同名投影交点符合一点的投影规律。</a:t>
            </a:r>
          </a:p>
        </p:txBody>
      </p:sp>
    </p:spTree>
    <p:extLst>
      <p:ext uri="{BB962C8B-B14F-4D97-AF65-F5344CB8AC3E}">
        <p14:creationId xmlns:p14="http://schemas.microsoft.com/office/powerpoint/2010/main" val="60449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6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4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4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4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4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4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4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4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4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4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4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4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4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4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4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46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57" grpId="0" animBg="1"/>
      <p:bldP spid="146458" grpId="0" animBg="1"/>
      <p:bldP spid="146459" grpId="0" animBg="1"/>
      <p:bldP spid="146460" grpId="0" animBg="1"/>
      <p:bldP spid="146461" grpId="0" animBg="1"/>
      <p:bldP spid="146462" grpId="0" animBg="1"/>
      <p:bldP spid="146463" grpId="0" animBg="1"/>
      <p:bldP spid="146464" grpId="0" autoUpdateAnimBg="0"/>
      <p:bldP spid="146465" grpId="0" autoUpdateAnimBg="0"/>
      <p:bldP spid="146466" grpId="0" autoUpdateAnimBg="0"/>
      <p:bldP spid="146467" grpId="0" autoUpdateAnimBg="0"/>
      <p:bldP spid="146468" grpId="0" animBg="1"/>
      <p:bldP spid="146469" grpId="0" animBg="1"/>
      <p:bldP spid="146470" grpId="0" animBg="1"/>
      <p:bldP spid="146471" grpId="0" animBg="1"/>
      <p:bldP spid="146472" grpId="0" animBg="1"/>
      <p:bldP spid="146473" grpId="0" animBg="1"/>
      <p:bldP spid="146474" grpId="0" animBg="1"/>
      <p:bldP spid="146475" grpId="0"/>
      <p:bldP spid="146476" grpId="0"/>
      <p:bldP spid="146477" grpId="0" autoUpdateAnimBg="0"/>
      <p:bldP spid="146478" grpId="0" autoUpdateAnimBg="0"/>
      <p:bldP spid="146479" grpId="0" autoUpdateAnimBg="0"/>
      <p:bldP spid="146480" grpId="0" autoUpdateAnimBg="0"/>
      <p:bldP spid="146481" grpId="0" autoUpdateAnimBg="0"/>
      <p:bldP spid="146482" grpId="0" autoUpdateAnimBg="0"/>
      <p:bldP spid="146483" grpId="0" autoUpdateAnimBg="0"/>
      <p:bldP spid="146484" grpId="0" autoUpdateAnimBg="0"/>
      <p:bldP spid="146485" grpId="0" autoUpdateAnimBg="0"/>
      <p:bldP spid="146486" grpId="0" animBg="1"/>
      <p:bldP spid="146487" grpId="0" animBg="1"/>
      <p:bldP spid="146488" grpId="0" animBg="1"/>
      <p:bldP spid="146489" grpId="0" animBg="1"/>
      <p:bldP spid="146490" grpId="0" animBg="1"/>
      <p:bldP spid="146491" grpId="0"/>
      <p:bldP spid="14649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58"/>
          <p:cNvSpPr txBox="1">
            <a:spLocks noChangeArrowheads="1"/>
          </p:cNvSpPr>
          <p:nvPr/>
        </p:nvSpPr>
        <p:spPr bwMode="auto">
          <a:xfrm>
            <a:off x="620713" y="214313"/>
            <a:ext cx="6307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例：判断直线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AB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CD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的相对位置。</a:t>
            </a:r>
          </a:p>
        </p:txBody>
      </p:sp>
      <p:grpSp>
        <p:nvGrpSpPr>
          <p:cNvPr id="18436" name="Group 59"/>
          <p:cNvGrpSpPr>
            <a:grpSpLocks/>
          </p:cNvGrpSpPr>
          <p:nvPr/>
        </p:nvGrpSpPr>
        <p:grpSpPr bwMode="auto">
          <a:xfrm>
            <a:off x="1200150" y="1104900"/>
            <a:ext cx="4076700" cy="4610100"/>
            <a:chOff x="756" y="696"/>
            <a:chExt cx="2568" cy="2904"/>
          </a:xfrm>
        </p:grpSpPr>
        <p:sp>
          <p:nvSpPr>
            <p:cNvPr id="18444" name="Text Box 60"/>
            <p:cNvSpPr txBox="1">
              <a:spLocks noChangeArrowheads="1"/>
            </p:cNvSpPr>
            <p:nvPr/>
          </p:nvSpPr>
          <p:spPr bwMode="auto">
            <a:xfrm>
              <a:off x="1593" y="1819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′</a:t>
              </a:r>
            </a:p>
          </p:txBody>
        </p:sp>
        <p:sp>
          <p:nvSpPr>
            <p:cNvPr id="18445" name="Line 61"/>
            <p:cNvSpPr>
              <a:spLocks noChangeShapeType="1"/>
            </p:cNvSpPr>
            <p:nvPr/>
          </p:nvSpPr>
          <p:spPr bwMode="auto">
            <a:xfrm>
              <a:off x="756" y="2388"/>
              <a:ext cx="25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6" name="Line 62"/>
            <p:cNvSpPr>
              <a:spLocks noChangeShapeType="1"/>
            </p:cNvSpPr>
            <p:nvPr/>
          </p:nvSpPr>
          <p:spPr bwMode="auto">
            <a:xfrm>
              <a:off x="1536" y="900"/>
              <a:ext cx="0" cy="1032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7" name="Line 63"/>
            <p:cNvSpPr>
              <a:spLocks noChangeShapeType="1"/>
            </p:cNvSpPr>
            <p:nvPr/>
          </p:nvSpPr>
          <p:spPr bwMode="auto">
            <a:xfrm>
              <a:off x="1536" y="1932"/>
              <a:ext cx="0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8" name="Line 64"/>
            <p:cNvSpPr>
              <a:spLocks noChangeShapeType="1"/>
            </p:cNvSpPr>
            <p:nvPr/>
          </p:nvSpPr>
          <p:spPr bwMode="auto">
            <a:xfrm>
              <a:off x="1536" y="2652"/>
              <a:ext cx="0" cy="816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9" name="Line 65"/>
            <p:cNvSpPr>
              <a:spLocks noChangeShapeType="1"/>
            </p:cNvSpPr>
            <p:nvPr/>
          </p:nvSpPr>
          <p:spPr bwMode="auto">
            <a:xfrm flipV="1">
              <a:off x="1104" y="1128"/>
              <a:ext cx="876" cy="6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0" name="Line 66"/>
            <p:cNvSpPr>
              <a:spLocks noChangeShapeType="1"/>
            </p:cNvSpPr>
            <p:nvPr/>
          </p:nvSpPr>
          <p:spPr bwMode="auto">
            <a:xfrm>
              <a:off x="1104" y="2652"/>
              <a:ext cx="876" cy="50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1" name="Line 67"/>
            <p:cNvSpPr>
              <a:spLocks noChangeShapeType="1"/>
            </p:cNvSpPr>
            <p:nvPr/>
          </p:nvSpPr>
          <p:spPr bwMode="auto">
            <a:xfrm flipV="1">
              <a:off x="1104" y="1740"/>
              <a:ext cx="0" cy="9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2" name="Line 68"/>
            <p:cNvSpPr>
              <a:spLocks noChangeShapeType="1"/>
            </p:cNvSpPr>
            <p:nvPr/>
          </p:nvSpPr>
          <p:spPr bwMode="auto">
            <a:xfrm flipV="1">
              <a:off x="1980" y="1128"/>
              <a:ext cx="0" cy="20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3" name="Text Box 69"/>
            <p:cNvSpPr txBox="1">
              <a:spLocks noChangeArrowheads="1"/>
            </p:cNvSpPr>
            <p:nvPr/>
          </p:nvSpPr>
          <p:spPr bwMode="auto">
            <a:xfrm>
              <a:off x="1510" y="69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c</a:t>
              </a:r>
              <a:endParaRPr lang="en-US" altLang="zh-CN" sz="2400"/>
            </a:p>
          </p:txBody>
        </p:sp>
        <p:sp>
          <p:nvSpPr>
            <p:cNvPr id="18454" name="Text Box 70"/>
            <p:cNvSpPr txBox="1">
              <a:spLocks noChangeArrowheads="1"/>
            </p:cNvSpPr>
            <p:nvPr/>
          </p:nvSpPr>
          <p:spPr bwMode="auto">
            <a:xfrm>
              <a:off x="1593" y="696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′</a:t>
              </a:r>
            </a:p>
          </p:txBody>
        </p:sp>
        <p:sp>
          <p:nvSpPr>
            <p:cNvPr id="18455" name="Text Box 71"/>
            <p:cNvSpPr txBox="1">
              <a:spLocks noChangeArrowheads="1"/>
            </p:cNvSpPr>
            <p:nvPr/>
          </p:nvSpPr>
          <p:spPr bwMode="auto">
            <a:xfrm>
              <a:off x="888" y="1624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′</a:t>
              </a:r>
            </a:p>
          </p:txBody>
        </p:sp>
        <p:sp>
          <p:nvSpPr>
            <p:cNvPr id="18456" name="Text Box 72"/>
            <p:cNvSpPr txBox="1">
              <a:spLocks noChangeArrowheads="1"/>
            </p:cNvSpPr>
            <p:nvPr/>
          </p:nvSpPr>
          <p:spPr bwMode="auto">
            <a:xfrm>
              <a:off x="781" y="16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a</a:t>
              </a:r>
              <a:endParaRPr lang="en-US" altLang="zh-CN" sz="2400"/>
            </a:p>
          </p:txBody>
        </p:sp>
        <p:grpSp>
          <p:nvGrpSpPr>
            <p:cNvPr id="18457" name="Group 73"/>
            <p:cNvGrpSpPr>
              <a:grpSpLocks/>
            </p:cNvGrpSpPr>
            <p:nvPr/>
          </p:nvGrpSpPr>
          <p:grpSpPr bwMode="auto">
            <a:xfrm>
              <a:off x="1959" y="912"/>
              <a:ext cx="369" cy="312"/>
              <a:chOff x="1947" y="936"/>
              <a:chExt cx="369" cy="312"/>
            </a:xfrm>
          </p:grpSpPr>
          <p:sp>
            <p:nvSpPr>
              <p:cNvPr id="18463" name="Text Box 74"/>
              <p:cNvSpPr txBox="1">
                <a:spLocks noChangeArrowheads="1"/>
              </p:cNvSpPr>
              <p:nvPr/>
            </p:nvSpPr>
            <p:spPr bwMode="auto">
              <a:xfrm>
                <a:off x="2006" y="936"/>
                <a:ext cx="31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′</a:t>
                </a:r>
              </a:p>
            </p:txBody>
          </p:sp>
          <p:sp>
            <p:nvSpPr>
              <p:cNvPr id="18464" name="Text Box 75"/>
              <p:cNvSpPr txBox="1">
                <a:spLocks noChangeArrowheads="1"/>
              </p:cNvSpPr>
              <p:nvPr/>
            </p:nvSpPr>
            <p:spPr bwMode="auto">
              <a:xfrm>
                <a:off x="1947" y="96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/>
                  <a:t>b</a:t>
                </a:r>
                <a:endParaRPr lang="en-US" altLang="zh-CN" sz="2400"/>
              </a:p>
            </p:txBody>
          </p:sp>
        </p:grpSp>
        <p:sp>
          <p:nvSpPr>
            <p:cNvPr id="18458" name="Text Box 76"/>
            <p:cNvSpPr txBox="1">
              <a:spLocks noChangeArrowheads="1"/>
            </p:cNvSpPr>
            <p:nvPr/>
          </p:nvSpPr>
          <p:spPr bwMode="auto">
            <a:xfrm>
              <a:off x="1504" y="181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d</a:t>
              </a:r>
              <a:endParaRPr lang="en-US" altLang="zh-CN" sz="2400"/>
            </a:p>
          </p:txBody>
        </p:sp>
        <p:sp>
          <p:nvSpPr>
            <p:cNvPr id="18459" name="Text Box 77"/>
            <p:cNvSpPr txBox="1">
              <a:spLocks noChangeArrowheads="1"/>
            </p:cNvSpPr>
            <p:nvPr/>
          </p:nvSpPr>
          <p:spPr bwMode="auto">
            <a:xfrm>
              <a:off x="907" y="25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a</a:t>
              </a:r>
              <a:endParaRPr lang="en-US" altLang="zh-CN" sz="2800"/>
            </a:p>
          </p:txBody>
        </p:sp>
        <p:sp>
          <p:nvSpPr>
            <p:cNvPr id="18460" name="Text Box 78"/>
            <p:cNvSpPr txBox="1">
              <a:spLocks noChangeArrowheads="1"/>
            </p:cNvSpPr>
            <p:nvPr/>
          </p:nvSpPr>
          <p:spPr bwMode="auto">
            <a:xfrm>
              <a:off x="1960" y="303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b</a:t>
              </a:r>
              <a:endParaRPr lang="en-US" altLang="zh-CN" sz="2800"/>
            </a:p>
          </p:txBody>
        </p:sp>
        <p:sp>
          <p:nvSpPr>
            <p:cNvPr id="18461" name="Text Box 79"/>
            <p:cNvSpPr txBox="1">
              <a:spLocks noChangeArrowheads="1"/>
            </p:cNvSpPr>
            <p:nvPr/>
          </p:nvSpPr>
          <p:spPr bwMode="auto">
            <a:xfrm>
              <a:off x="1510" y="3312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c</a:t>
              </a:r>
            </a:p>
          </p:txBody>
        </p:sp>
        <p:sp>
          <p:nvSpPr>
            <p:cNvPr id="18462" name="Text Box 80"/>
            <p:cNvSpPr txBox="1">
              <a:spLocks noChangeArrowheads="1"/>
            </p:cNvSpPr>
            <p:nvPr/>
          </p:nvSpPr>
          <p:spPr bwMode="auto">
            <a:xfrm>
              <a:off x="1534" y="247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d</a:t>
              </a:r>
            </a:p>
          </p:txBody>
        </p:sp>
      </p:grpSp>
      <p:sp>
        <p:nvSpPr>
          <p:cNvPr id="147537" name="Text Box 81"/>
          <p:cNvSpPr txBox="1">
            <a:spLocks noChangeArrowheads="1"/>
          </p:cNvSpPr>
          <p:nvPr/>
        </p:nvSpPr>
        <p:spPr bwMode="auto">
          <a:xfrm>
            <a:off x="6092825" y="9255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相交吗？</a:t>
            </a:r>
          </a:p>
        </p:txBody>
      </p:sp>
      <p:sp>
        <p:nvSpPr>
          <p:cNvPr id="147538" name="Text Box 82"/>
          <p:cNvSpPr txBox="1">
            <a:spLocks noChangeArrowheads="1"/>
          </p:cNvSpPr>
          <p:nvPr/>
        </p:nvSpPr>
        <p:spPr bwMode="auto">
          <a:xfrm>
            <a:off x="6092825" y="15224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不相交！</a:t>
            </a:r>
          </a:p>
        </p:txBody>
      </p:sp>
      <p:sp>
        <p:nvSpPr>
          <p:cNvPr id="147539" name="Text Box 83"/>
          <p:cNvSpPr txBox="1">
            <a:spLocks noChangeArrowheads="1"/>
          </p:cNvSpPr>
          <p:nvPr/>
        </p:nvSpPr>
        <p:spPr bwMode="auto">
          <a:xfrm>
            <a:off x="5772150" y="2122488"/>
            <a:ext cx="233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为什么？</a:t>
            </a:r>
          </a:p>
        </p:txBody>
      </p:sp>
      <p:sp>
        <p:nvSpPr>
          <p:cNvPr id="147540" name="Text Box 84"/>
          <p:cNvSpPr txBox="1">
            <a:spLocks noChangeArrowheads="1"/>
          </p:cNvSpPr>
          <p:nvPr/>
        </p:nvSpPr>
        <p:spPr bwMode="auto">
          <a:xfrm>
            <a:off x="5295900" y="2778125"/>
            <a:ext cx="34877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FF3300"/>
                </a:solidFill>
                <a:latin typeface="宋体" charset="-122"/>
              </a:rPr>
              <a:t>   </a:t>
            </a:r>
            <a:r>
              <a:rPr lang="zh-CN" altLang="en-US" sz="2800">
                <a:solidFill>
                  <a:srgbClr val="FF3300"/>
                </a:solidFill>
                <a:ea typeface="黑体" pitchFamily="2" charset="-122"/>
              </a:rPr>
              <a:t>交点不符合空间一个点的投影特性。</a:t>
            </a:r>
          </a:p>
        </p:txBody>
      </p:sp>
      <p:sp>
        <p:nvSpPr>
          <p:cNvPr id="147541" name="Text Box 85"/>
          <p:cNvSpPr txBox="1">
            <a:spLocks noChangeArrowheads="1"/>
          </p:cNvSpPr>
          <p:nvPr/>
        </p:nvSpPr>
        <p:spPr bwMode="auto">
          <a:xfrm>
            <a:off x="5713413" y="4324350"/>
            <a:ext cx="2543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判断方法？</a:t>
            </a:r>
          </a:p>
        </p:txBody>
      </p:sp>
      <p:sp>
        <p:nvSpPr>
          <p:cNvPr id="147542" name="Text Box 86"/>
          <p:cNvSpPr txBox="1">
            <a:spLocks noChangeArrowheads="1"/>
          </p:cNvSpPr>
          <p:nvPr/>
        </p:nvSpPr>
        <p:spPr bwMode="auto">
          <a:xfrm>
            <a:off x="5464175" y="4940300"/>
            <a:ext cx="308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⒈ 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应用定比定理</a:t>
            </a:r>
          </a:p>
        </p:txBody>
      </p:sp>
      <p:sp>
        <p:nvSpPr>
          <p:cNvPr id="147543" name="Text Box 87"/>
          <p:cNvSpPr txBox="1">
            <a:spLocks noChangeArrowheads="1"/>
          </p:cNvSpPr>
          <p:nvPr/>
        </p:nvSpPr>
        <p:spPr bwMode="auto">
          <a:xfrm>
            <a:off x="5465763" y="5546725"/>
            <a:ext cx="2960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 sz="280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利用侧面投影</a:t>
            </a:r>
          </a:p>
        </p:txBody>
      </p:sp>
    </p:spTree>
    <p:extLst>
      <p:ext uri="{BB962C8B-B14F-4D97-AF65-F5344CB8AC3E}">
        <p14:creationId xmlns:p14="http://schemas.microsoft.com/office/powerpoint/2010/main" val="242494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47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47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7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7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147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147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7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7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47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47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7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7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37" grpId="0" autoUpdateAnimBg="0"/>
      <p:bldP spid="147538" grpId="0" autoUpdateAnimBg="0"/>
      <p:bldP spid="147539" grpId="0" autoUpdateAnimBg="0"/>
      <p:bldP spid="147540" grpId="0" autoUpdateAnimBg="0"/>
      <p:bldP spid="147541" grpId="0" autoUpdateAnimBg="0"/>
      <p:bldP spid="147542" grpId="0" autoUpdateAnimBg="0"/>
      <p:bldP spid="147543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19" name="Text Box 23"/>
          <p:cNvSpPr txBox="1">
            <a:spLocks noChangeArrowheads="1"/>
          </p:cNvSpPr>
          <p:nvPr/>
        </p:nvSpPr>
        <p:spPr bwMode="auto">
          <a:xfrm>
            <a:off x="319088" y="196850"/>
            <a:ext cx="25955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交叉</a:t>
            </a:r>
          </a:p>
        </p:txBody>
      </p:sp>
      <p:grpSp>
        <p:nvGrpSpPr>
          <p:cNvPr id="19460" name="Group 46"/>
          <p:cNvGrpSpPr>
            <a:grpSpLocks/>
          </p:cNvGrpSpPr>
          <p:nvPr/>
        </p:nvGrpSpPr>
        <p:grpSpPr bwMode="auto">
          <a:xfrm>
            <a:off x="1346200" y="1166813"/>
            <a:ext cx="3421063" cy="3036887"/>
            <a:chOff x="862" y="423"/>
            <a:chExt cx="2155" cy="1913"/>
          </a:xfrm>
        </p:grpSpPr>
        <p:sp>
          <p:nvSpPr>
            <p:cNvPr id="19548" name="AutoShape 47"/>
            <p:cNvSpPr>
              <a:spLocks noChangeArrowheads="1"/>
            </p:cNvSpPr>
            <p:nvPr/>
          </p:nvSpPr>
          <p:spPr bwMode="auto">
            <a:xfrm flipH="1">
              <a:off x="862" y="1553"/>
              <a:ext cx="2155" cy="783"/>
            </a:xfrm>
            <a:prstGeom prst="parallelogram">
              <a:avLst>
                <a:gd name="adj" fmla="val 9974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9549" name="Rectangle 48"/>
            <p:cNvSpPr>
              <a:spLocks noChangeArrowheads="1"/>
            </p:cNvSpPr>
            <p:nvPr/>
          </p:nvSpPr>
          <p:spPr bwMode="auto">
            <a:xfrm>
              <a:off x="863" y="477"/>
              <a:ext cx="1377" cy="10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9550" name="Line 49"/>
            <p:cNvSpPr>
              <a:spLocks noChangeShapeType="1"/>
            </p:cNvSpPr>
            <p:nvPr/>
          </p:nvSpPr>
          <p:spPr bwMode="auto">
            <a:xfrm>
              <a:off x="2400" y="1302"/>
              <a:ext cx="0" cy="5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1" name="Line 50"/>
            <p:cNvSpPr>
              <a:spLocks noChangeShapeType="1"/>
            </p:cNvSpPr>
            <p:nvPr/>
          </p:nvSpPr>
          <p:spPr bwMode="auto">
            <a:xfrm>
              <a:off x="2107" y="1009"/>
              <a:ext cx="298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2" name="Line 51"/>
            <p:cNvSpPr>
              <a:spLocks noChangeShapeType="1"/>
            </p:cNvSpPr>
            <p:nvPr/>
          </p:nvSpPr>
          <p:spPr bwMode="auto">
            <a:xfrm>
              <a:off x="2505" y="1105"/>
              <a:ext cx="0" cy="6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3" name="Line 52"/>
            <p:cNvSpPr>
              <a:spLocks noChangeShapeType="1"/>
            </p:cNvSpPr>
            <p:nvPr/>
          </p:nvSpPr>
          <p:spPr bwMode="auto">
            <a:xfrm>
              <a:off x="2505" y="1917"/>
              <a:ext cx="0" cy="1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4" name="Line 53"/>
            <p:cNvSpPr>
              <a:spLocks noChangeShapeType="1"/>
            </p:cNvSpPr>
            <p:nvPr/>
          </p:nvSpPr>
          <p:spPr bwMode="auto">
            <a:xfrm>
              <a:off x="2006" y="601"/>
              <a:ext cx="504" cy="5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5" name="Line 54"/>
            <p:cNvSpPr>
              <a:spLocks noChangeShapeType="1"/>
            </p:cNvSpPr>
            <p:nvPr/>
          </p:nvSpPr>
          <p:spPr bwMode="auto">
            <a:xfrm>
              <a:off x="1051" y="1187"/>
              <a:ext cx="130" cy="1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6" name="Line 55"/>
            <p:cNvSpPr>
              <a:spLocks noChangeShapeType="1"/>
            </p:cNvSpPr>
            <p:nvPr/>
          </p:nvSpPr>
          <p:spPr bwMode="auto">
            <a:xfrm>
              <a:off x="1181" y="1672"/>
              <a:ext cx="1324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7" name="Line 56"/>
            <p:cNvSpPr>
              <a:spLocks noChangeShapeType="1"/>
            </p:cNvSpPr>
            <p:nvPr/>
          </p:nvSpPr>
          <p:spPr bwMode="auto">
            <a:xfrm>
              <a:off x="1118" y="904"/>
              <a:ext cx="989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8" name="Line 57"/>
            <p:cNvSpPr>
              <a:spLocks noChangeShapeType="1"/>
            </p:cNvSpPr>
            <p:nvPr/>
          </p:nvSpPr>
          <p:spPr bwMode="auto">
            <a:xfrm flipV="1">
              <a:off x="1603" y="1845"/>
              <a:ext cx="797" cy="18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59" name="Line 58"/>
            <p:cNvSpPr>
              <a:spLocks noChangeShapeType="1"/>
            </p:cNvSpPr>
            <p:nvPr/>
          </p:nvSpPr>
          <p:spPr bwMode="auto">
            <a:xfrm flipV="1">
              <a:off x="1598" y="1307"/>
              <a:ext cx="807" cy="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0" name="Line 59"/>
            <p:cNvSpPr>
              <a:spLocks noChangeShapeType="1"/>
            </p:cNvSpPr>
            <p:nvPr/>
          </p:nvSpPr>
          <p:spPr bwMode="auto">
            <a:xfrm flipV="1">
              <a:off x="1185" y="1096"/>
              <a:ext cx="1325" cy="2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1" name="Line 60"/>
            <p:cNvSpPr>
              <a:spLocks noChangeShapeType="1"/>
            </p:cNvSpPr>
            <p:nvPr/>
          </p:nvSpPr>
          <p:spPr bwMode="auto">
            <a:xfrm flipV="1">
              <a:off x="1056" y="601"/>
              <a:ext cx="960" cy="5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2" name="Line 61"/>
            <p:cNvSpPr>
              <a:spLocks noChangeShapeType="1"/>
            </p:cNvSpPr>
            <p:nvPr/>
          </p:nvSpPr>
          <p:spPr bwMode="auto">
            <a:xfrm>
              <a:off x="1123" y="904"/>
              <a:ext cx="470" cy="4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3" name="Line 62"/>
            <p:cNvSpPr>
              <a:spLocks noChangeShapeType="1"/>
            </p:cNvSpPr>
            <p:nvPr/>
          </p:nvSpPr>
          <p:spPr bwMode="auto">
            <a:xfrm>
              <a:off x="1603" y="1384"/>
              <a:ext cx="0" cy="6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4" name="Line 63"/>
            <p:cNvSpPr>
              <a:spLocks noChangeShapeType="1"/>
            </p:cNvSpPr>
            <p:nvPr/>
          </p:nvSpPr>
          <p:spPr bwMode="auto">
            <a:xfrm>
              <a:off x="1185" y="1311"/>
              <a:ext cx="0" cy="3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65" name="Rectangle 64"/>
            <p:cNvSpPr>
              <a:spLocks noChangeArrowheads="1"/>
            </p:cNvSpPr>
            <p:nvPr/>
          </p:nvSpPr>
          <p:spPr bwMode="auto">
            <a:xfrm>
              <a:off x="1092" y="1556"/>
              <a:ext cx="4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6" name="Rectangle 65"/>
            <p:cNvSpPr>
              <a:spLocks noChangeArrowheads="1"/>
            </p:cNvSpPr>
            <p:nvPr/>
          </p:nvSpPr>
          <p:spPr bwMode="auto">
            <a:xfrm>
              <a:off x="1496" y="1947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7" name="Rectangle 66"/>
            <p:cNvSpPr>
              <a:spLocks noChangeArrowheads="1"/>
            </p:cNvSpPr>
            <p:nvPr/>
          </p:nvSpPr>
          <p:spPr bwMode="auto">
            <a:xfrm>
              <a:off x="986" y="760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8" name="Rectangle 67"/>
            <p:cNvSpPr>
              <a:spLocks noChangeArrowheads="1"/>
            </p:cNvSpPr>
            <p:nvPr/>
          </p:nvSpPr>
          <p:spPr bwMode="auto">
            <a:xfrm>
              <a:off x="1041" y="1275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69" name="Rectangle 68"/>
            <p:cNvSpPr>
              <a:spLocks noChangeArrowheads="1"/>
            </p:cNvSpPr>
            <p:nvPr/>
          </p:nvSpPr>
          <p:spPr bwMode="auto">
            <a:xfrm>
              <a:off x="916" y="102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0" name="Rectangle 69"/>
            <p:cNvSpPr>
              <a:spLocks noChangeArrowheads="1"/>
            </p:cNvSpPr>
            <p:nvPr/>
          </p:nvSpPr>
          <p:spPr bwMode="auto">
            <a:xfrm>
              <a:off x="1463" y="1334"/>
              <a:ext cx="1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1" name="Rectangle 70"/>
            <p:cNvSpPr>
              <a:spLocks noChangeArrowheads="1"/>
            </p:cNvSpPr>
            <p:nvPr/>
          </p:nvSpPr>
          <p:spPr bwMode="auto">
            <a:xfrm>
              <a:off x="919" y="48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9572" name="Rectangle 71"/>
            <p:cNvSpPr>
              <a:spLocks noChangeArrowheads="1"/>
            </p:cNvSpPr>
            <p:nvPr/>
          </p:nvSpPr>
          <p:spPr bwMode="auto">
            <a:xfrm>
              <a:off x="2507" y="203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3" name="Rectangle 72"/>
            <p:cNvSpPr>
              <a:spLocks noChangeArrowheads="1"/>
            </p:cNvSpPr>
            <p:nvPr/>
          </p:nvSpPr>
          <p:spPr bwMode="auto">
            <a:xfrm>
              <a:off x="2725" y="21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sz="2400" i="1">
                <a:solidFill>
                  <a:srgbClr val="FF3300"/>
                </a:solidFill>
              </a:endParaRPr>
            </a:p>
          </p:txBody>
        </p:sp>
        <p:sp>
          <p:nvSpPr>
            <p:cNvPr id="19574" name="Rectangle 73"/>
            <p:cNvSpPr>
              <a:spLocks noChangeArrowheads="1"/>
            </p:cNvSpPr>
            <p:nvPr/>
          </p:nvSpPr>
          <p:spPr bwMode="auto">
            <a:xfrm>
              <a:off x="2443" y="170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5" name="Rectangle 74"/>
            <p:cNvSpPr>
              <a:spLocks noChangeArrowheads="1"/>
            </p:cNvSpPr>
            <p:nvPr/>
          </p:nvSpPr>
          <p:spPr bwMode="auto">
            <a:xfrm>
              <a:off x="2062" y="79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6" name="Rectangle 75"/>
            <p:cNvSpPr>
              <a:spLocks noChangeArrowheads="1"/>
            </p:cNvSpPr>
            <p:nvPr/>
          </p:nvSpPr>
          <p:spPr bwMode="auto">
            <a:xfrm>
              <a:off x="2253" y="1288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7" name="Rectangle 76"/>
            <p:cNvSpPr>
              <a:spLocks noChangeArrowheads="1"/>
            </p:cNvSpPr>
            <p:nvPr/>
          </p:nvSpPr>
          <p:spPr bwMode="auto">
            <a:xfrm>
              <a:off x="2544" y="985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8" name="Rectangle 77"/>
            <p:cNvSpPr>
              <a:spLocks noChangeArrowheads="1"/>
            </p:cNvSpPr>
            <p:nvPr/>
          </p:nvSpPr>
          <p:spPr bwMode="auto">
            <a:xfrm>
              <a:off x="2067" y="46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79" name="Text Box 78"/>
            <p:cNvSpPr txBox="1">
              <a:spLocks noChangeArrowheads="1"/>
            </p:cNvSpPr>
            <p:nvPr/>
          </p:nvSpPr>
          <p:spPr bwMode="auto">
            <a:xfrm>
              <a:off x="1047" y="761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80" name="Text Box 79"/>
            <p:cNvSpPr txBox="1">
              <a:spLocks noChangeArrowheads="1"/>
            </p:cNvSpPr>
            <p:nvPr/>
          </p:nvSpPr>
          <p:spPr bwMode="auto">
            <a:xfrm>
              <a:off x="2137" y="765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81" name="Text Box 80"/>
            <p:cNvSpPr txBox="1">
              <a:spLocks noChangeArrowheads="1"/>
            </p:cNvSpPr>
            <p:nvPr/>
          </p:nvSpPr>
          <p:spPr bwMode="auto">
            <a:xfrm>
              <a:off x="2103" y="423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82" name="Text Box 81"/>
            <p:cNvSpPr txBox="1">
              <a:spLocks noChangeArrowheads="1"/>
            </p:cNvSpPr>
            <p:nvPr/>
          </p:nvSpPr>
          <p:spPr bwMode="auto">
            <a:xfrm>
              <a:off x="982" y="1022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</p:grpSp>
      <p:grpSp>
        <p:nvGrpSpPr>
          <p:cNvPr id="19461" name="Group 82"/>
          <p:cNvGrpSpPr>
            <a:grpSpLocks/>
          </p:cNvGrpSpPr>
          <p:nvPr/>
        </p:nvGrpSpPr>
        <p:grpSpPr bwMode="auto">
          <a:xfrm>
            <a:off x="5156200" y="1255713"/>
            <a:ext cx="2563813" cy="3036887"/>
            <a:chOff x="3535" y="985"/>
            <a:chExt cx="1615" cy="1913"/>
          </a:xfrm>
        </p:grpSpPr>
        <p:sp>
          <p:nvSpPr>
            <p:cNvPr id="19525" name="Line 83"/>
            <p:cNvSpPr>
              <a:spLocks noChangeShapeType="1"/>
            </p:cNvSpPr>
            <p:nvPr/>
          </p:nvSpPr>
          <p:spPr bwMode="auto">
            <a:xfrm>
              <a:off x="3787" y="1714"/>
              <a:ext cx="0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26" name="Rectangle 84"/>
            <p:cNvSpPr>
              <a:spLocks noChangeArrowheads="1"/>
            </p:cNvSpPr>
            <p:nvPr/>
          </p:nvSpPr>
          <p:spPr bwMode="auto">
            <a:xfrm>
              <a:off x="3796" y="2613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27" name="Rectangle 85"/>
            <p:cNvSpPr>
              <a:spLocks noChangeArrowheads="1"/>
            </p:cNvSpPr>
            <p:nvPr/>
          </p:nvSpPr>
          <p:spPr bwMode="auto">
            <a:xfrm>
              <a:off x="3627" y="204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28" name="Rectangle 86"/>
            <p:cNvSpPr>
              <a:spLocks noChangeArrowheads="1"/>
            </p:cNvSpPr>
            <p:nvPr/>
          </p:nvSpPr>
          <p:spPr bwMode="auto">
            <a:xfrm>
              <a:off x="3733" y="1314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c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29" name="Rectangle 87"/>
            <p:cNvSpPr>
              <a:spLocks noChangeArrowheads="1"/>
            </p:cNvSpPr>
            <p:nvPr/>
          </p:nvSpPr>
          <p:spPr bwMode="auto">
            <a:xfrm>
              <a:off x="3628" y="165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a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0" name="Rectangle 88"/>
            <p:cNvSpPr>
              <a:spLocks noChangeArrowheads="1"/>
            </p:cNvSpPr>
            <p:nvPr/>
          </p:nvSpPr>
          <p:spPr bwMode="auto">
            <a:xfrm>
              <a:off x="4741" y="266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1" name="Rectangle 89"/>
            <p:cNvSpPr>
              <a:spLocks noChangeArrowheads="1"/>
            </p:cNvSpPr>
            <p:nvPr/>
          </p:nvSpPr>
          <p:spPr bwMode="auto">
            <a:xfrm>
              <a:off x="4906" y="2266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2" name="Rectangle 90"/>
            <p:cNvSpPr>
              <a:spLocks noChangeArrowheads="1"/>
            </p:cNvSpPr>
            <p:nvPr/>
          </p:nvSpPr>
          <p:spPr bwMode="auto">
            <a:xfrm>
              <a:off x="4864" y="1464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d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3" name="Rectangle 91"/>
            <p:cNvSpPr>
              <a:spLocks noChangeArrowheads="1"/>
            </p:cNvSpPr>
            <p:nvPr/>
          </p:nvSpPr>
          <p:spPr bwMode="auto">
            <a:xfrm>
              <a:off x="4760" y="1024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</a:rPr>
                <a:t>b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4" name="Rectangle 92"/>
            <p:cNvSpPr>
              <a:spLocks noChangeArrowheads="1"/>
            </p:cNvSpPr>
            <p:nvPr/>
          </p:nvSpPr>
          <p:spPr bwMode="auto">
            <a:xfrm>
              <a:off x="5054" y="186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5" name="Rectangle 93"/>
            <p:cNvSpPr>
              <a:spLocks noChangeArrowheads="1"/>
            </p:cNvSpPr>
            <p:nvPr/>
          </p:nvSpPr>
          <p:spPr bwMode="auto">
            <a:xfrm>
              <a:off x="3535" y="1876"/>
              <a:ext cx="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sz="2400">
                <a:solidFill>
                  <a:srgbClr val="FF3300"/>
                </a:solidFill>
              </a:endParaRPr>
            </a:p>
          </p:txBody>
        </p:sp>
        <p:sp>
          <p:nvSpPr>
            <p:cNvPr id="19536" name="Text Box 94"/>
            <p:cNvSpPr txBox="1">
              <a:spLocks noChangeArrowheads="1"/>
            </p:cNvSpPr>
            <p:nvPr/>
          </p:nvSpPr>
          <p:spPr bwMode="auto">
            <a:xfrm>
              <a:off x="4946" y="1432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37" name="Text Box 95"/>
            <p:cNvSpPr txBox="1">
              <a:spLocks noChangeArrowheads="1"/>
            </p:cNvSpPr>
            <p:nvPr/>
          </p:nvSpPr>
          <p:spPr bwMode="auto">
            <a:xfrm>
              <a:off x="4822" y="985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38" name="Line 96"/>
            <p:cNvSpPr>
              <a:spLocks noChangeShapeType="1"/>
            </p:cNvSpPr>
            <p:nvPr/>
          </p:nvSpPr>
          <p:spPr bwMode="auto">
            <a:xfrm flipV="1">
              <a:off x="3782" y="1131"/>
              <a:ext cx="956" cy="5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39" name="Line 97"/>
            <p:cNvSpPr>
              <a:spLocks noChangeShapeType="1"/>
            </p:cNvSpPr>
            <p:nvPr/>
          </p:nvSpPr>
          <p:spPr bwMode="auto">
            <a:xfrm>
              <a:off x="3854" y="1434"/>
              <a:ext cx="984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0" name="Line 98"/>
            <p:cNvSpPr>
              <a:spLocks noChangeShapeType="1"/>
            </p:cNvSpPr>
            <p:nvPr/>
          </p:nvSpPr>
          <p:spPr bwMode="auto">
            <a:xfrm>
              <a:off x="3638" y="1997"/>
              <a:ext cx="13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1" name="Line 99"/>
            <p:cNvSpPr>
              <a:spLocks noChangeShapeType="1"/>
            </p:cNvSpPr>
            <p:nvPr/>
          </p:nvSpPr>
          <p:spPr bwMode="auto">
            <a:xfrm>
              <a:off x="3854" y="1445"/>
              <a:ext cx="0" cy="1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2" name="Line 100"/>
            <p:cNvSpPr>
              <a:spLocks noChangeShapeType="1"/>
            </p:cNvSpPr>
            <p:nvPr/>
          </p:nvSpPr>
          <p:spPr bwMode="auto">
            <a:xfrm>
              <a:off x="4742" y="1133"/>
              <a:ext cx="0" cy="15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3" name="Line 101"/>
            <p:cNvSpPr>
              <a:spLocks noChangeShapeType="1"/>
            </p:cNvSpPr>
            <p:nvPr/>
          </p:nvSpPr>
          <p:spPr bwMode="auto">
            <a:xfrm>
              <a:off x="4834" y="1541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4" name="Line 102"/>
            <p:cNvSpPr>
              <a:spLocks noChangeShapeType="1"/>
            </p:cNvSpPr>
            <p:nvPr/>
          </p:nvSpPr>
          <p:spPr bwMode="auto">
            <a:xfrm flipV="1">
              <a:off x="3850" y="2390"/>
              <a:ext cx="984" cy="26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5" name="Line 103"/>
            <p:cNvSpPr>
              <a:spLocks noChangeShapeType="1"/>
            </p:cNvSpPr>
            <p:nvPr/>
          </p:nvSpPr>
          <p:spPr bwMode="auto">
            <a:xfrm>
              <a:off x="3787" y="2184"/>
              <a:ext cx="955" cy="5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46" name="Text Box 104"/>
            <p:cNvSpPr txBox="1">
              <a:spLocks noChangeArrowheads="1"/>
            </p:cNvSpPr>
            <p:nvPr/>
          </p:nvSpPr>
          <p:spPr bwMode="auto">
            <a:xfrm>
              <a:off x="3693" y="1645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547" name="Text Box 105"/>
            <p:cNvSpPr txBox="1">
              <a:spLocks noChangeArrowheads="1"/>
            </p:cNvSpPr>
            <p:nvPr/>
          </p:nvSpPr>
          <p:spPr bwMode="auto">
            <a:xfrm>
              <a:off x="3789" y="1303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</p:grpSp>
      <p:sp>
        <p:nvSpPr>
          <p:cNvPr id="132202" name="Rectangle 106"/>
          <p:cNvSpPr>
            <a:spLocks noChangeArrowheads="1"/>
          </p:cNvSpPr>
          <p:nvPr/>
        </p:nvSpPr>
        <p:spPr bwMode="auto">
          <a:xfrm>
            <a:off x="6459538" y="3784600"/>
            <a:ext cx="327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ISOCPEUR" pitchFamily="34" charset="0"/>
              </a:rPr>
              <a:t>1(2)</a:t>
            </a:r>
            <a:endParaRPr lang="en-US" altLang="zh-CN" sz="2000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32203" name="Text Box 107"/>
          <p:cNvSpPr txBox="1">
            <a:spLocks noChangeArrowheads="1"/>
          </p:cNvSpPr>
          <p:nvPr/>
        </p:nvSpPr>
        <p:spPr bwMode="auto">
          <a:xfrm>
            <a:off x="6373813" y="3575050"/>
            <a:ext cx="28733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800">
                <a:solidFill>
                  <a:schemeClr val="tx2"/>
                </a:solidFill>
              </a:rPr>
              <a:t>●</a:t>
            </a:r>
          </a:p>
        </p:txBody>
      </p:sp>
      <p:sp>
        <p:nvSpPr>
          <p:cNvPr id="132204" name="Line 108"/>
          <p:cNvSpPr>
            <a:spLocks noChangeShapeType="1"/>
          </p:cNvSpPr>
          <p:nvPr/>
        </p:nvSpPr>
        <p:spPr bwMode="auto">
          <a:xfrm flipV="1">
            <a:off x="6516688" y="1825625"/>
            <a:ext cx="0" cy="18589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109"/>
          <p:cNvGrpSpPr>
            <a:grpSpLocks/>
          </p:cNvGrpSpPr>
          <p:nvPr/>
        </p:nvGrpSpPr>
        <p:grpSpPr bwMode="auto">
          <a:xfrm>
            <a:off x="6373813" y="1951038"/>
            <a:ext cx="549275" cy="463550"/>
            <a:chOff x="4029" y="917"/>
            <a:chExt cx="346" cy="292"/>
          </a:xfrm>
        </p:grpSpPr>
        <p:sp>
          <p:nvSpPr>
            <p:cNvPr id="19522" name="Rectangle 110"/>
            <p:cNvSpPr>
              <a:spLocks noChangeArrowheads="1"/>
            </p:cNvSpPr>
            <p:nvPr/>
          </p:nvSpPr>
          <p:spPr bwMode="auto">
            <a:xfrm>
              <a:off x="4138" y="984"/>
              <a:ext cx="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2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523" name="Text Box 111"/>
            <p:cNvSpPr txBox="1">
              <a:spLocks noChangeArrowheads="1"/>
            </p:cNvSpPr>
            <p:nvPr/>
          </p:nvSpPr>
          <p:spPr bwMode="auto">
            <a:xfrm>
              <a:off x="4029" y="917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524" name="Text Box 112"/>
            <p:cNvSpPr txBox="1">
              <a:spLocks noChangeArrowheads="1"/>
            </p:cNvSpPr>
            <p:nvPr/>
          </p:nvSpPr>
          <p:spPr bwMode="auto">
            <a:xfrm>
              <a:off x="4189" y="959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</p:grpSp>
      <p:grpSp>
        <p:nvGrpSpPr>
          <p:cNvPr id="5" name="Group 113"/>
          <p:cNvGrpSpPr>
            <a:grpSpLocks/>
          </p:cNvGrpSpPr>
          <p:nvPr/>
        </p:nvGrpSpPr>
        <p:grpSpPr bwMode="auto">
          <a:xfrm>
            <a:off x="6372225" y="1373188"/>
            <a:ext cx="496888" cy="555625"/>
            <a:chOff x="4028" y="553"/>
            <a:chExt cx="313" cy="350"/>
          </a:xfrm>
        </p:grpSpPr>
        <p:sp>
          <p:nvSpPr>
            <p:cNvPr id="19519" name="Rectangle 114"/>
            <p:cNvSpPr>
              <a:spLocks noChangeArrowheads="1"/>
            </p:cNvSpPr>
            <p:nvPr/>
          </p:nvSpPr>
          <p:spPr bwMode="auto">
            <a:xfrm>
              <a:off x="4140" y="594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520" name="Text Box 115"/>
            <p:cNvSpPr txBox="1">
              <a:spLocks noChangeArrowheads="1"/>
            </p:cNvSpPr>
            <p:nvPr/>
          </p:nvSpPr>
          <p:spPr bwMode="auto">
            <a:xfrm>
              <a:off x="4028" y="768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  <a:latin typeface="ISOCPEUR" pitchFamily="34" charset="0"/>
                </a:rPr>
                <a:t>●</a:t>
              </a:r>
            </a:p>
          </p:txBody>
        </p:sp>
        <p:sp>
          <p:nvSpPr>
            <p:cNvPr id="19521" name="Text Box 116"/>
            <p:cNvSpPr txBox="1">
              <a:spLocks noChangeArrowheads="1"/>
            </p:cNvSpPr>
            <p:nvPr/>
          </p:nvSpPr>
          <p:spPr bwMode="auto">
            <a:xfrm>
              <a:off x="4155" y="553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</a:rPr>
                <a:t>′</a:t>
              </a:r>
            </a:p>
          </p:txBody>
        </p:sp>
      </p:grpSp>
      <p:sp>
        <p:nvSpPr>
          <p:cNvPr id="132213" name="Text Box 117"/>
          <p:cNvSpPr txBox="1">
            <a:spLocks noChangeArrowheads="1"/>
          </p:cNvSpPr>
          <p:nvPr/>
        </p:nvSpPr>
        <p:spPr bwMode="auto">
          <a:xfrm>
            <a:off x="347663" y="4438650"/>
            <a:ext cx="2347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itchFamily="2" charset="-122"/>
              </a:rPr>
              <a:t>投影特性：</a:t>
            </a:r>
          </a:p>
        </p:txBody>
      </p:sp>
      <p:sp>
        <p:nvSpPr>
          <p:cNvPr id="132214" name="Text Box 118"/>
          <p:cNvSpPr txBox="1">
            <a:spLocks noChangeArrowheads="1"/>
          </p:cNvSpPr>
          <p:nvPr/>
        </p:nvSpPr>
        <p:spPr bwMode="auto">
          <a:xfrm>
            <a:off x="541338" y="5037138"/>
            <a:ext cx="8602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同名投影可能相交，但 </a:t>
            </a:r>
            <a:r>
              <a:rPr lang="zh-CN" altLang="en-US" sz="2400">
                <a:ea typeface="黑体" pitchFamily="2" charset="-122"/>
              </a:rPr>
              <a:t>“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交点</a:t>
            </a:r>
            <a:r>
              <a:rPr lang="zh-CN" altLang="en-US" sz="2400">
                <a:ea typeface="黑体" pitchFamily="2" charset="-122"/>
              </a:rPr>
              <a:t>”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不符合一个点的投影规律。</a:t>
            </a:r>
          </a:p>
        </p:txBody>
      </p:sp>
      <p:sp>
        <p:nvSpPr>
          <p:cNvPr id="132215" name="Text Box 119"/>
          <p:cNvSpPr txBox="1">
            <a:spLocks noChangeArrowheads="1"/>
          </p:cNvSpPr>
          <p:nvPr/>
        </p:nvSpPr>
        <p:spPr bwMode="auto">
          <a:xfrm>
            <a:off x="544513" y="5518150"/>
            <a:ext cx="83677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黑体" pitchFamily="2" charset="-122"/>
                <a:ea typeface="黑体" pitchFamily="2" charset="-122"/>
              </a:rPr>
              <a:t>2.</a:t>
            </a:r>
            <a:r>
              <a:rPr lang="en-US" altLang="zh-CN" sz="2400">
                <a:ea typeface="黑体" pitchFamily="2" charset="-122"/>
              </a:rPr>
              <a:t>“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交点</a:t>
            </a:r>
            <a:r>
              <a:rPr lang="zh-CN" altLang="en-US" sz="2400">
                <a:ea typeface="黑体" pitchFamily="2" charset="-122"/>
              </a:rPr>
              <a:t>”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是两直线上的一对重影点的投影，用其可帮助判断两直线的空间位置。</a:t>
            </a:r>
          </a:p>
        </p:txBody>
      </p:sp>
      <p:grpSp>
        <p:nvGrpSpPr>
          <p:cNvPr id="6" name="Group 120"/>
          <p:cNvGrpSpPr>
            <a:grpSpLocks/>
          </p:cNvGrpSpPr>
          <p:nvPr/>
        </p:nvGrpSpPr>
        <p:grpSpPr bwMode="auto">
          <a:xfrm>
            <a:off x="2443163" y="1370013"/>
            <a:ext cx="1022350" cy="2551112"/>
            <a:chOff x="1562" y="547"/>
            <a:chExt cx="644" cy="1607"/>
          </a:xfrm>
        </p:grpSpPr>
        <p:sp>
          <p:nvSpPr>
            <p:cNvPr id="19500" name="Line 121"/>
            <p:cNvSpPr>
              <a:spLocks noChangeShapeType="1"/>
            </p:cNvSpPr>
            <p:nvPr/>
          </p:nvSpPr>
          <p:spPr bwMode="auto">
            <a:xfrm>
              <a:off x="1699" y="798"/>
              <a:ext cx="0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01" name="Line 122"/>
            <p:cNvSpPr>
              <a:spLocks noChangeShapeType="1"/>
            </p:cNvSpPr>
            <p:nvPr/>
          </p:nvSpPr>
          <p:spPr bwMode="auto">
            <a:xfrm>
              <a:off x="1694" y="1552"/>
              <a:ext cx="365" cy="3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502" name="Group 123"/>
            <p:cNvGrpSpPr>
              <a:grpSpLocks/>
            </p:cNvGrpSpPr>
            <p:nvPr/>
          </p:nvGrpSpPr>
          <p:grpSpPr bwMode="auto">
            <a:xfrm>
              <a:off x="1562" y="547"/>
              <a:ext cx="644" cy="1607"/>
              <a:chOff x="1562" y="547"/>
              <a:chExt cx="644" cy="1607"/>
            </a:xfrm>
          </p:grpSpPr>
          <p:sp>
            <p:nvSpPr>
              <p:cNvPr id="19503" name="Line 124"/>
              <p:cNvSpPr>
                <a:spLocks noChangeShapeType="1"/>
              </p:cNvSpPr>
              <p:nvPr/>
            </p:nvSpPr>
            <p:spPr bwMode="auto">
              <a:xfrm>
                <a:off x="1853" y="1120"/>
                <a:ext cx="211" cy="2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4" name="Line 125"/>
              <p:cNvSpPr>
                <a:spLocks noChangeShapeType="1"/>
              </p:cNvSpPr>
              <p:nvPr/>
            </p:nvSpPr>
            <p:spPr bwMode="auto">
              <a:xfrm>
                <a:off x="2064" y="1158"/>
                <a:ext cx="0" cy="7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5" name="Rectangle 126"/>
              <p:cNvSpPr>
                <a:spLocks noChangeArrowheads="1"/>
              </p:cNvSpPr>
              <p:nvPr/>
            </p:nvSpPr>
            <p:spPr bwMode="auto">
              <a:xfrm>
                <a:off x="1562" y="944"/>
                <a:ext cx="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ISOCPEUR" pitchFamily="34" charset="0"/>
                  </a:rPr>
                  <a:t>2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9506" name="Line 127"/>
              <p:cNvSpPr>
                <a:spLocks noChangeShapeType="1"/>
              </p:cNvSpPr>
              <p:nvPr/>
            </p:nvSpPr>
            <p:spPr bwMode="auto">
              <a:xfrm>
                <a:off x="1689" y="798"/>
                <a:ext cx="379" cy="3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07" name="Rectangle 128"/>
              <p:cNvSpPr>
                <a:spLocks noChangeArrowheads="1"/>
              </p:cNvSpPr>
              <p:nvPr/>
            </p:nvSpPr>
            <p:spPr bwMode="auto">
              <a:xfrm>
                <a:off x="1671" y="588"/>
                <a:ext cx="5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ISOCPEUR" pitchFamily="34" charset="0"/>
                  </a:rPr>
                  <a:t>1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9508" name="Rectangle 129"/>
              <p:cNvSpPr>
                <a:spLocks noChangeArrowheads="1"/>
              </p:cNvSpPr>
              <p:nvPr/>
            </p:nvSpPr>
            <p:spPr bwMode="auto">
              <a:xfrm>
                <a:off x="2000" y="1962"/>
                <a:ext cx="20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latin typeface="ISOCPEUR" pitchFamily="34" charset="0"/>
                  </a:rPr>
                  <a:t>1(2)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</a:endParaRPr>
              </a:p>
            </p:txBody>
          </p:sp>
          <p:sp>
            <p:nvSpPr>
              <p:cNvPr id="19509" name="Rectangle 130"/>
              <p:cNvSpPr>
                <a:spLocks noChangeArrowheads="1"/>
              </p:cNvSpPr>
              <p:nvPr/>
            </p:nvSpPr>
            <p:spPr bwMode="auto">
              <a:xfrm>
                <a:off x="2057" y="1323"/>
                <a:ext cx="1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宋体" charset="-122"/>
                  </a:rPr>
                  <a:t>Ⅱ</a:t>
                </a:r>
                <a:endParaRPr lang="en-US" altLang="zh-CN" sz="1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9510" name="Rectangle 131"/>
              <p:cNvSpPr>
                <a:spLocks noChangeArrowheads="1"/>
              </p:cNvSpPr>
              <p:nvPr/>
            </p:nvSpPr>
            <p:spPr bwMode="auto">
              <a:xfrm>
                <a:off x="1997" y="983"/>
                <a:ext cx="1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宋体" charset="-122"/>
                  </a:rPr>
                  <a:t>Ⅰ</a:t>
                </a:r>
                <a:endParaRPr lang="en-US" altLang="zh-CN" sz="1800">
                  <a:solidFill>
                    <a:srgbClr val="FF3300"/>
                  </a:solidFill>
                </a:endParaRPr>
              </a:p>
            </p:txBody>
          </p:sp>
          <p:sp>
            <p:nvSpPr>
              <p:cNvPr id="19511" name="Text Box 132"/>
              <p:cNvSpPr txBox="1">
                <a:spLocks noChangeArrowheads="1"/>
              </p:cNvSpPr>
              <p:nvPr/>
            </p:nvSpPr>
            <p:spPr bwMode="auto">
              <a:xfrm>
                <a:off x="1687" y="547"/>
                <a:ext cx="1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′</a:t>
                </a:r>
              </a:p>
            </p:txBody>
          </p:sp>
          <p:sp>
            <p:nvSpPr>
              <p:cNvPr id="19512" name="Text Box 133"/>
              <p:cNvSpPr txBox="1">
                <a:spLocks noChangeArrowheads="1"/>
              </p:cNvSpPr>
              <p:nvPr/>
            </p:nvSpPr>
            <p:spPr bwMode="auto">
              <a:xfrm>
                <a:off x="1614" y="911"/>
                <a:ext cx="18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′</a:t>
                </a:r>
              </a:p>
            </p:txBody>
          </p:sp>
          <p:sp>
            <p:nvSpPr>
              <p:cNvPr id="19513" name="Text Box 134"/>
              <p:cNvSpPr txBox="1">
                <a:spLocks noChangeArrowheads="1"/>
              </p:cNvSpPr>
              <p:nvPr/>
            </p:nvSpPr>
            <p:spPr bwMode="auto">
              <a:xfrm>
                <a:off x="1607" y="897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4" name="Text Box 135"/>
              <p:cNvSpPr txBox="1">
                <a:spLocks noChangeArrowheads="1"/>
              </p:cNvSpPr>
              <p:nvPr/>
            </p:nvSpPr>
            <p:spPr bwMode="auto">
              <a:xfrm>
                <a:off x="1608" y="733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5" name="Text Box 136"/>
              <p:cNvSpPr txBox="1">
                <a:spLocks noChangeArrowheads="1"/>
              </p:cNvSpPr>
              <p:nvPr/>
            </p:nvSpPr>
            <p:spPr bwMode="auto">
              <a:xfrm>
                <a:off x="1973" y="1851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6" name="Text Box 137"/>
              <p:cNvSpPr txBox="1">
                <a:spLocks noChangeArrowheads="1"/>
              </p:cNvSpPr>
              <p:nvPr/>
            </p:nvSpPr>
            <p:spPr bwMode="auto">
              <a:xfrm>
                <a:off x="1968" y="1098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7" name="Text Box 138"/>
              <p:cNvSpPr txBox="1">
                <a:spLocks noChangeArrowheads="1"/>
              </p:cNvSpPr>
              <p:nvPr/>
            </p:nvSpPr>
            <p:spPr bwMode="auto">
              <a:xfrm>
                <a:off x="1973" y="1270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800">
                    <a:solidFill>
                      <a:schemeClr val="tx2"/>
                    </a:solidFill>
                  </a:rPr>
                  <a:t>●</a:t>
                </a:r>
              </a:p>
            </p:txBody>
          </p:sp>
          <p:sp>
            <p:nvSpPr>
              <p:cNvPr id="19518" name="Line 139"/>
              <p:cNvSpPr>
                <a:spLocks noChangeShapeType="1"/>
              </p:cNvSpPr>
              <p:nvPr/>
            </p:nvSpPr>
            <p:spPr bwMode="auto">
              <a:xfrm>
                <a:off x="1694" y="966"/>
                <a:ext cx="72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40"/>
          <p:cNvGrpSpPr>
            <a:grpSpLocks/>
          </p:cNvGrpSpPr>
          <p:nvPr/>
        </p:nvGrpSpPr>
        <p:grpSpPr bwMode="auto">
          <a:xfrm>
            <a:off x="2014539" y="1550988"/>
            <a:ext cx="1190626" cy="2365375"/>
            <a:chOff x="29" y="607"/>
            <a:chExt cx="750" cy="1490"/>
          </a:xfrm>
        </p:grpSpPr>
        <p:sp>
          <p:nvSpPr>
            <p:cNvPr id="19482" name="Line 141"/>
            <p:cNvSpPr>
              <a:spLocks noChangeShapeType="1"/>
            </p:cNvSpPr>
            <p:nvPr/>
          </p:nvSpPr>
          <p:spPr bwMode="auto">
            <a:xfrm>
              <a:off x="503" y="1156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3" name="Line 142"/>
            <p:cNvSpPr>
              <a:spLocks noChangeShapeType="1"/>
            </p:cNvSpPr>
            <p:nvPr/>
          </p:nvSpPr>
          <p:spPr bwMode="auto">
            <a:xfrm>
              <a:off x="628" y="1295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4" name="Line 143"/>
            <p:cNvSpPr>
              <a:spLocks noChangeShapeType="1"/>
            </p:cNvSpPr>
            <p:nvPr/>
          </p:nvSpPr>
          <p:spPr bwMode="auto">
            <a:xfrm>
              <a:off x="403" y="1060"/>
              <a:ext cx="220" cy="2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5" name="Text Box 144"/>
            <p:cNvSpPr txBox="1">
              <a:spLocks noChangeArrowheads="1"/>
            </p:cNvSpPr>
            <p:nvPr/>
          </p:nvSpPr>
          <p:spPr bwMode="auto">
            <a:xfrm>
              <a:off x="204" y="60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486" name="Line 145"/>
            <p:cNvSpPr>
              <a:spLocks noChangeShapeType="1"/>
            </p:cNvSpPr>
            <p:nvPr/>
          </p:nvSpPr>
          <p:spPr bwMode="auto">
            <a:xfrm>
              <a:off x="210" y="873"/>
              <a:ext cx="86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87" name="Text Box 146"/>
            <p:cNvSpPr txBox="1">
              <a:spLocks noChangeArrowheads="1"/>
            </p:cNvSpPr>
            <p:nvPr/>
          </p:nvSpPr>
          <p:spPr bwMode="auto">
            <a:xfrm>
              <a:off x="47" y="607"/>
              <a:ext cx="1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′</a:t>
              </a:r>
            </a:p>
          </p:txBody>
        </p:sp>
        <p:sp>
          <p:nvSpPr>
            <p:cNvPr id="19488" name="Rectangle 147"/>
            <p:cNvSpPr>
              <a:spLocks noChangeArrowheads="1"/>
            </p:cNvSpPr>
            <p:nvPr/>
          </p:nvSpPr>
          <p:spPr bwMode="auto">
            <a:xfrm>
              <a:off x="464" y="963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宋体" charset="-122"/>
                </a:rPr>
                <a:t>Ⅳ</a:t>
              </a:r>
              <a:endParaRPr lang="en-US" altLang="zh-CN" sz="1800">
                <a:solidFill>
                  <a:srgbClr val="FF3300"/>
                </a:solidFill>
              </a:endParaRPr>
            </a:p>
          </p:txBody>
        </p:sp>
        <p:sp>
          <p:nvSpPr>
            <p:cNvPr id="19489" name="Rectangle 148"/>
            <p:cNvSpPr>
              <a:spLocks noChangeArrowheads="1"/>
            </p:cNvSpPr>
            <p:nvPr/>
          </p:nvSpPr>
          <p:spPr bwMode="auto">
            <a:xfrm>
              <a:off x="509" y="1607"/>
              <a:ext cx="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4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90" name="Rectangle 149"/>
            <p:cNvSpPr>
              <a:spLocks noChangeArrowheads="1"/>
            </p:cNvSpPr>
            <p:nvPr/>
          </p:nvSpPr>
          <p:spPr bwMode="auto">
            <a:xfrm>
              <a:off x="29" y="638"/>
              <a:ext cx="34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ISOCPEUR" pitchFamily="34" charset="0"/>
                </a:rPr>
                <a:t>3 (4 )</a:t>
              </a:r>
              <a:endParaRPr lang="en-US" altLang="zh-CN" sz="2000" dirty="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91" name="Rectangle 150"/>
            <p:cNvSpPr>
              <a:spLocks noChangeArrowheads="1"/>
            </p:cNvSpPr>
            <p:nvPr/>
          </p:nvSpPr>
          <p:spPr bwMode="auto">
            <a:xfrm>
              <a:off x="577" y="190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3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92" name="Rectangle 151"/>
            <p:cNvSpPr>
              <a:spLocks noChangeArrowheads="1"/>
            </p:cNvSpPr>
            <p:nvPr/>
          </p:nvSpPr>
          <p:spPr bwMode="auto">
            <a:xfrm>
              <a:off x="634" y="1283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宋体" charset="-122"/>
                </a:rPr>
                <a:t>Ⅲ</a:t>
              </a:r>
              <a:endParaRPr lang="en-US" altLang="zh-CN" sz="1800">
                <a:solidFill>
                  <a:srgbClr val="FF3300"/>
                </a:solidFill>
              </a:endParaRPr>
            </a:p>
          </p:txBody>
        </p:sp>
        <p:sp>
          <p:nvSpPr>
            <p:cNvPr id="19493" name="Line 152"/>
            <p:cNvSpPr>
              <a:spLocks noChangeShapeType="1"/>
            </p:cNvSpPr>
            <p:nvPr/>
          </p:nvSpPr>
          <p:spPr bwMode="auto">
            <a:xfrm flipH="1" flipV="1">
              <a:off x="215" y="1487"/>
              <a:ext cx="418" cy="4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4" name="Line 153"/>
            <p:cNvSpPr>
              <a:spLocks noChangeShapeType="1"/>
            </p:cNvSpPr>
            <p:nvPr/>
          </p:nvSpPr>
          <p:spPr bwMode="auto">
            <a:xfrm flipV="1">
              <a:off x="215" y="877"/>
              <a:ext cx="0" cy="6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95" name="Text Box 154"/>
            <p:cNvSpPr txBox="1">
              <a:spLocks noChangeArrowheads="1"/>
            </p:cNvSpPr>
            <p:nvPr/>
          </p:nvSpPr>
          <p:spPr bwMode="auto">
            <a:xfrm>
              <a:off x="536" y="1225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6" name="Text Box 155"/>
            <p:cNvSpPr txBox="1">
              <a:spLocks noChangeArrowheads="1"/>
            </p:cNvSpPr>
            <p:nvPr/>
          </p:nvSpPr>
          <p:spPr bwMode="auto">
            <a:xfrm>
              <a:off x="412" y="1095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7" name="Text Box 156"/>
            <p:cNvSpPr txBox="1">
              <a:spLocks noChangeArrowheads="1"/>
            </p:cNvSpPr>
            <p:nvPr/>
          </p:nvSpPr>
          <p:spPr bwMode="auto">
            <a:xfrm>
              <a:off x="537" y="1839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8" name="Text Box 157"/>
            <p:cNvSpPr txBox="1">
              <a:spLocks noChangeArrowheads="1"/>
            </p:cNvSpPr>
            <p:nvPr/>
          </p:nvSpPr>
          <p:spPr bwMode="auto">
            <a:xfrm>
              <a:off x="408" y="1700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99" name="Text Box 158"/>
            <p:cNvSpPr txBox="1">
              <a:spLocks noChangeArrowheads="1"/>
            </p:cNvSpPr>
            <p:nvPr/>
          </p:nvSpPr>
          <p:spPr bwMode="auto">
            <a:xfrm>
              <a:off x="130" y="813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</p:grpSp>
      <p:grpSp>
        <p:nvGrpSpPr>
          <p:cNvPr id="9" name="Group 159"/>
          <p:cNvGrpSpPr>
            <a:grpSpLocks/>
          </p:cNvGrpSpPr>
          <p:nvPr/>
        </p:nvGrpSpPr>
        <p:grpSpPr bwMode="auto">
          <a:xfrm>
            <a:off x="5800746" y="1636712"/>
            <a:ext cx="595315" cy="2489200"/>
            <a:chOff x="3668" y="719"/>
            <a:chExt cx="375" cy="1568"/>
          </a:xfrm>
        </p:grpSpPr>
        <p:sp>
          <p:nvSpPr>
            <p:cNvPr id="19473" name="Text Box 160"/>
            <p:cNvSpPr txBox="1">
              <a:spLocks noChangeArrowheads="1"/>
            </p:cNvSpPr>
            <p:nvPr/>
          </p:nvSpPr>
          <p:spPr bwMode="auto">
            <a:xfrm>
              <a:off x="3812" y="898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74" name="Rectangle 161"/>
            <p:cNvSpPr>
              <a:spLocks noChangeArrowheads="1"/>
            </p:cNvSpPr>
            <p:nvPr/>
          </p:nvSpPr>
          <p:spPr bwMode="auto">
            <a:xfrm>
              <a:off x="3668" y="719"/>
              <a:ext cx="37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ISOCPEUR" pitchFamily="34" charset="0"/>
                </a:rPr>
                <a:t>3’ (4’)</a:t>
              </a:r>
              <a:endParaRPr lang="en-US" altLang="zh-CN" sz="2000" dirty="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75" name="Rectangle 162"/>
            <p:cNvSpPr>
              <a:spLocks noChangeArrowheads="1"/>
            </p:cNvSpPr>
            <p:nvPr/>
          </p:nvSpPr>
          <p:spPr bwMode="auto">
            <a:xfrm>
              <a:off x="3900" y="2095"/>
              <a:ext cx="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3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76" name="Rectangle 163"/>
            <p:cNvSpPr>
              <a:spLocks noChangeArrowheads="1"/>
            </p:cNvSpPr>
            <p:nvPr/>
          </p:nvSpPr>
          <p:spPr bwMode="auto">
            <a:xfrm>
              <a:off x="3919" y="1726"/>
              <a:ext cx="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ISOCPEUR" pitchFamily="34" charset="0"/>
                </a:rPr>
                <a:t>4</a:t>
              </a:r>
              <a:endParaRPr lang="en-US" altLang="zh-CN" sz="2400">
                <a:solidFill>
                  <a:srgbClr val="FF3300"/>
                </a:solidFill>
                <a:latin typeface="ISOCPEUR" pitchFamily="34" charset="0"/>
              </a:endParaRPr>
            </a:p>
          </p:txBody>
        </p:sp>
        <p:sp>
          <p:nvSpPr>
            <p:cNvPr id="19477" name="Line 164"/>
            <p:cNvSpPr>
              <a:spLocks noChangeShapeType="1"/>
            </p:cNvSpPr>
            <p:nvPr/>
          </p:nvSpPr>
          <p:spPr bwMode="auto">
            <a:xfrm>
              <a:off x="3898" y="968"/>
              <a:ext cx="0" cy="11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78" name="Text Box 165"/>
            <p:cNvSpPr txBox="1">
              <a:spLocks noChangeArrowheads="1"/>
            </p:cNvSpPr>
            <p:nvPr/>
          </p:nvSpPr>
          <p:spPr bwMode="auto">
            <a:xfrm>
              <a:off x="3808" y="1819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  <p:sp>
          <p:nvSpPr>
            <p:cNvPr id="19479" name="Text Box 166"/>
            <p:cNvSpPr txBox="1">
              <a:spLocks noChangeArrowheads="1"/>
            </p:cNvSpPr>
            <p:nvPr/>
          </p:nvSpPr>
          <p:spPr bwMode="auto">
            <a:xfrm>
              <a:off x="3812" y="1992"/>
              <a:ext cx="181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800">
                  <a:solidFill>
                    <a:schemeClr val="tx2"/>
                  </a:solidFill>
                </a:rPr>
                <a:t>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991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32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32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2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2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19" grpId="0"/>
      <p:bldP spid="132202" grpId="0" autoUpdateAnimBg="0"/>
      <p:bldP spid="132203" grpId="0" autoUpdateAnimBg="0"/>
      <p:bldP spid="132204" grpId="0" animBg="1"/>
      <p:bldP spid="132213" grpId="0"/>
      <p:bldP spid="132214" grpId="0" build="p" autoUpdateAnimBg="0"/>
      <p:bldP spid="132215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341313" y="177800"/>
            <a:ext cx="88026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六．直线的迹点 （</a:t>
            </a:r>
            <a:r>
              <a:rPr lang="zh-CN" altLang="en-US" sz="36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自学</a:t>
            </a:r>
            <a:r>
              <a:rPr lang="zh-CN" altLang="en-US" sz="3600" dirty="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89488" y="4286250"/>
            <a:ext cx="4037012" cy="461963"/>
            <a:chOff x="142" y="2552"/>
            <a:chExt cx="2597" cy="297"/>
          </a:xfrm>
        </p:grpSpPr>
        <p:sp>
          <p:nvSpPr>
            <p:cNvPr id="13343" name="Text Box 4"/>
            <p:cNvSpPr txBox="1">
              <a:spLocks noChangeArrowheads="1"/>
            </p:cNvSpPr>
            <p:nvPr/>
          </p:nvSpPr>
          <p:spPr bwMode="auto">
            <a:xfrm>
              <a:off x="142" y="2555"/>
              <a:ext cx="314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 </a:t>
              </a:r>
            </a:p>
          </p:txBody>
        </p:sp>
        <p:sp>
          <p:nvSpPr>
            <p:cNvPr id="13344" name="Text Box 5"/>
            <p:cNvSpPr txBox="1">
              <a:spLocks noChangeArrowheads="1"/>
            </p:cNvSpPr>
            <p:nvPr/>
          </p:nvSpPr>
          <p:spPr bwMode="auto">
            <a:xfrm>
              <a:off x="2437" y="2552"/>
              <a:ext cx="302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 </a:t>
              </a:r>
            </a:p>
          </p:txBody>
        </p:sp>
        <p:sp>
          <p:nvSpPr>
            <p:cNvPr id="13345" name="Line 6"/>
            <p:cNvSpPr>
              <a:spLocks noChangeShapeType="1"/>
            </p:cNvSpPr>
            <p:nvPr/>
          </p:nvSpPr>
          <p:spPr bwMode="auto">
            <a:xfrm>
              <a:off x="408" y="280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341313" y="4246563"/>
            <a:ext cx="88026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因为迹点是投影面上点，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迹点的一个投影必在轴上！</a:t>
            </a:r>
          </a:p>
        </p:txBody>
      </p:sp>
      <p:sp>
        <p:nvSpPr>
          <p:cNvPr id="129032" name="Line 8"/>
          <p:cNvSpPr>
            <a:spLocks noChangeShapeType="1"/>
          </p:cNvSpPr>
          <p:nvPr/>
        </p:nvSpPr>
        <p:spPr bwMode="auto">
          <a:xfrm flipH="1">
            <a:off x="5686425" y="4338638"/>
            <a:ext cx="419100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>
            <a:off x="5686425" y="4681538"/>
            <a:ext cx="0" cy="1238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 flipH="1">
            <a:off x="5697538" y="5719763"/>
            <a:ext cx="409575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5" name="AutoShape 11"/>
          <p:cNvSpPr>
            <a:spLocks noChangeArrowheads="1"/>
          </p:cNvSpPr>
          <p:nvPr/>
        </p:nvSpPr>
        <p:spPr bwMode="auto">
          <a:xfrm>
            <a:off x="5648325" y="4652963"/>
            <a:ext cx="74613" cy="74612"/>
          </a:xfrm>
          <a:prstGeom prst="flowChartConnector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36" name="AutoShape 12"/>
          <p:cNvSpPr>
            <a:spLocks noChangeArrowheads="1"/>
          </p:cNvSpPr>
          <p:nvPr/>
        </p:nvSpPr>
        <p:spPr bwMode="auto">
          <a:xfrm>
            <a:off x="5657850" y="5881688"/>
            <a:ext cx="74613" cy="74612"/>
          </a:xfrm>
          <a:prstGeom prst="flowChartConnector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37" name="Text Box 13"/>
          <p:cNvSpPr txBox="1">
            <a:spLocks noChangeArrowheads="1"/>
          </p:cNvSpPr>
          <p:nvPr/>
        </p:nvSpPr>
        <p:spPr bwMode="auto">
          <a:xfrm>
            <a:off x="5265738" y="4359275"/>
            <a:ext cx="58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m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</a:p>
        </p:txBody>
      </p:sp>
      <p:sp>
        <p:nvSpPr>
          <p:cNvPr id="129038" name="Text Box 14"/>
          <p:cNvSpPr txBox="1">
            <a:spLocks noChangeArrowheads="1"/>
          </p:cNvSpPr>
          <p:nvPr/>
        </p:nvSpPr>
        <p:spPr bwMode="auto">
          <a:xfrm>
            <a:off x="4637088" y="5672138"/>
            <a:ext cx="4506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m 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2400" i="1">
                <a:latin typeface="ISOCPEUR" pitchFamily="34" charset="0"/>
              </a:rPr>
              <a:t> </a:t>
            </a:r>
            <a:r>
              <a:rPr lang="en-US" altLang="zh-CN" sz="2400">
                <a:latin typeface="ISOCPEUR" pitchFamily="34" charset="0"/>
              </a:rPr>
              <a:t>M</a:t>
            </a:r>
          </a:p>
        </p:txBody>
      </p:sp>
      <p:sp>
        <p:nvSpPr>
          <p:cNvPr id="129039" name="Line 15"/>
          <p:cNvSpPr>
            <a:spLocks noChangeShapeType="1"/>
          </p:cNvSpPr>
          <p:nvPr/>
        </p:nvSpPr>
        <p:spPr bwMode="auto">
          <a:xfrm flipV="1">
            <a:off x="7715250" y="4683125"/>
            <a:ext cx="36195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0" name="Line 16"/>
          <p:cNvSpPr>
            <a:spLocks noChangeShapeType="1"/>
          </p:cNvSpPr>
          <p:nvPr/>
        </p:nvSpPr>
        <p:spPr bwMode="auto">
          <a:xfrm flipV="1">
            <a:off x="8077200" y="2747963"/>
            <a:ext cx="0" cy="193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1" name="Line 17"/>
          <p:cNvSpPr>
            <a:spLocks noChangeShapeType="1"/>
          </p:cNvSpPr>
          <p:nvPr/>
        </p:nvSpPr>
        <p:spPr bwMode="auto">
          <a:xfrm flipV="1">
            <a:off x="7724775" y="2747963"/>
            <a:ext cx="350838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2" name="AutoShape 18"/>
          <p:cNvSpPr>
            <a:spLocks noChangeArrowheads="1"/>
          </p:cNvSpPr>
          <p:nvPr/>
        </p:nvSpPr>
        <p:spPr bwMode="auto">
          <a:xfrm>
            <a:off x="8029575" y="4643438"/>
            <a:ext cx="74613" cy="74612"/>
          </a:xfrm>
          <a:prstGeom prst="flowChartConnector">
            <a:avLst/>
          </a:pr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43" name="Text Box 19"/>
          <p:cNvSpPr txBox="1">
            <a:spLocks noChangeArrowheads="1"/>
          </p:cNvSpPr>
          <p:nvPr/>
        </p:nvSpPr>
        <p:spPr bwMode="auto">
          <a:xfrm>
            <a:off x="7932738" y="4567238"/>
            <a:ext cx="32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n</a:t>
            </a:r>
          </a:p>
        </p:txBody>
      </p:sp>
      <p:sp>
        <p:nvSpPr>
          <p:cNvPr id="129044" name="AutoShape 20"/>
          <p:cNvSpPr>
            <a:spLocks noChangeArrowheads="1"/>
          </p:cNvSpPr>
          <p:nvPr/>
        </p:nvSpPr>
        <p:spPr bwMode="auto">
          <a:xfrm>
            <a:off x="8039100" y="2700338"/>
            <a:ext cx="74613" cy="74612"/>
          </a:xfrm>
          <a:prstGeom prst="flowChartConnector">
            <a:avLst/>
          </a:prstGeom>
          <a:solidFill>
            <a:srgbClr val="FF33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29045" name="Text Box 21"/>
          <p:cNvSpPr txBox="1">
            <a:spLocks noChangeArrowheads="1"/>
          </p:cNvSpPr>
          <p:nvPr/>
        </p:nvSpPr>
        <p:spPr bwMode="auto">
          <a:xfrm>
            <a:off x="7596188" y="2300288"/>
            <a:ext cx="1323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n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  <a:r>
              <a:rPr lang="en-US" altLang="zh-CN" sz="1800">
                <a:latin typeface="ISOCPEUR" pitchFamily="34" charset="0"/>
              </a:rPr>
              <a:t>≡</a:t>
            </a:r>
            <a:r>
              <a:rPr lang="en-US" altLang="zh-CN" sz="2400" i="1">
                <a:latin typeface="ISOCPEUR" pitchFamily="34" charset="0"/>
              </a:rPr>
              <a:t> N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695950" y="2871788"/>
            <a:ext cx="2722563" cy="3148012"/>
            <a:chOff x="3588" y="2040"/>
            <a:chExt cx="1715" cy="1983"/>
          </a:xfrm>
        </p:grpSpPr>
        <p:sp>
          <p:nvSpPr>
            <p:cNvPr id="13335" name="Line 23"/>
            <p:cNvSpPr>
              <a:spLocks noChangeShapeType="1"/>
            </p:cNvSpPr>
            <p:nvPr/>
          </p:nvSpPr>
          <p:spPr bwMode="auto">
            <a:xfrm>
              <a:off x="3852" y="2952"/>
              <a:ext cx="0" cy="8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Line 24"/>
            <p:cNvSpPr>
              <a:spLocks noChangeShapeType="1"/>
            </p:cNvSpPr>
            <p:nvPr/>
          </p:nvSpPr>
          <p:spPr bwMode="auto">
            <a:xfrm>
              <a:off x="4863" y="2135"/>
              <a:ext cx="0" cy="1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Line 25"/>
            <p:cNvSpPr>
              <a:spLocks noChangeShapeType="1"/>
            </p:cNvSpPr>
            <p:nvPr/>
          </p:nvSpPr>
          <p:spPr bwMode="auto">
            <a:xfrm flipH="1">
              <a:off x="3852" y="3307"/>
              <a:ext cx="1011" cy="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8" name="Line 26"/>
            <p:cNvSpPr>
              <a:spLocks noChangeShapeType="1"/>
            </p:cNvSpPr>
            <p:nvPr/>
          </p:nvSpPr>
          <p:spPr bwMode="auto">
            <a:xfrm flipV="1">
              <a:off x="3852" y="2129"/>
              <a:ext cx="1017" cy="8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Text Box 27"/>
            <p:cNvSpPr txBox="1">
              <a:spLocks noChangeArrowheads="1"/>
            </p:cNvSpPr>
            <p:nvPr/>
          </p:nvSpPr>
          <p:spPr bwMode="auto">
            <a:xfrm>
              <a:off x="3588" y="2786"/>
              <a:ext cx="4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a’</a:t>
              </a:r>
            </a:p>
          </p:txBody>
        </p:sp>
        <p:sp>
          <p:nvSpPr>
            <p:cNvPr id="13340" name="Text Box 28"/>
            <p:cNvSpPr txBox="1">
              <a:spLocks noChangeArrowheads="1"/>
            </p:cNvSpPr>
            <p:nvPr/>
          </p:nvSpPr>
          <p:spPr bwMode="auto">
            <a:xfrm>
              <a:off x="4852" y="2040"/>
              <a:ext cx="45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b</a:t>
              </a: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’</a:t>
              </a:r>
            </a:p>
          </p:txBody>
        </p:sp>
        <p:sp>
          <p:nvSpPr>
            <p:cNvPr id="13341" name="Text Box 29"/>
            <p:cNvSpPr txBox="1">
              <a:spLocks noChangeArrowheads="1"/>
            </p:cNvSpPr>
            <p:nvPr/>
          </p:nvSpPr>
          <p:spPr bwMode="auto">
            <a:xfrm>
              <a:off x="3832" y="3773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3342" name="Text Box 30"/>
            <p:cNvSpPr txBox="1">
              <a:spLocks noChangeArrowheads="1"/>
            </p:cNvSpPr>
            <p:nvPr/>
          </p:nvSpPr>
          <p:spPr bwMode="auto">
            <a:xfrm>
              <a:off x="4699" y="3260"/>
              <a:ext cx="4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  b </a:t>
              </a:r>
              <a:endParaRPr lang="en-US" altLang="zh-CN" sz="2000" i="1">
                <a:latin typeface="ISOCPEUR" pitchFamily="34" charset="0"/>
                <a:ea typeface="仿宋_GB2312" pitchFamily="49" charset="-122"/>
              </a:endParaRPr>
            </a:p>
          </p:txBody>
        </p:sp>
      </p:grpSp>
      <p:sp>
        <p:nvSpPr>
          <p:cNvPr id="129055" name="Text Box 31"/>
          <p:cNvSpPr txBox="1">
            <a:spLocks noChangeArrowheads="1"/>
          </p:cNvSpPr>
          <p:nvPr/>
        </p:nvSpPr>
        <p:spPr bwMode="auto">
          <a:xfrm>
            <a:off x="341313" y="2146300"/>
            <a:ext cx="88026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规定：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直线与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H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面的交点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水平迹点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直线与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V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面的交点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正面迹点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直线与 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W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面的交点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侧面迹点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S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29056" name="Text Box 32"/>
          <p:cNvSpPr txBox="1">
            <a:spLocks noChangeArrowheads="1"/>
          </p:cNvSpPr>
          <p:nvPr/>
        </p:nvSpPr>
        <p:spPr bwMode="auto">
          <a:xfrm>
            <a:off x="341313" y="1054100"/>
            <a:ext cx="88026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定义：直线与投影面的交点，称为该直线的迹点。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迹点既在直线上（或延长线上），又在投影面上。</a:t>
            </a:r>
          </a:p>
        </p:txBody>
      </p:sp>
      <p:sp>
        <p:nvSpPr>
          <p:cNvPr id="4" name="右箭头 1">
            <a:hlinkClick r:id="rId2" action="ppaction://hlinksldjump"/>
            <a:extLst>
              <a:ext uri="{FF2B5EF4-FFF2-40B4-BE49-F238E27FC236}">
                <a16:creationId xmlns:a16="http://schemas.microsoft.com/office/drawing/2014/main" id="{26CC592E-3F5C-E3E1-4DAE-1360A2AFFDB3}"/>
              </a:ext>
            </a:extLst>
          </p:cNvPr>
          <p:cNvSpPr/>
          <p:nvPr/>
        </p:nvSpPr>
        <p:spPr bwMode="auto">
          <a:xfrm>
            <a:off x="5825497" y="341822"/>
            <a:ext cx="681831" cy="36812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62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2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1" grpId="0"/>
      <p:bldP spid="129032" grpId="0" animBg="1"/>
      <p:bldP spid="129033" grpId="0" animBg="1"/>
      <p:bldP spid="129034" grpId="0" animBg="1"/>
      <p:bldP spid="129035" grpId="0" animBg="1"/>
      <p:bldP spid="129036" grpId="0" animBg="1"/>
      <p:bldP spid="129037" grpId="0" autoUpdateAnimBg="0"/>
      <p:bldP spid="129038" grpId="0" autoUpdateAnimBg="0"/>
      <p:bldP spid="129039" grpId="0" animBg="1"/>
      <p:bldP spid="129040" grpId="0" animBg="1"/>
      <p:bldP spid="129041" grpId="0" animBg="1"/>
      <p:bldP spid="129042" grpId="0" animBg="1"/>
      <p:bldP spid="129043" grpId="0" autoUpdateAnimBg="0"/>
      <p:bldP spid="129044" grpId="0" animBg="1"/>
      <p:bldP spid="129045" grpId="0" autoUpdateAnimBg="0"/>
      <p:bldP spid="129055" grpId="0" build="p" autoUpdateAnimBg="0"/>
      <p:bldP spid="12905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E69156C-E03F-4899-90B6-9F5E4F294EE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50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317500"/>
            <a:ext cx="8805862" cy="557213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§4.3 </a:t>
            </a:r>
            <a:r>
              <a:rPr lang="zh-CN" altLang="en-US" sz="32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平面的投影</a:t>
            </a:r>
            <a:endParaRPr lang="zh-CN" altLang="en-US" sz="32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338138" y="1091964"/>
            <a:ext cx="8805862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一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平面的表示方法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0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几何元素表示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48263" y="523875"/>
            <a:ext cx="3302000" cy="2674938"/>
            <a:chOff x="2949" y="1290"/>
            <a:chExt cx="2080" cy="1685"/>
          </a:xfrm>
        </p:grpSpPr>
        <p:sp>
          <p:nvSpPr>
            <p:cNvPr id="20682" name="Rectangle 5"/>
            <p:cNvSpPr>
              <a:spLocks noChangeArrowheads="1"/>
            </p:cNvSpPr>
            <p:nvPr/>
          </p:nvSpPr>
          <p:spPr bwMode="auto">
            <a:xfrm>
              <a:off x="2971" y="1292"/>
              <a:ext cx="2055" cy="1682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1">
                <a:latin typeface="ISOCPEUR" pitchFamily="34" charset="0"/>
              </a:endParaRPr>
            </a:p>
          </p:txBody>
        </p:sp>
        <p:sp>
          <p:nvSpPr>
            <p:cNvPr id="20683" name="Freeform 6"/>
            <p:cNvSpPr>
              <a:spLocks/>
            </p:cNvSpPr>
            <p:nvPr/>
          </p:nvSpPr>
          <p:spPr bwMode="auto">
            <a:xfrm>
              <a:off x="2971" y="1291"/>
              <a:ext cx="2058" cy="1684"/>
            </a:xfrm>
            <a:custGeom>
              <a:avLst/>
              <a:gdLst>
                <a:gd name="T0" fmla="*/ 5791 w 1589"/>
                <a:gd name="T1" fmla="*/ 0 h 1300"/>
                <a:gd name="T2" fmla="*/ 0 w 1589"/>
                <a:gd name="T3" fmla="*/ 0 h 1300"/>
                <a:gd name="T4" fmla="*/ 0 w 1589"/>
                <a:gd name="T5" fmla="*/ 4740 h 1300"/>
                <a:gd name="T6" fmla="*/ 0 60000 65536"/>
                <a:gd name="T7" fmla="*/ 0 60000 65536"/>
                <a:gd name="T8" fmla="*/ 0 60000 65536"/>
                <a:gd name="T9" fmla="*/ 0 w 1589"/>
                <a:gd name="T10" fmla="*/ 0 h 1300"/>
                <a:gd name="T11" fmla="*/ 1589 w 1589"/>
                <a:gd name="T12" fmla="*/ 1300 h 1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300">
                  <a:moveTo>
                    <a:pt x="1589" y="0"/>
                  </a:moveTo>
                  <a:lnTo>
                    <a:pt x="0" y="0"/>
                  </a:lnTo>
                  <a:lnTo>
                    <a:pt x="0" y="130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84" name="Text Box 7"/>
            <p:cNvSpPr txBox="1">
              <a:spLocks noChangeArrowheads="1"/>
            </p:cNvSpPr>
            <p:nvPr/>
          </p:nvSpPr>
          <p:spPr bwMode="auto">
            <a:xfrm>
              <a:off x="2949" y="129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 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85" name="Line 8"/>
            <p:cNvSpPr>
              <a:spLocks noChangeShapeType="1"/>
            </p:cNvSpPr>
            <p:nvPr/>
          </p:nvSpPr>
          <p:spPr bwMode="auto">
            <a:xfrm flipH="1">
              <a:off x="2970" y="1540"/>
              <a:ext cx="2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86" name="Text Box 9"/>
            <p:cNvSpPr txBox="1">
              <a:spLocks noChangeArrowheads="1"/>
            </p:cNvSpPr>
            <p:nvPr/>
          </p:nvSpPr>
          <p:spPr bwMode="auto">
            <a:xfrm>
              <a:off x="3445" y="1446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0687" name="Line 10"/>
            <p:cNvSpPr>
              <a:spLocks noChangeShapeType="1"/>
            </p:cNvSpPr>
            <p:nvPr/>
          </p:nvSpPr>
          <p:spPr bwMode="auto">
            <a:xfrm>
              <a:off x="3205" y="1290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88" name="AutoShape 11"/>
            <p:cNvSpPr>
              <a:spLocks noChangeArrowheads="1"/>
            </p:cNvSpPr>
            <p:nvPr/>
          </p:nvSpPr>
          <p:spPr bwMode="auto">
            <a:xfrm>
              <a:off x="3636" y="167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89" name="AutoShape 12"/>
            <p:cNvSpPr>
              <a:spLocks noChangeArrowheads="1"/>
            </p:cNvSpPr>
            <p:nvPr/>
          </p:nvSpPr>
          <p:spPr bwMode="auto">
            <a:xfrm flipH="1">
              <a:off x="4429" y="1872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90" name="AutoShape 13"/>
            <p:cNvSpPr>
              <a:spLocks noChangeArrowheads="1"/>
            </p:cNvSpPr>
            <p:nvPr/>
          </p:nvSpPr>
          <p:spPr bwMode="auto">
            <a:xfrm>
              <a:off x="3276" y="258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91" name="Text Box 14"/>
            <p:cNvSpPr txBox="1">
              <a:spLocks noChangeArrowheads="1"/>
            </p:cNvSpPr>
            <p:nvPr/>
          </p:nvSpPr>
          <p:spPr bwMode="auto">
            <a:xfrm>
              <a:off x="3080" y="2361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0692" name="Text Box 15"/>
            <p:cNvSpPr txBox="1">
              <a:spLocks noChangeArrowheads="1"/>
            </p:cNvSpPr>
            <p:nvPr/>
          </p:nvSpPr>
          <p:spPr bwMode="auto">
            <a:xfrm>
              <a:off x="4448" y="1641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</p:grpSp>
      <p:sp>
        <p:nvSpPr>
          <p:cNvPr id="58451" name="Text Box 83"/>
          <p:cNvSpPr txBox="1">
            <a:spLocks noChangeArrowheads="1"/>
          </p:cNvSpPr>
          <p:nvPr/>
        </p:nvSpPr>
        <p:spPr bwMode="auto">
          <a:xfrm>
            <a:off x="2054225" y="3711575"/>
            <a:ext cx="2266950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线及线外一点</a:t>
            </a:r>
          </a:p>
        </p:txBody>
      </p:sp>
      <p:sp>
        <p:nvSpPr>
          <p:cNvPr id="58452" name="Text Box 84"/>
          <p:cNvSpPr txBox="1">
            <a:spLocks noChangeArrowheads="1"/>
          </p:cNvSpPr>
          <p:nvPr/>
        </p:nvSpPr>
        <p:spPr bwMode="auto">
          <a:xfrm>
            <a:off x="2055813" y="4246563"/>
            <a:ext cx="2039937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两平行线</a:t>
            </a:r>
          </a:p>
        </p:txBody>
      </p:sp>
      <p:sp>
        <p:nvSpPr>
          <p:cNvPr id="58453" name="Text Box 85"/>
          <p:cNvSpPr txBox="1">
            <a:spLocks noChangeArrowheads="1"/>
          </p:cNvSpPr>
          <p:nvPr/>
        </p:nvSpPr>
        <p:spPr bwMode="auto">
          <a:xfrm>
            <a:off x="2055813" y="4773613"/>
            <a:ext cx="2039937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两相交直线</a:t>
            </a:r>
          </a:p>
        </p:txBody>
      </p:sp>
      <p:sp>
        <p:nvSpPr>
          <p:cNvPr id="58454" name="Text Box 86"/>
          <p:cNvSpPr txBox="1">
            <a:spLocks noChangeArrowheads="1"/>
          </p:cNvSpPr>
          <p:nvPr/>
        </p:nvSpPr>
        <p:spPr bwMode="auto">
          <a:xfrm>
            <a:off x="2055813" y="5291138"/>
            <a:ext cx="2039937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平面图形</a:t>
            </a:r>
          </a:p>
        </p:txBody>
      </p:sp>
      <p:sp>
        <p:nvSpPr>
          <p:cNvPr id="58455" name="Text Box 87"/>
          <p:cNvSpPr txBox="1">
            <a:spLocks noChangeArrowheads="1"/>
          </p:cNvSpPr>
          <p:nvPr/>
        </p:nvSpPr>
        <p:spPr bwMode="auto">
          <a:xfrm>
            <a:off x="2054225" y="3179763"/>
            <a:ext cx="2292350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不共线的三点</a:t>
            </a:r>
          </a:p>
        </p:txBody>
      </p:sp>
      <p:grpSp>
        <p:nvGrpSpPr>
          <p:cNvPr id="3" name="Group 114"/>
          <p:cNvGrpSpPr>
            <a:grpSpLocks/>
          </p:cNvGrpSpPr>
          <p:nvPr/>
        </p:nvGrpSpPr>
        <p:grpSpPr bwMode="auto">
          <a:xfrm>
            <a:off x="5151438" y="3308350"/>
            <a:ext cx="3486150" cy="3111500"/>
            <a:chOff x="3221" y="2048"/>
            <a:chExt cx="2196" cy="1960"/>
          </a:xfrm>
        </p:grpSpPr>
        <p:grpSp>
          <p:nvGrpSpPr>
            <p:cNvPr id="20663" name="Group 115"/>
            <p:cNvGrpSpPr>
              <a:grpSpLocks/>
            </p:cNvGrpSpPr>
            <p:nvPr/>
          </p:nvGrpSpPr>
          <p:grpSpPr bwMode="auto">
            <a:xfrm>
              <a:off x="3221" y="2869"/>
              <a:ext cx="2196" cy="289"/>
              <a:chOff x="3221" y="2791"/>
              <a:chExt cx="2196" cy="289"/>
            </a:xfrm>
          </p:grpSpPr>
          <p:sp>
            <p:nvSpPr>
              <p:cNvPr id="20679" name="Text Box 116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680" name="Text Box 117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681" name="Line 118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664" name="Text Box 119"/>
            <p:cNvSpPr txBox="1">
              <a:spLocks noChangeArrowheads="1"/>
            </p:cNvSpPr>
            <p:nvPr/>
          </p:nvSpPr>
          <p:spPr bwMode="auto">
            <a:xfrm>
              <a:off x="4120" y="2048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65" name="Text Box 120"/>
            <p:cNvSpPr txBox="1">
              <a:spLocks noChangeArrowheads="1"/>
            </p:cNvSpPr>
            <p:nvPr/>
          </p:nvSpPr>
          <p:spPr bwMode="auto">
            <a:xfrm>
              <a:off x="3422" y="2673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66" name="Text Box 121"/>
            <p:cNvSpPr txBox="1">
              <a:spLocks noChangeArrowheads="1"/>
            </p:cNvSpPr>
            <p:nvPr/>
          </p:nvSpPr>
          <p:spPr bwMode="auto">
            <a:xfrm>
              <a:off x="4559" y="2327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67" name="Line 122"/>
            <p:cNvSpPr>
              <a:spLocks noChangeShapeType="1"/>
            </p:cNvSpPr>
            <p:nvPr/>
          </p:nvSpPr>
          <p:spPr bwMode="auto">
            <a:xfrm>
              <a:off x="3688" y="2885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68" name="Line 123"/>
            <p:cNvSpPr>
              <a:spLocks noChangeShapeType="1"/>
            </p:cNvSpPr>
            <p:nvPr/>
          </p:nvSpPr>
          <p:spPr bwMode="auto">
            <a:xfrm>
              <a:off x="4373" y="2260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69" name="Line 124"/>
            <p:cNvSpPr>
              <a:spLocks noChangeShapeType="1"/>
            </p:cNvSpPr>
            <p:nvPr/>
          </p:nvSpPr>
          <p:spPr bwMode="auto">
            <a:xfrm>
              <a:off x="4623" y="2488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70" name="Text Box 125"/>
            <p:cNvSpPr txBox="1">
              <a:spLocks noChangeArrowheads="1"/>
            </p:cNvSpPr>
            <p:nvPr/>
          </p:nvSpPr>
          <p:spPr bwMode="auto">
            <a:xfrm>
              <a:off x="4206" y="375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671" name="Text Box 126"/>
            <p:cNvSpPr txBox="1">
              <a:spLocks noChangeArrowheads="1"/>
            </p:cNvSpPr>
            <p:nvPr/>
          </p:nvSpPr>
          <p:spPr bwMode="auto">
            <a:xfrm>
              <a:off x="3503" y="3293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672" name="Text Box 127"/>
            <p:cNvSpPr txBox="1">
              <a:spLocks noChangeArrowheads="1"/>
            </p:cNvSpPr>
            <p:nvPr/>
          </p:nvSpPr>
          <p:spPr bwMode="auto">
            <a:xfrm>
              <a:off x="4646" y="3545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673" name="AutoShape 128"/>
            <p:cNvSpPr>
              <a:spLocks noChangeArrowheads="1"/>
            </p:cNvSpPr>
            <p:nvPr/>
          </p:nvSpPr>
          <p:spPr bwMode="auto">
            <a:xfrm>
              <a:off x="4603" y="243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4" name="AutoShape 129"/>
            <p:cNvSpPr>
              <a:spLocks noChangeArrowheads="1"/>
            </p:cNvSpPr>
            <p:nvPr/>
          </p:nvSpPr>
          <p:spPr bwMode="auto">
            <a:xfrm>
              <a:off x="4608" y="367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5" name="AutoShape 130"/>
            <p:cNvSpPr>
              <a:spLocks noChangeArrowheads="1"/>
            </p:cNvSpPr>
            <p:nvPr/>
          </p:nvSpPr>
          <p:spPr bwMode="auto">
            <a:xfrm>
              <a:off x="4347" y="222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6" name="AutoShape 131"/>
            <p:cNvSpPr>
              <a:spLocks noChangeArrowheads="1"/>
            </p:cNvSpPr>
            <p:nvPr/>
          </p:nvSpPr>
          <p:spPr bwMode="auto">
            <a:xfrm>
              <a:off x="3667" y="2831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7" name="AutoShape 132"/>
            <p:cNvSpPr>
              <a:spLocks noChangeArrowheads="1"/>
            </p:cNvSpPr>
            <p:nvPr/>
          </p:nvSpPr>
          <p:spPr bwMode="auto">
            <a:xfrm>
              <a:off x="4347" y="380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78" name="AutoShape 133"/>
            <p:cNvSpPr>
              <a:spLocks noChangeArrowheads="1"/>
            </p:cNvSpPr>
            <p:nvPr/>
          </p:nvSpPr>
          <p:spPr bwMode="auto">
            <a:xfrm>
              <a:off x="3664" y="334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58553" name="Rectangle 185"/>
          <p:cNvSpPr>
            <a:spLocks noChangeArrowheads="1"/>
          </p:cNvSpPr>
          <p:nvPr/>
        </p:nvSpPr>
        <p:spPr bwMode="auto">
          <a:xfrm>
            <a:off x="1906588" y="4187825"/>
            <a:ext cx="2405062" cy="1627188"/>
          </a:xfrm>
          <a:prstGeom prst="rect">
            <a:avLst/>
          </a:prstGeom>
          <a:noFill/>
          <a:ln w="1905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5" name="Group 216"/>
          <p:cNvGrpSpPr>
            <a:grpSpLocks/>
          </p:cNvGrpSpPr>
          <p:nvPr/>
        </p:nvGrpSpPr>
        <p:grpSpPr bwMode="auto">
          <a:xfrm>
            <a:off x="5151438" y="525463"/>
            <a:ext cx="3302000" cy="2674937"/>
            <a:chOff x="3242" y="329"/>
            <a:chExt cx="2080" cy="1685"/>
          </a:xfrm>
        </p:grpSpPr>
        <p:grpSp>
          <p:nvGrpSpPr>
            <p:cNvPr id="20650" name="Group 217"/>
            <p:cNvGrpSpPr>
              <a:grpSpLocks/>
            </p:cNvGrpSpPr>
            <p:nvPr/>
          </p:nvGrpSpPr>
          <p:grpSpPr bwMode="auto">
            <a:xfrm>
              <a:off x="3242" y="329"/>
              <a:ext cx="2080" cy="1685"/>
              <a:chOff x="2949" y="1290"/>
              <a:chExt cx="2080" cy="1685"/>
            </a:xfrm>
          </p:grpSpPr>
          <p:sp>
            <p:nvSpPr>
              <p:cNvPr id="20652" name="Rectangle 218"/>
              <p:cNvSpPr>
                <a:spLocks noChangeArrowheads="1"/>
              </p:cNvSpPr>
              <p:nvPr/>
            </p:nvSpPr>
            <p:spPr bwMode="auto">
              <a:xfrm>
                <a:off x="2971" y="1292"/>
                <a:ext cx="2055" cy="168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53" name="Freeform 219"/>
              <p:cNvSpPr>
                <a:spLocks/>
              </p:cNvSpPr>
              <p:nvPr/>
            </p:nvSpPr>
            <p:spPr bwMode="auto">
              <a:xfrm>
                <a:off x="2971" y="1291"/>
                <a:ext cx="2058" cy="1684"/>
              </a:xfrm>
              <a:custGeom>
                <a:avLst/>
                <a:gdLst>
                  <a:gd name="T0" fmla="*/ 5791 w 1589"/>
                  <a:gd name="T1" fmla="*/ 0 h 1300"/>
                  <a:gd name="T2" fmla="*/ 0 w 1589"/>
                  <a:gd name="T3" fmla="*/ 0 h 1300"/>
                  <a:gd name="T4" fmla="*/ 0 w 1589"/>
                  <a:gd name="T5" fmla="*/ 4740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54" name="Text Box 220"/>
              <p:cNvSpPr txBox="1">
                <a:spLocks noChangeArrowheads="1"/>
              </p:cNvSpPr>
              <p:nvPr/>
            </p:nvSpPr>
            <p:spPr bwMode="auto">
              <a:xfrm>
                <a:off x="2949" y="1291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55" name="Line 221"/>
              <p:cNvSpPr>
                <a:spLocks noChangeShapeType="1"/>
              </p:cNvSpPr>
              <p:nvPr/>
            </p:nvSpPr>
            <p:spPr bwMode="auto">
              <a:xfrm flipH="1">
                <a:off x="2970" y="1540"/>
                <a:ext cx="2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56" name="Text Box 222"/>
              <p:cNvSpPr txBox="1">
                <a:spLocks noChangeArrowheads="1"/>
              </p:cNvSpPr>
              <p:nvPr/>
            </p:nvSpPr>
            <p:spPr bwMode="auto">
              <a:xfrm>
                <a:off x="3445" y="1446"/>
                <a:ext cx="231" cy="2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0657" name="Line 223"/>
              <p:cNvSpPr>
                <a:spLocks noChangeShapeType="1"/>
              </p:cNvSpPr>
              <p:nvPr/>
            </p:nvSpPr>
            <p:spPr bwMode="auto">
              <a:xfrm>
                <a:off x="3205" y="1290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58" name="AutoShape 224"/>
              <p:cNvSpPr>
                <a:spLocks noChangeArrowheads="1"/>
              </p:cNvSpPr>
              <p:nvPr/>
            </p:nvSpPr>
            <p:spPr bwMode="auto">
              <a:xfrm>
                <a:off x="3636" y="1674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59" name="AutoShape 225"/>
              <p:cNvSpPr>
                <a:spLocks noChangeArrowheads="1"/>
              </p:cNvSpPr>
              <p:nvPr/>
            </p:nvSpPr>
            <p:spPr bwMode="auto">
              <a:xfrm flipH="1">
                <a:off x="4429" y="1872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60" name="AutoShape 226"/>
              <p:cNvSpPr>
                <a:spLocks noChangeArrowheads="1"/>
              </p:cNvSpPr>
              <p:nvPr/>
            </p:nvSpPr>
            <p:spPr bwMode="auto">
              <a:xfrm>
                <a:off x="3276" y="2586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61" name="Text Box 227"/>
              <p:cNvSpPr txBox="1">
                <a:spLocks noChangeArrowheads="1"/>
              </p:cNvSpPr>
              <p:nvPr/>
            </p:nvSpPr>
            <p:spPr bwMode="auto">
              <a:xfrm>
                <a:off x="3080" y="236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0662" name="Text Box 228"/>
              <p:cNvSpPr txBox="1">
                <a:spLocks noChangeArrowheads="1"/>
              </p:cNvSpPr>
              <p:nvPr/>
            </p:nvSpPr>
            <p:spPr bwMode="auto">
              <a:xfrm>
                <a:off x="4448" y="1641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</p:grpSp>
        <p:sp>
          <p:nvSpPr>
            <p:cNvPr id="20651" name="Line 229"/>
            <p:cNvSpPr>
              <a:spLocks noChangeShapeType="1"/>
            </p:cNvSpPr>
            <p:nvPr/>
          </p:nvSpPr>
          <p:spPr bwMode="auto">
            <a:xfrm flipH="1">
              <a:off x="3605" y="759"/>
              <a:ext cx="340" cy="8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230"/>
          <p:cNvGrpSpPr>
            <a:grpSpLocks/>
          </p:cNvGrpSpPr>
          <p:nvPr/>
        </p:nvGrpSpPr>
        <p:grpSpPr bwMode="auto">
          <a:xfrm>
            <a:off x="5154613" y="3303588"/>
            <a:ext cx="3486150" cy="3111500"/>
            <a:chOff x="3245" y="2084"/>
            <a:chExt cx="2196" cy="1960"/>
          </a:xfrm>
        </p:grpSpPr>
        <p:sp>
          <p:nvSpPr>
            <p:cNvPr id="20629" name="Line 231"/>
            <p:cNvSpPr>
              <a:spLocks noChangeShapeType="1"/>
            </p:cNvSpPr>
            <p:nvPr/>
          </p:nvSpPr>
          <p:spPr bwMode="auto">
            <a:xfrm flipV="1">
              <a:off x="3716" y="2297"/>
              <a:ext cx="661" cy="5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0" name="Line 232"/>
            <p:cNvSpPr>
              <a:spLocks noChangeShapeType="1"/>
            </p:cNvSpPr>
            <p:nvPr/>
          </p:nvSpPr>
          <p:spPr bwMode="auto">
            <a:xfrm>
              <a:off x="3731" y="3411"/>
              <a:ext cx="653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631" name="Group 233"/>
            <p:cNvGrpSpPr>
              <a:grpSpLocks/>
            </p:cNvGrpSpPr>
            <p:nvPr/>
          </p:nvGrpSpPr>
          <p:grpSpPr bwMode="auto">
            <a:xfrm>
              <a:off x="3245" y="2905"/>
              <a:ext cx="2196" cy="289"/>
              <a:chOff x="3221" y="2791"/>
              <a:chExt cx="2196" cy="289"/>
            </a:xfrm>
          </p:grpSpPr>
          <p:sp>
            <p:nvSpPr>
              <p:cNvPr id="20647" name="Text Box 234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648" name="Text Box 235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649" name="Line 236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632" name="Text Box 237"/>
            <p:cNvSpPr txBox="1">
              <a:spLocks noChangeArrowheads="1"/>
            </p:cNvSpPr>
            <p:nvPr/>
          </p:nvSpPr>
          <p:spPr bwMode="auto">
            <a:xfrm>
              <a:off x="4144" y="2084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33" name="Text Box 238"/>
            <p:cNvSpPr txBox="1">
              <a:spLocks noChangeArrowheads="1"/>
            </p:cNvSpPr>
            <p:nvPr/>
          </p:nvSpPr>
          <p:spPr bwMode="auto">
            <a:xfrm>
              <a:off x="3446" y="2709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34" name="Text Box 239"/>
            <p:cNvSpPr txBox="1">
              <a:spLocks noChangeArrowheads="1"/>
            </p:cNvSpPr>
            <p:nvPr/>
          </p:nvSpPr>
          <p:spPr bwMode="auto">
            <a:xfrm>
              <a:off x="4583" y="2363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635" name="Line 240"/>
            <p:cNvSpPr>
              <a:spLocks noChangeShapeType="1"/>
            </p:cNvSpPr>
            <p:nvPr/>
          </p:nvSpPr>
          <p:spPr bwMode="auto">
            <a:xfrm>
              <a:off x="3712" y="2921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6" name="Line 241"/>
            <p:cNvSpPr>
              <a:spLocks noChangeShapeType="1"/>
            </p:cNvSpPr>
            <p:nvPr/>
          </p:nvSpPr>
          <p:spPr bwMode="auto">
            <a:xfrm>
              <a:off x="4397" y="2296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7" name="Line 242"/>
            <p:cNvSpPr>
              <a:spLocks noChangeShapeType="1"/>
            </p:cNvSpPr>
            <p:nvPr/>
          </p:nvSpPr>
          <p:spPr bwMode="auto">
            <a:xfrm>
              <a:off x="4647" y="2524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38" name="Text Box 243"/>
            <p:cNvSpPr txBox="1">
              <a:spLocks noChangeArrowheads="1"/>
            </p:cNvSpPr>
            <p:nvPr/>
          </p:nvSpPr>
          <p:spPr bwMode="auto">
            <a:xfrm>
              <a:off x="4230" y="3794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639" name="Text Box 244"/>
            <p:cNvSpPr txBox="1">
              <a:spLocks noChangeArrowheads="1"/>
            </p:cNvSpPr>
            <p:nvPr/>
          </p:nvSpPr>
          <p:spPr bwMode="auto">
            <a:xfrm>
              <a:off x="3527" y="332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640" name="Text Box 245"/>
            <p:cNvSpPr txBox="1">
              <a:spLocks noChangeArrowheads="1"/>
            </p:cNvSpPr>
            <p:nvPr/>
          </p:nvSpPr>
          <p:spPr bwMode="auto">
            <a:xfrm>
              <a:off x="4670" y="3581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641" name="AutoShape 246"/>
            <p:cNvSpPr>
              <a:spLocks noChangeArrowheads="1"/>
            </p:cNvSpPr>
            <p:nvPr/>
          </p:nvSpPr>
          <p:spPr bwMode="auto">
            <a:xfrm>
              <a:off x="4627" y="2472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2" name="AutoShape 247"/>
            <p:cNvSpPr>
              <a:spLocks noChangeArrowheads="1"/>
            </p:cNvSpPr>
            <p:nvPr/>
          </p:nvSpPr>
          <p:spPr bwMode="auto">
            <a:xfrm>
              <a:off x="4632" y="3713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3" name="AutoShape 248"/>
            <p:cNvSpPr>
              <a:spLocks noChangeArrowheads="1"/>
            </p:cNvSpPr>
            <p:nvPr/>
          </p:nvSpPr>
          <p:spPr bwMode="auto">
            <a:xfrm>
              <a:off x="4371" y="2260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4" name="AutoShape 249"/>
            <p:cNvSpPr>
              <a:spLocks noChangeArrowheads="1"/>
            </p:cNvSpPr>
            <p:nvPr/>
          </p:nvSpPr>
          <p:spPr bwMode="auto">
            <a:xfrm>
              <a:off x="3691" y="286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5" name="AutoShape 250"/>
            <p:cNvSpPr>
              <a:spLocks noChangeArrowheads="1"/>
            </p:cNvSpPr>
            <p:nvPr/>
          </p:nvSpPr>
          <p:spPr bwMode="auto">
            <a:xfrm>
              <a:off x="4371" y="3840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46" name="AutoShape 251"/>
            <p:cNvSpPr>
              <a:spLocks noChangeArrowheads="1"/>
            </p:cNvSpPr>
            <p:nvPr/>
          </p:nvSpPr>
          <p:spPr bwMode="auto">
            <a:xfrm>
              <a:off x="3688" y="3381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9" name="Group 252"/>
          <p:cNvGrpSpPr>
            <a:grpSpLocks/>
          </p:cNvGrpSpPr>
          <p:nvPr/>
        </p:nvGrpSpPr>
        <p:grpSpPr bwMode="auto">
          <a:xfrm>
            <a:off x="5148263" y="527050"/>
            <a:ext cx="3302000" cy="2674938"/>
            <a:chOff x="3250" y="327"/>
            <a:chExt cx="2080" cy="1685"/>
          </a:xfrm>
        </p:grpSpPr>
        <p:grpSp>
          <p:nvGrpSpPr>
            <p:cNvPr id="20613" name="Group 253"/>
            <p:cNvGrpSpPr>
              <a:grpSpLocks/>
            </p:cNvGrpSpPr>
            <p:nvPr/>
          </p:nvGrpSpPr>
          <p:grpSpPr bwMode="auto">
            <a:xfrm>
              <a:off x="3250" y="327"/>
              <a:ext cx="2080" cy="1685"/>
              <a:chOff x="2949" y="1290"/>
              <a:chExt cx="2080" cy="1685"/>
            </a:xfrm>
          </p:grpSpPr>
          <p:sp>
            <p:nvSpPr>
              <p:cNvPr id="20618" name="Rectangle 254"/>
              <p:cNvSpPr>
                <a:spLocks noChangeArrowheads="1"/>
              </p:cNvSpPr>
              <p:nvPr/>
            </p:nvSpPr>
            <p:spPr bwMode="auto">
              <a:xfrm>
                <a:off x="2971" y="1292"/>
                <a:ext cx="2055" cy="168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19" name="Freeform 255"/>
              <p:cNvSpPr>
                <a:spLocks/>
              </p:cNvSpPr>
              <p:nvPr/>
            </p:nvSpPr>
            <p:spPr bwMode="auto">
              <a:xfrm>
                <a:off x="2971" y="1291"/>
                <a:ext cx="2058" cy="1684"/>
              </a:xfrm>
              <a:custGeom>
                <a:avLst/>
                <a:gdLst>
                  <a:gd name="T0" fmla="*/ 5791 w 1589"/>
                  <a:gd name="T1" fmla="*/ 0 h 1300"/>
                  <a:gd name="T2" fmla="*/ 0 w 1589"/>
                  <a:gd name="T3" fmla="*/ 0 h 1300"/>
                  <a:gd name="T4" fmla="*/ 0 w 1589"/>
                  <a:gd name="T5" fmla="*/ 4740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620" name="Text Box 256"/>
              <p:cNvSpPr txBox="1">
                <a:spLocks noChangeArrowheads="1"/>
              </p:cNvSpPr>
              <p:nvPr/>
            </p:nvSpPr>
            <p:spPr bwMode="auto">
              <a:xfrm>
                <a:off x="2949" y="1291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621" name="Line 257"/>
              <p:cNvSpPr>
                <a:spLocks noChangeShapeType="1"/>
              </p:cNvSpPr>
              <p:nvPr/>
            </p:nvSpPr>
            <p:spPr bwMode="auto">
              <a:xfrm flipH="1">
                <a:off x="2970" y="1540"/>
                <a:ext cx="2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22" name="Text Box 258"/>
              <p:cNvSpPr txBox="1">
                <a:spLocks noChangeArrowheads="1"/>
              </p:cNvSpPr>
              <p:nvPr/>
            </p:nvSpPr>
            <p:spPr bwMode="auto">
              <a:xfrm>
                <a:off x="3445" y="1446"/>
                <a:ext cx="231" cy="2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0623" name="Line 259"/>
              <p:cNvSpPr>
                <a:spLocks noChangeShapeType="1"/>
              </p:cNvSpPr>
              <p:nvPr/>
            </p:nvSpPr>
            <p:spPr bwMode="auto">
              <a:xfrm>
                <a:off x="3205" y="1290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624" name="AutoShape 260"/>
              <p:cNvSpPr>
                <a:spLocks noChangeArrowheads="1"/>
              </p:cNvSpPr>
              <p:nvPr/>
            </p:nvSpPr>
            <p:spPr bwMode="auto">
              <a:xfrm>
                <a:off x="3636" y="1674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25" name="AutoShape 261"/>
              <p:cNvSpPr>
                <a:spLocks noChangeArrowheads="1"/>
              </p:cNvSpPr>
              <p:nvPr/>
            </p:nvSpPr>
            <p:spPr bwMode="auto">
              <a:xfrm flipH="1">
                <a:off x="4429" y="1872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26" name="AutoShape 262"/>
              <p:cNvSpPr>
                <a:spLocks noChangeArrowheads="1"/>
              </p:cNvSpPr>
              <p:nvPr/>
            </p:nvSpPr>
            <p:spPr bwMode="auto">
              <a:xfrm>
                <a:off x="3276" y="2586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627" name="Text Box 263"/>
              <p:cNvSpPr txBox="1">
                <a:spLocks noChangeArrowheads="1"/>
              </p:cNvSpPr>
              <p:nvPr/>
            </p:nvSpPr>
            <p:spPr bwMode="auto">
              <a:xfrm>
                <a:off x="3080" y="236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0628" name="Text Box 264"/>
              <p:cNvSpPr txBox="1">
                <a:spLocks noChangeArrowheads="1"/>
              </p:cNvSpPr>
              <p:nvPr/>
            </p:nvSpPr>
            <p:spPr bwMode="auto">
              <a:xfrm>
                <a:off x="4448" y="1641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</p:grpSp>
        <p:sp>
          <p:nvSpPr>
            <p:cNvPr id="20614" name="Line 265"/>
            <p:cNvSpPr>
              <a:spLocks noChangeShapeType="1"/>
            </p:cNvSpPr>
            <p:nvPr/>
          </p:nvSpPr>
          <p:spPr bwMode="auto">
            <a:xfrm flipH="1">
              <a:off x="3613" y="757"/>
              <a:ext cx="340" cy="8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15" name="Line 266"/>
            <p:cNvSpPr>
              <a:spLocks noChangeShapeType="1"/>
            </p:cNvSpPr>
            <p:nvPr/>
          </p:nvSpPr>
          <p:spPr bwMode="auto">
            <a:xfrm flipH="1">
              <a:off x="4465" y="957"/>
              <a:ext cx="280" cy="716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616" name="AutoShape 267"/>
            <p:cNvSpPr>
              <a:spLocks noChangeArrowheads="1"/>
            </p:cNvSpPr>
            <p:nvPr/>
          </p:nvSpPr>
          <p:spPr bwMode="auto">
            <a:xfrm>
              <a:off x="4437" y="1662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17" name="Text Box 268"/>
            <p:cNvSpPr txBox="1">
              <a:spLocks noChangeArrowheads="1"/>
            </p:cNvSpPr>
            <p:nvPr/>
          </p:nvSpPr>
          <p:spPr bwMode="auto">
            <a:xfrm>
              <a:off x="4480" y="1565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</a:p>
          </p:txBody>
        </p:sp>
      </p:grpSp>
      <p:grpSp>
        <p:nvGrpSpPr>
          <p:cNvPr id="11" name="Group 269"/>
          <p:cNvGrpSpPr>
            <a:grpSpLocks/>
          </p:cNvGrpSpPr>
          <p:nvPr/>
        </p:nvGrpSpPr>
        <p:grpSpPr bwMode="auto">
          <a:xfrm>
            <a:off x="5164138" y="3302000"/>
            <a:ext cx="3486150" cy="3111500"/>
            <a:chOff x="3253" y="2080"/>
            <a:chExt cx="2196" cy="1960"/>
          </a:xfrm>
        </p:grpSpPr>
        <p:sp>
          <p:nvSpPr>
            <p:cNvPr id="20585" name="Line 270"/>
            <p:cNvSpPr>
              <a:spLocks noChangeShapeType="1"/>
            </p:cNvSpPr>
            <p:nvPr/>
          </p:nvSpPr>
          <p:spPr bwMode="auto">
            <a:xfrm flipH="1">
              <a:off x="4088" y="2504"/>
              <a:ext cx="558" cy="493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6" name="Text Box 271"/>
            <p:cNvSpPr txBox="1">
              <a:spLocks noChangeArrowheads="1"/>
            </p:cNvSpPr>
            <p:nvPr/>
          </p:nvSpPr>
          <p:spPr bwMode="auto">
            <a:xfrm>
              <a:off x="4027" y="2873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87" name="Line 272"/>
            <p:cNvSpPr>
              <a:spLocks noChangeShapeType="1"/>
            </p:cNvSpPr>
            <p:nvPr/>
          </p:nvSpPr>
          <p:spPr bwMode="auto">
            <a:xfrm>
              <a:off x="4086" y="2998"/>
              <a:ext cx="4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8" name="Line 273"/>
            <p:cNvSpPr>
              <a:spLocks noChangeShapeType="1"/>
            </p:cNvSpPr>
            <p:nvPr/>
          </p:nvSpPr>
          <p:spPr bwMode="auto">
            <a:xfrm>
              <a:off x="4086" y="3329"/>
              <a:ext cx="592" cy="405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9" name="Text Box 274"/>
            <p:cNvSpPr txBox="1">
              <a:spLocks noChangeArrowheads="1"/>
            </p:cNvSpPr>
            <p:nvPr/>
          </p:nvSpPr>
          <p:spPr bwMode="auto">
            <a:xfrm>
              <a:off x="3982" y="3135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  <p:sp>
          <p:nvSpPr>
            <p:cNvPr id="20590" name="Line 275"/>
            <p:cNvSpPr>
              <a:spLocks noChangeShapeType="1"/>
            </p:cNvSpPr>
            <p:nvPr/>
          </p:nvSpPr>
          <p:spPr bwMode="auto">
            <a:xfrm flipV="1">
              <a:off x="3724" y="2293"/>
              <a:ext cx="661" cy="5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1" name="Line 276"/>
            <p:cNvSpPr>
              <a:spLocks noChangeShapeType="1"/>
            </p:cNvSpPr>
            <p:nvPr/>
          </p:nvSpPr>
          <p:spPr bwMode="auto">
            <a:xfrm>
              <a:off x="3739" y="3407"/>
              <a:ext cx="653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92" name="Group 277"/>
            <p:cNvGrpSpPr>
              <a:grpSpLocks/>
            </p:cNvGrpSpPr>
            <p:nvPr/>
          </p:nvGrpSpPr>
          <p:grpSpPr bwMode="auto">
            <a:xfrm>
              <a:off x="3253" y="2901"/>
              <a:ext cx="2196" cy="289"/>
              <a:chOff x="3221" y="2791"/>
              <a:chExt cx="2196" cy="289"/>
            </a:xfrm>
          </p:grpSpPr>
          <p:sp>
            <p:nvSpPr>
              <p:cNvPr id="20610" name="Text Box 278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611" name="Text Box 279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612" name="Line 280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93" name="Text Box 281"/>
            <p:cNvSpPr txBox="1">
              <a:spLocks noChangeArrowheads="1"/>
            </p:cNvSpPr>
            <p:nvPr/>
          </p:nvSpPr>
          <p:spPr bwMode="auto">
            <a:xfrm>
              <a:off x="4152" y="208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94" name="Text Box 282"/>
            <p:cNvSpPr txBox="1">
              <a:spLocks noChangeArrowheads="1"/>
            </p:cNvSpPr>
            <p:nvPr/>
          </p:nvSpPr>
          <p:spPr bwMode="auto">
            <a:xfrm>
              <a:off x="3454" y="2705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95" name="Text Box 283"/>
            <p:cNvSpPr txBox="1">
              <a:spLocks noChangeArrowheads="1"/>
            </p:cNvSpPr>
            <p:nvPr/>
          </p:nvSpPr>
          <p:spPr bwMode="auto">
            <a:xfrm>
              <a:off x="4591" y="2359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96" name="Line 284"/>
            <p:cNvSpPr>
              <a:spLocks noChangeShapeType="1"/>
            </p:cNvSpPr>
            <p:nvPr/>
          </p:nvSpPr>
          <p:spPr bwMode="auto">
            <a:xfrm>
              <a:off x="3720" y="2917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7" name="Line 285"/>
            <p:cNvSpPr>
              <a:spLocks noChangeShapeType="1"/>
            </p:cNvSpPr>
            <p:nvPr/>
          </p:nvSpPr>
          <p:spPr bwMode="auto">
            <a:xfrm>
              <a:off x="4405" y="2292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8" name="Line 286"/>
            <p:cNvSpPr>
              <a:spLocks noChangeShapeType="1"/>
            </p:cNvSpPr>
            <p:nvPr/>
          </p:nvSpPr>
          <p:spPr bwMode="auto">
            <a:xfrm>
              <a:off x="4655" y="2520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99" name="Text Box 287"/>
            <p:cNvSpPr txBox="1">
              <a:spLocks noChangeArrowheads="1"/>
            </p:cNvSpPr>
            <p:nvPr/>
          </p:nvSpPr>
          <p:spPr bwMode="auto">
            <a:xfrm>
              <a:off x="4238" y="3790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600" name="Text Box 288"/>
            <p:cNvSpPr txBox="1">
              <a:spLocks noChangeArrowheads="1"/>
            </p:cNvSpPr>
            <p:nvPr/>
          </p:nvSpPr>
          <p:spPr bwMode="auto">
            <a:xfrm>
              <a:off x="3535" y="332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601" name="Text Box 289"/>
            <p:cNvSpPr txBox="1">
              <a:spLocks noChangeArrowheads="1"/>
            </p:cNvSpPr>
            <p:nvPr/>
          </p:nvSpPr>
          <p:spPr bwMode="auto">
            <a:xfrm>
              <a:off x="4678" y="3577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602" name="AutoShape 290"/>
            <p:cNvSpPr>
              <a:spLocks noChangeArrowheads="1"/>
            </p:cNvSpPr>
            <p:nvPr/>
          </p:nvSpPr>
          <p:spPr bwMode="auto">
            <a:xfrm>
              <a:off x="4635" y="2468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3" name="AutoShape 291"/>
            <p:cNvSpPr>
              <a:spLocks noChangeArrowheads="1"/>
            </p:cNvSpPr>
            <p:nvPr/>
          </p:nvSpPr>
          <p:spPr bwMode="auto">
            <a:xfrm>
              <a:off x="4640" y="3709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4" name="AutoShape 292"/>
            <p:cNvSpPr>
              <a:spLocks noChangeArrowheads="1"/>
            </p:cNvSpPr>
            <p:nvPr/>
          </p:nvSpPr>
          <p:spPr bwMode="auto">
            <a:xfrm>
              <a:off x="4379" y="225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5" name="AutoShape 293"/>
            <p:cNvSpPr>
              <a:spLocks noChangeArrowheads="1"/>
            </p:cNvSpPr>
            <p:nvPr/>
          </p:nvSpPr>
          <p:spPr bwMode="auto">
            <a:xfrm>
              <a:off x="3699" y="2863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6" name="AutoShape 294"/>
            <p:cNvSpPr>
              <a:spLocks noChangeArrowheads="1"/>
            </p:cNvSpPr>
            <p:nvPr/>
          </p:nvSpPr>
          <p:spPr bwMode="auto">
            <a:xfrm>
              <a:off x="4379" y="383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7" name="AutoShape 295"/>
            <p:cNvSpPr>
              <a:spLocks noChangeArrowheads="1"/>
            </p:cNvSpPr>
            <p:nvPr/>
          </p:nvSpPr>
          <p:spPr bwMode="auto">
            <a:xfrm>
              <a:off x="3696" y="337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8" name="AutoShape 296"/>
            <p:cNvSpPr>
              <a:spLocks noChangeArrowheads="1"/>
            </p:cNvSpPr>
            <p:nvPr/>
          </p:nvSpPr>
          <p:spPr bwMode="auto">
            <a:xfrm>
              <a:off x="4063" y="297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609" name="AutoShape 297"/>
            <p:cNvSpPr>
              <a:spLocks noChangeArrowheads="1"/>
            </p:cNvSpPr>
            <p:nvPr/>
          </p:nvSpPr>
          <p:spPr bwMode="auto">
            <a:xfrm>
              <a:off x="4065" y="330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3" name="Group 298"/>
          <p:cNvGrpSpPr>
            <a:grpSpLocks/>
          </p:cNvGrpSpPr>
          <p:nvPr/>
        </p:nvGrpSpPr>
        <p:grpSpPr bwMode="auto">
          <a:xfrm>
            <a:off x="5153025" y="527050"/>
            <a:ext cx="3302000" cy="2674938"/>
            <a:chOff x="3242" y="330"/>
            <a:chExt cx="2080" cy="1685"/>
          </a:xfrm>
        </p:grpSpPr>
        <p:sp>
          <p:nvSpPr>
            <p:cNvPr id="20570" name="Rectangle 299"/>
            <p:cNvSpPr>
              <a:spLocks noChangeArrowheads="1"/>
            </p:cNvSpPr>
            <p:nvPr/>
          </p:nvSpPr>
          <p:spPr bwMode="auto">
            <a:xfrm>
              <a:off x="3264" y="332"/>
              <a:ext cx="2055" cy="1682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b="0" i="1">
                <a:latin typeface="ISOCPEUR" pitchFamily="34" charset="0"/>
              </a:endParaRPr>
            </a:p>
          </p:txBody>
        </p:sp>
        <p:sp>
          <p:nvSpPr>
            <p:cNvPr id="20571" name="Freeform 300"/>
            <p:cNvSpPr>
              <a:spLocks/>
            </p:cNvSpPr>
            <p:nvPr/>
          </p:nvSpPr>
          <p:spPr bwMode="auto">
            <a:xfrm>
              <a:off x="3264" y="331"/>
              <a:ext cx="2058" cy="1684"/>
            </a:xfrm>
            <a:custGeom>
              <a:avLst/>
              <a:gdLst>
                <a:gd name="T0" fmla="*/ 5791 w 1589"/>
                <a:gd name="T1" fmla="*/ 0 h 1300"/>
                <a:gd name="T2" fmla="*/ 0 w 1589"/>
                <a:gd name="T3" fmla="*/ 0 h 1300"/>
                <a:gd name="T4" fmla="*/ 0 w 1589"/>
                <a:gd name="T5" fmla="*/ 4740 h 1300"/>
                <a:gd name="T6" fmla="*/ 0 60000 65536"/>
                <a:gd name="T7" fmla="*/ 0 60000 65536"/>
                <a:gd name="T8" fmla="*/ 0 60000 65536"/>
                <a:gd name="T9" fmla="*/ 0 w 1589"/>
                <a:gd name="T10" fmla="*/ 0 h 1300"/>
                <a:gd name="T11" fmla="*/ 1589 w 1589"/>
                <a:gd name="T12" fmla="*/ 1300 h 1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300">
                  <a:moveTo>
                    <a:pt x="1589" y="0"/>
                  </a:moveTo>
                  <a:lnTo>
                    <a:pt x="0" y="0"/>
                  </a:lnTo>
                  <a:lnTo>
                    <a:pt x="0" y="130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2" name="Text Box 301"/>
            <p:cNvSpPr txBox="1">
              <a:spLocks noChangeArrowheads="1"/>
            </p:cNvSpPr>
            <p:nvPr/>
          </p:nvSpPr>
          <p:spPr bwMode="auto">
            <a:xfrm>
              <a:off x="3242" y="331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P 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73" name="Line 302"/>
            <p:cNvSpPr>
              <a:spLocks noChangeShapeType="1"/>
            </p:cNvSpPr>
            <p:nvPr/>
          </p:nvSpPr>
          <p:spPr bwMode="auto">
            <a:xfrm flipH="1">
              <a:off x="3263" y="580"/>
              <a:ext cx="2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4" name="Text Box 303"/>
            <p:cNvSpPr txBox="1">
              <a:spLocks noChangeArrowheads="1"/>
            </p:cNvSpPr>
            <p:nvPr/>
          </p:nvSpPr>
          <p:spPr bwMode="auto">
            <a:xfrm>
              <a:off x="3738" y="486"/>
              <a:ext cx="231" cy="2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A</a:t>
              </a:r>
            </a:p>
          </p:txBody>
        </p:sp>
        <p:sp>
          <p:nvSpPr>
            <p:cNvPr id="20575" name="Line 304"/>
            <p:cNvSpPr>
              <a:spLocks noChangeShapeType="1"/>
            </p:cNvSpPr>
            <p:nvPr/>
          </p:nvSpPr>
          <p:spPr bwMode="auto">
            <a:xfrm>
              <a:off x="3498" y="330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76" name="AutoShape 305"/>
            <p:cNvSpPr>
              <a:spLocks noChangeArrowheads="1"/>
            </p:cNvSpPr>
            <p:nvPr/>
          </p:nvSpPr>
          <p:spPr bwMode="auto">
            <a:xfrm>
              <a:off x="3929" y="714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77" name="AutoShape 306"/>
            <p:cNvSpPr>
              <a:spLocks noChangeArrowheads="1"/>
            </p:cNvSpPr>
            <p:nvPr/>
          </p:nvSpPr>
          <p:spPr bwMode="auto">
            <a:xfrm flipH="1">
              <a:off x="4722" y="912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78" name="AutoShape 307"/>
            <p:cNvSpPr>
              <a:spLocks noChangeArrowheads="1"/>
            </p:cNvSpPr>
            <p:nvPr/>
          </p:nvSpPr>
          <p:spPr bwMode="auto">
            <a:xfrm>
              <a:off x="3569" y="1626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79" name="Text Box 308"/>
            <p:cNvSpPr txBox="1">
              <a:spLocks noChangeArrowheads="1"/>
            </p:cNvSpPr>
            <p:nvPr/>
          </p:nvSpPr>
          <p:spPr bwMode="auto">
            <a:xfrm>
              <a:off x="3373" y="1401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20580" name="Text Box 309"/>
            <p:cNvSpPr txBox="1">
              <a:spLocks noChangeArrowheads="1"/>
            </p:cNvSpPr>
            <p:nvPr/>
          </p:nvSpPr>
          <p:spPr bwMode="auto">
            <a:xfrm>
              <a:off x="4741" y="681"/>
              <a:ext cx="2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C</a:t>
              </a:r>
            </a:p>
          </p:txBody>
        </p:sp>
        <p:sp>
          <p:nvSpPr>
            <p:cNvPr id="20581" name="Line 310"/>
            <p:cNvSpPr>
              <a:spLocks noChangeShapeType="1"/>
            </p:cNvSpPr>
            <p:nvPr/>
          </p:nvSpPr>
          <p:spPr bwMode="auto">
            <a:xfrm flipH="1">
              <a:off x="3617" y="948"/>
              <a:ext cx="1116" cy="6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2" name="Line 311"/>
            <p:cNvSpPr>
              <a:spLocks noChangeShapeType="1"/>
            </p:cNvSpPr>
            <p:nvPr/>
          </p:nvSpPr>
          <p:spPr bwMode="auto">
            <a:xfrm>
              <a:off x="3957" y="756"/>
              <a:ext cx="484" cy="91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83" name="Text Box 312"/>
            <p:cNvSpPr txBox="1">
              <a:spLocks noChangeArrowheads="1"/>
            </p:cNvSpPr>
            <p:nvPr/>
          </p:nvSpPr>
          <p:spPr bwMode="auto">
            <a:xfrm>
              <a:off x="4472" y="1568"/>
              <a:ext cx="219" cy="2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D</a:t>
              </a:r>
            </a:p>
          </p:txBody>
        </p:sp>
        <p:sp>
          <p:nvSpPr>
            <p:cNvPr id="20584" name="AutoShape 313"/>
            <p:cNvSpPr>
              <a:spLocks noChangeArrowheads="1"/>
            </p:cNvSpPr>
            <p:nvPr/>
          </p:nvSpPr>
          <p:spPr bwMode="auto">
            <a:xfrm>
              <a:off x="4429" y="1671"/>
              <a:ext cx="47" cy="47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grpSp>
        <p:nvGrpSpPr>
          <p:cNvPr id="14" name="Group 314"/>
          <p:cNvGrpSpPr>
            <a:grpSpLocks/>
          </p:cNvGrpSpPr>
          <p:nvPr/>
        </p:nvGrpSpPr>
        <p:grpSpPr bwMode="auto">
          <a:xfrm>
            <a:off x="5159375" y="3295650"/>
            <a:ext cx="3486150" cy="3111500"/>
            <a:chOff x="3247" y="2079"/>
            <a:chExt cx="2196" cy="1960"/>
          </a:xfrm>
        </p:grpSpPr>
        <p:sp>
          <p:nvSpPr>
            <p:cNvPr id="20541" name="Line 315"/>
            <p:cNvSpPr>
              <a:spLocks noChangeShapeType="1"/>
            </p:cNvSpPr>
            <p:nvPr/>
          </p:nvSpPr>
          <p:spPr bwMode="auto">
            <a:xfrm flipH="1">
              <a:off x="4088" y="2279"/>
              <a:ext cx="308" cy="717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2" name="Text Box 316"/>
            <p:cNvSpPr txBox="1">
              <a:spLocks noChangeArrowheads="1"/>
            </p:cNvSpPr>
            <p:nvPr/>
          </p:nvSpPr>
          <p:spPr bwMode="auto">
            <a:xfrm>
              <a:off x="3981" y="2912"/>
              <a:ext cx="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43" name="Line 317"/>
            <p:cNvSpPr>
              <a:spLocks noChangeShapeType="1"/>
            </p:cNvSpPr>
            <p:nvPr/>
          </p:nvSpPr>
          <p:spPr bwMode="auto">
            <a:xfrm>
              <a:off x="4080" y="2997"/>
              <a:ext cx="4" cy="3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4" name="Line 318"/>
            <p:cNvSpPr>
              <a:spLocks noChangeShapeType="1"/>
            </p:cNvSpPr>
            <p:nvPr/>
          </p:nvSpPr>
          <p:spPr bwMode="auto">
            <a:xfrm>
              <a:off x="4080" y="3328"/>
              <a:ext cx="320" cy="537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5" name="Text Box 319"/>
            <p:cNvSpPr txBox="1">
              <a:spLocks noChangeArrowheads="1"/>
            </p:cNvSpPr>
            <p:nvPr/>
          </p:nvSpPr>
          <p:spPr bwMode="auto">
            <a:xfrm>
              <a:off x="3944" y="3110"/>
              <a:ext cx="3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  <p:sp>
          <p:nvSpPr>
            <p:cNvPr id="20546" name="Line 320"/>
            <p:cNvSpPr>
              <a:spLocks noChangeShapeType="1"/>
            </p:cNvSpPr>
            <p:nvPr/>
          </p:nvSpPr>
          <p:spPr bwMode="auto">
            <a:xfrm flipV="1">
              <a:off x="3718" y="2498"/>
              <a:ext cx="933" cy="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47" name="Line 321"/>
            <p:cNvSpPr>
              <a:spLocks noChangeShapeType="1"/>
            </p:cNvSpPr>
            <p:nvPr/>
          </p:nvSpPr>
          <p:spPr bwMode="auto">
            <a:xfrm>
              <a:off x="3733" y="3406"/>
              <a:ext cx="933" cy="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48" name="Group 322"/>
            <p:cNvGrpSpPr>
              <a:grpSpLocks/>
            </p:cNvGrpSpPr>
            <p:nvPr/>
          </p:nvGrpSpPr>
          <p:grpSpPr bwMode="auto">
            <a:xfrm>
              <a:off x="3247" y="2900"/>
              <a:ext cx="2196" cy="289"/>
              <a:chOff x="3221" y="2791"/>
              <a:chExt cx="2196" cy="289"/>
            </a:xfrm>
          </p:grpSpPr>
          <p:sp>
            <p:nvSpPr>
              <p:cNvPr id="20567" name="Text Box 323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568" name="Text Box 324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569" name="Line 325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49" name="Text Box 326"/>
            <p:cNvSpPr txBox="1">
              <a:spLocks noChangeArrowheads="1"/>
            </p:cNvSpPr>
            <p:nvPr/>
          </p:nvSpPr>
          <p:spPr bwMode="auto">
            <a:xfrm>
              <a:off x="4146" y="2079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50" name="Text Box 327"/>
            <p:cNvSpPr txBox="1">
              <a:spLocks noChangeArrowheads="1"/>
            </p:cNvSpPr>
            <p:nvPr/>
          </p:nvSpPr>
          <p:spPr bwMode="auto">
            <a:xfrm>
              <a:off x="3448" y="2704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51" name="Text Box 328"/>
            <p:cNvSpPr txBox="1">
              <a:spLocks noChangeArrowheads="1"/>
            </p:cNvSpPr>
            <p:nvPr/>
          </p:nvSpPr>
          <p:spPr bwMode="auto">
            <a:xfrm>
              <a:off x="4585" y="2358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52" name="Line 329"/>
            <p:cNvSpPr>
              <a:spLocks noChangeShapeType="1"/>
            </p:cNvSpPr>
            <p:nvPr/>
          </p:nvSpPr>
          <p:spPr bwMode="auto">
            <a:xfrm>
              <a:off x="3714" y="2916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3" name="Line 330"/>
            <p:cNvSpPr>
              <a:spLocks noChangeShapeType="1"/>
            </p:cNvSpPr>
            <p:nvPr/>
          </p:nvSpPr>
          <p:spPr bwMode="auto">
            <a:xfrm>
              <a:off x="4399" y="2291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4" name="Line 331"/>
            <p:cNvSpPr>
              <a:spLocks noChangeShapeType="1"/>
            </p:cNvSpPr>
            <p:nvPr/>
          </p:nvSpPr>
          <p:spPr bwMode="auto">
            <a:xfrm>
              <a:off x="4649" y="2519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55" name="Text Box 332"/>
            <p:cNvSpPr txBox="1">
              <a:spLocks noChangeArrowheads="1"/>
            </p:cNvSpPr>
            <p:nvPr/>
          </p:nvSpPr>
          <p:spPr bwMode="auto">
            <a:xfrm>
              <a:off x="4232" y="378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556" name="Text Box 333"/>
            <p:cNvSpPr txBox="1">
              <a:spLocks noChangeArrowheads="1"/>
            </p:cNvSpPr>
            <p:nvPr/>
          </p:nvSpPr>
          <p:spPr bwMode="auto">
            <a:xfrm>
              <a:off x="3529" y="3324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557" name="Text Box 334"/>
            <p:cNvSpPr txBox="1">
              <a:spLocks noChangeArrowheads="1"/>
            </p:cNvSpPr>
            <p:nvPr/>
          </p:nvSpPr>
          <p:spPr bwMode="auto">
            <a:xfrm>
              <a:off x="4672" y="3576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558" name="AutoShape 335"/>
            <p:cNvSpPr>
              <a:spLocks noChangeArrowheads="1"/>
            </p:cNvSpPr>
            <p:nvPr/>
          </p:nvSpPr>
          <p:spPr bwMode="auto">
            <a:xfrm>
              <a:off x="4629" y="246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59" name="AutoShape 336"/>
            <p:cNvSpPr>
              <a:spLocks noChangeArrowheads="1"/>
            </p:cNvSpPr>
            <p:nvPr/>
          </p:nvSpPr>
          <p:spPr bwMode="auto">
            <a:xfrm>
              <a:off x="4634" y="3708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0" name="AutoShape 337"/>
            <p:cNvSpPr>
              <a:spLocks noChangeArrowheads="1"/>
            </p:cNvSpPr>
            <p:nvPr/>
          </p:nvSpPr>
          <p:spPr bwMode="auto">
            <a:xfrm>
              <a:off x="4373" y="225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1" name="AutoShape 338"/>
            <p:cNvSpPr>
              <a:spLocks noChangeArrowheads="1"/>
            </p:cNvSpPr>
            <p:nvPr/>
          </p:nvSpPr>
          <p:spPr bwMode="auto">
            <a:xfrm>
              <a:off x="3693" y="2862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2" name="AutoShape 339"/>
            <p:cNvSpPr>
              <a:spLocks noChangeArrowheads="1"/>
            </p:cNvSpPr>
            <p:nvPr/>
          </p:nvSpPr>
          <p:spPr bwMode="auto">
            <a:xfrm>
              <a:off x="4373" y="3835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3" name="AutoShape 340"/>
            <p:cNvSpPr>
              <a:spLocks noChangeArrowheads="1"/>
            </p:cNvSpPr>
            <p:nvPr/>
          </p:nvSpPr>
          <p:spPr bwMode="auto">
            <a:xfrm>
              <a:off x="3690" y="337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4" name="AutoShape 341"/>
            <p:cNvSpPr>
              <a:spLocks noChangeArrowheads="1"/>
            </p:cNvSpPr>
            <p:nvPr/>
          </p:nvSpPr>
          <p:spPr bwMode="auto">
            <a:xfrm>
              <a:off x="4057" y="297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5" name="AutoShape 342"/>
            <p:cNvSpPr>
              <a:spLocks noChangeArrowheads="1"/>
            </p:cNvSpPr>
            <p:nvPr/>
          </p:nvSpPr>
          <p:spPr bwMode="auto">
            <a:xfrm>
              <a:off x="4059" y="3306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66" name="Line 343"/>
            <p:cNvSpPr>
              <a:spLocks noChangeShapeType="1"/>
            </p:cNvSpPr>
            <p:nvPr/>
          </p:nvSpPr>
          <p:spPr bwMode="auto">
            <a:xfrm>
              <a:off x="4230" y="2688"/>
              <a:ext cx="0" cy="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Group 344"/>
          <p:cNvGrpSpPr>
            <a:grpSpLocks/>
          </p:cNvGrpSpPr>
          <p:nvPr/>
        </p:nvGrpSpPr>
        <p:grpSpPr bwMode="auto">
          <a:xfrm>
            <a:off x="5153025" y="527050"/>
            <a:ext cx="3302000" cy="2674938"/>
            <a:chOff x="3240" y="330"/>
            <a:chExt cx="2080" cy="1685"/>
          </a:xfrm>
        </p:grpSpPr>
        <p:grpSp>
          <p:nvGrpSpPr>
            <p:cNvPr id="20526" name="Group 345"/>
            <p:cNvGrpSpPr>
              <a:grpSpLocks/>
            </p:cNvGrpSpPr>
            <p:nvPr/>
          </p:nvGrpSpPr>
          <p:grpSpPr bwMode="auto">
            <a:xfrm>
              <a:off x="3240" y="330"/>
              <a:ext cx="2080" cy="1685"/>
              <a:chOff x="2949" y="1290"/>
              <a:chExt cx="2080" cy="1685"/>
            </a:xfrm>
          </p:grpSpPr>
          <p:sp>
            <p:nvSpPr>
              <p:cNvPr id="20530" name="Rectangle 346"/>
              <p:cNvSpPr>
                <a:spLocks noChangeArrowheads="1"/>
              </p:cNvSpPr>
              <p:nvPr/>
            </p:nvSpPr>
            <p:spPr bwMode="auto">
              <a:xfrm>
                <a:off x="2971" y="1292"/>
                <a:ext cx="2055" cy="1682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531" name="Freeform 347"/>
              <p:cNvSpPr>
                <a:spLocks/>
              </p:cNvSpPr>
              <p:nvPr/>
            </p:nvSpPr>
            <p:spPr bwMode="auto">
              <a:xfrm>
                <a:off x="2971" y="1291"/>
                <a:ext cx="2058" cy="1684"/>
              </a:xfrm>
              <a:custGeom>
                <a:avLst/>
                <a:gdLst>
                  <a:gd name="T0" fmla="*/ 5791 w 1589"/>
                  <a:gd name="T1" fmla="*/ 0 h 1300"/>
                  <a:gd name="T2" fmla="*/ 0 w 1589"/>
                  <a:gd name="T3" fmla="*/ 0 h 1300"/>
                  <a:gd name="T4" fmla="*/ 0 w 1589"/>
                  <a:gd name="T5" fmla="*/ 4740 h 1300"/>
                  <a:gd name="T6" fmla="*/ 0 60000 65536"/>
                  <a:gd name="T7" fmla="*/ 0 60000 65536"/>
                  <a:gd name="T8" fmla="*/ 0 60000 65536"/>
                  <a:gd name="T9" fmla="*/ 0 w 1589"/>
                  <a:gd name="T10" fmla="*/ 0 h 1300"/>
                  <a:gd name="T11" fmla="*/ 1589 w 1589"/>
                  <a:gd name="T12" fmla="*/ 1300 h 13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9" h="1300">
                    <a:moveTo>
                      <a:pt x="1589" y="0"/>
                    </a:moveTo>
                    <a:lnTo>
                      <a:pt x="0" y="0"/>
                    </a:lnTo>
                    <a:lnTo>
                      <a:pt x="0" y="1300"/>
                    </a:lnTo>
                  </a:path>
                </a:pathLst>
              </a:custGeom>
              <a:solidFill>
                <a:srgbClr val="CCCC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2" name="Text Box 348"/>
              <p:cNvSpPr txBox="1">
                <a:spLocks noChangeArrowheads="1"/>
              </p:cNvSpPr>
              <p:nvPr/>
            </p:nvSpPr>
            <p:spPr bwMode="auto">
              <a:xfrm>
                <a:off x="2949" y="1291"/>
                <a:ext cx="29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P </a:t>
                </a:r>
                <a:endParaRPr lang="en-US" altLang="zh-CN" sz="2400" b="0" i="1">
                  <a:latin typeface="ISOCPEUR" pitchFamily="34" charset="0"/>
                </a:endParaRPr>
              </a:p>
            </p:txBody>
          </p:sp>
          <p:sp>
            <p:nvSpPr>
              <p:cNvPr id="20533" name="Line 349"/>
              <p:cNvSpPr>
                <a:spLocks noChangeShapeType="1"/>
              </p:cNvSpPr>
              <p:nvPr/>
            </p:nvSpPr>
            <p:spPr bwMode="auto">
              <a:xfrm flipH="1">
                <a:off x="2970" y="1540"/>
                <a:ext cx="2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4" name="Text Box 350"/>
              <p:cNvSpPr txBox="1">
                <a:spLocks noChangeArrowheads="1"/>
              </p:cNvSpPr>
              <p:nvPr/>
            </p:nvSpPr>
            <p:spPr bwMode="auto">
              <a:xfrm>
                <a:off x="3445" y="1446"/>
                <a:ext cx="231" cy="2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20535" name="Line 351"/>
              <p:cNvSpPr>
                <a:spLocks noChangeShapeType="1"/>
              </p:cNvSpPr>
              <p:nvPr/>
            </p:nvSpPr>
            <p:spPr bwMode="auto">
              <a:xfrm>
                <a:off x="3205" y="1290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536" name="AutoShape 352"/>
              <p:cNvSpPr>
                <a:spLocks noChangeArrowheads="1"/>
              </p:cNvSpPr>
              <p:nvPr/>
            </p:nvSpPr>
            <p:spPr bwMode="auto">
              <a:xfrm>
                <a:off x="3636" y="1674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37" name="AutoShape 353"/>
              <p:cNvSpPr>
                <a:spLocks noChangeArrowheads="1"/>
              </p:cNvSpPr>
              <p:nvPr/>
            </p:nvSpPr>
            <p:spPr bwMode="auto">
              <a:xfrm flipH="1">
                <a:off x="4429" y="1872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38" name="AutoShape 354"/>
              <p:cNvSpPr>
                <a:spLocks noChangeArrowheads="1"/>
              </p:cNvSpPr>
              <p:nvPr/>
            </p:nvSpPr>
            <p:spPr bwMode="auto">
              <a:xfrm>
                <a:off x="3276" y="2586"/>
                <a:ext cx="47" cy="47"/>
              </a:xfrm>
              <a:prstGeom prst="flowChartConnector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0539" name="Text Box 355"/>
              <p:cNvSpPr txBox="1">
                <a:spLocks noChangeArrowheads="1"/>
              </p:cNvSpPr>
              <p:nvPr/>
            </p:nvSpPr>
            <p:spPr bwMode="auto">
              <a:xfrm>
                <a:off x="3080" y="236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20540" name="Text Box 356"/>
              <p:cNvSpPr txBox="1">
                <a:spLocks noChangeArrowheads="1"/>
              </p:cNvSpPr>
              <p:nvPr/>
            </p:nvSpPr>
            <p:spPr bwMode="auto">
              <a:xfrm>
                <a:off x="4448" y="1641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C</a:t>
                </a:r>
              </a:p>
            </p:txBody>
          </p:sp>
        </p:grpSp>
        <p:sp>
          <p:nvSpPr>
            <p:cNvPr id="20527" name="Line 357"/>
            <p:cNvSpPr>
              <a:spLocks noChangeShapeType="1"/>
            </p:cNvSpPr>
            <p:nvPr/>
          </p:nvSpPr>
          <p:spPr bwMode="auto">
            <a:xfrm flipH="1">
              <a:off x="3603" y="760"/>
              <a:ext cx="336" cy="8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8" name="Line 358"/>
            <p:cNvSpPr>
              <a:spLocks noChangeShapeType="1"/>
            </p:cNvSpPr>
            <p:nvPr/>
          </p:nvSpPr>
          <p:spPr bwMode="auto">
            <a:xfrm>
              <a:off x="3971" y="748"/>
              <a:ext cx="748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29" name="Line 359"/>
            <p:cNvSpPr>
              <a:spLocks noChangeShapeType="1"/>
            </p:cNvSpPr>
            <p:nvPr/>
          </p:nvSpPr>
          <p:spPr bwMode="auto">
            <a:xfrm flipV="1">
              <a:off x="3609" y="952"/>
              <a:ext cx="1116" cy="6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Group 360"/>
          <p:cNvGrpSpPr>
            <a:grpSpLocks/>
          </p:cNvGrpSpPr>
          <p:nvPr/>
        </p:nvGrpSpPr>
        <p:grpSpPr bwMode="auto">
          <a:xfrm>
            <a:off x="5159375" y="3316288"/>
            <a:ext cx="3486150" cy="3111500"/>
            <a:chOff x="3242" y="2081"/>
            <a:chExt cx="2196" cy="1960"/>
          </a:xfrm>
        </p:grpSpPr>
        <p:sp>
          <p:nvSpPr>
            <p:cNvPr id="20501" name="Text Box 361"/>
            <p:cNvSpPr txBox="1">
              <a:spLocks noChangeArrowheads="1"/>
            </p:cNvSpPr>
            <p:nvPr/>
          </p:nvSpPr>
          <p:spPr bwMode="auto">
            <a:xfrm>
              <a:off x="4141" y="2081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02" name="Line 362"/>
            <p:cNvSpPr>
              <a:spLocks noChangeShapeType="1"/>
            </p:cNvSpPr>
            <p:nvPr/>
          </p:nvSpPr>
          <p:spPr bwMode="auto">
            <a:xfrm flipH="1">
              <a:off x="3711" y="2499"/>
              <a:ext cx="936" cy="3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3" name="Line 363"/>
            <p:cNvSpPr>
              <a:spLocks noChangeShapeType="1"/>
            </p:cNvSpPr>
            <p:nvPr/>
          </p:nvSpPr>
          <p:spPr bwMode="auto">
            <a:xfrm>
              <a:off x="3711" y="3399"/>
              <a:ext cx="684" cy="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4" name="Line 364"/>
            <p:cNvSpPr>
              <a:spLocks noChangeShapeType="1"/>
            </p:cNvSpPr>
            <p:nvPr/>
          </p:nvSpPr>
          <p:spPr bwMode="auto">
            <a:xfrm>
              <a:off x="4391" y="2281"/>
              <a:ext cx="250" cy="2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5" name="Line 365"/>
            <p:cNvSpPr>
              <a:spLocks noChangeShapeType="1"/>
            </p:cNvSpPr>
            <p:nvPr/>
          </p:nvSpPr>
          <p:spPr bwMode="auto">
            <a:xfrm flipH="1">
              <a:off x="4395" y="3744"/>
              <a:ext cx="256" cy="1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6" name="Line 366"/>
            <p:cNvSpPr>
              <a:spLocks noChangeShapeType="1"/>
            </p:cNvSpPr>
            <p:nvPr/>
          </p:nvSpPr>
          <p:spPr bwMode="auto">
            <a:xfrm flipV="1">
              <a:off x="3713" y="2278"/>
              <a:ext cx="675" cy="6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7" name="Line 367"/>
            <p:cNvSpPr>
              <a:spLocks noChangeShapeType="1"/>
            </p:cNvSpPr>
            <p:nvPr/>
          </p:nvSpPr>
          <p:spPr bwMode="auto">
            <a:xfrm>
              <a:off x="3728" y="3408"/>
              <a:ext cx="933" cy="3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508" name="Group 368"/>
            <p:cNvGrpSpPr>
              <a:grpSpLocks/>
            </p:cNvGrpSpPr>
            <p:nvPr/>
          </p:nvGrpSpPr>
          <p:grpSpPr bwMode="auto">
            <a:xfrm>
              <a:off x="3242" y="2902"/>
              <a:ext cx="2196" cy="289"/>
              <a:chOff x="3221" y="2791"/>
              <a:chExt cx="2196" cy="289"/>
            </a:xfrm>
          </p:grpSpPr>
          <p:sp>
            <p:nvSpPr>
              <p:cNvPr id="20523" name="Text Box 369"/>
              <p:cNvSpPr txBox="1">
                <a:spLocks noChangeArrowheads="1"/>
              </p:cNvSpPr>
              <p:nvPr/>
            </p:nvSpPr>
            <p:spPr bwMode="auto">
              <a:xfrm>
                <a:off x="3221" y="279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20524" name="Text Box 370"/>
              <p:cNvSpPr txBox="1">
                <a:spLocks noChangeArrowheads="1"/>
              </p:cNvSpPr>
              <p:nvPr/>
            </p:nvSpPr>
            <p:spPr bwMode="auto">
              <a:xfrm>
                <a:off x="5198" y="2791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i="1"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20525" name="Line 371"/>
              <p:cNvSpPr>
                <a:spLocks noChangeShapeType="1"/>
              </p:cNvSpPr>
              <p:nvPr/>
            </p:nvSpPr>
            <p:spPr bwMode="auto">
              <a:xfrm>
                <a:off x="3400" y="3052"/>
                <a:ext cx="18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09" name="Text Box 372"/>
            <p:cNvSpPr txBox="1">
              <a:spLocks noChangeArrowheads="1"/>
            </p:cNvSpPr>
            <p:nvPr/>
          </p:nvSpPr>
          <p:spPr bwMode="auto">
            <a:xfrm>
              <a:off x="3443" y="270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10" name="Text Box 373"/>
            <p:cNvSpPr txBox="1">
              <a:spLocks noChangeArrowheads="1"/>
            </p:cNvSpPr>
            <p:nvPr/>
          </p:nvSpPr>
          <p:spPr bwMode="auto">
            <a:xfrm>
              <a:off x="4580" y="2360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 i="1">
                <a:latin typeface="ISOCPEUR" pitchFamily="34" charset="0"/>
              </a:endParaRPr>
            </a:p>
          </p:txBody>
        </p:sp>
        <p:sp>
          <p:nvSpPr>
            <p:cNvPr id="20511" name="Line 374"/>
            <p:cNvSpPr>
              <a:spLocks noChangeShapeType="1"/>
            </p:cNvSpPr>
            <p:nvPr/>
          </p:nvSpPr>
          <p:spPr bwMode="auto">
            <a:xfrm>
              <a:off x="3709" y="2918"/>
              <a:ext cx="0" cy="5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2" name="Line 375"/>
            <p:cNvSpPr>
              <a:spLocks noChangeShapeType="1"/>
            </p:cNvSpPr>
            <p:nvPr/>
          </p:nvSpPr>
          <p:spPr bwMode="auto">
            <a:xfrm>
              <a:off x="4394" y="2293"/>
              <a:ext cx="0" cy="1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3" name="Line 376"/>
            <p:cNvSpPr>
              <a:spLocks noChangeShapeType="1"/>
            </p:cNvSpPr>
            <p:nvPr/>
          </p:nvSpPr>
          <p:spPr bwMode="auto">
            <a:xfrm>
              <a:off x="4644" y="2521"/>
              <a:ext cx="0" cy="11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4" name="Text Box 377"/>
            <p:cNvSpPr txBox="1">
              <a:spLocks noChangeArrowheads="1"/>
            </p:cNvSpPr>
            <p:nvPr/>
          </p:nvSpPr>
          <p:spPr bwMode="auto">
            <a:xfrm>
              <a:off x="4227" y="3791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20515" name="Text Box 378"/>
            <p:cNvSpPr txBox="1">
              <a:spLocks noChangeArrowheads="1"/>
            </p:cNvSpPr>
            <p:nvPr/>
          </p:nvSpPr>
          <p:spPr bwMode="auto">
            <a:xfrm>
              <a:off x="3524" y="3326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20516" name="Text Box 379"/>
            <p:cNvSpPr txBox="1">
              <a:spLocks noChangeArrowheads="1"/>
            </p:cNvSpPr>
            <p:nvPr/>
          </p:nvSpPr>
          <p:spPr bwMode="auto">
            <a:xfrm>
              <a:off x="4667" y="3578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0517" name="AutoShape 380"/>
            <p:cNvSpPr>
              <a:spLocks noChangeArrowheads="1"/>
            </p:cNvSpPr>
            <p:nvPr/>
          </p:nvSpPr>
          <p:spPr bwMode="auto">
            <a:xfrm>
              <a:off x="4624" y="2469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18" name="AutoShape 381"/>
            <p:cNvSpPr>
              <a:spLocks noChangeArrowheads="1"/>
            </p:cNvSpPr>
            <p:nvPr/>
          </p:nvSpPr>
          <p:spPr bwMode="auto">
            <a:xfrm>
              <a:off x="4629" y="3710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19" name="AutoShape 382"/>
            <p:cNvSpPr>
              <a:spLocks noChangeArrowheads="1"/>
            </p:cNvSpPr>
            <p:nvPr/>
          </p:nvSpPr>
          <p:spPr bwMode="auto">
            <a:xfrm>
              <a:off x="4368" y="225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20" name="AutoShape 383"/>
            <p:cNvSpPr>
              <a:spLocks noChangeArrowheads="1"/>
            </p:cNvSpPr>
            <p:nvPr/>
          </p:nvSpPr>
          <p:spPr bwMode="auto">
            <a:xfrm>
              <a:off x="3688" y="2864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21" name="AutoShape 384"/>
            <p:cNvSpPr>
              <a:spLocks noChangeArrowheads="1"/>
            </p:cNvSpPr>
            <p:nvPr/>
          </p:nvSpPr>
          <p:spPr bwMode="auto">
            <a:xfrm>
              <a:off x="4368" y="3837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0522" name="AutoShape 385"/>
            <p:cNvSpPr>
              <a:spLocks noChangeArrowheads="1"/>
            </p:cNvSpPr>
            <p:nvPr/>
          </p:nvSpPr>
          <p:spPr bwMode="auto">
            <a:xfrm>
              <a:off x="3685" y="3378"/>
              <a:ext cx="47" cy="47"/>
            </a:xfrm>
            <a:prstGeom prst="flowChartConnector">
              <a:avLst/>
            </a:prstGeom>
            <a:solidFill>
              <a:srgbClr val="FF6600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58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58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utoUpdateAnimBg="0"/>
      <p:bldP spid="58451" grpId="0" animBg="1" autoUpdateAnimBg="0"/>
      <p:bldP spid="58452" grpId="0" animBg="1" autoUpdateAnimBg="0"/>
      <p:bldP spid="58453" grpId="0" animBg="1" autoUpdateAnimBg="0"/>
      <p:bldP spid="58454" grpId="0" animBg="1" autoUpdateAnimBg="0"/>
      <p:bldP spid="58455" grpId="0" animBg="1" autoUpdateAnimBg="0"/>
      <p:bldP spid="5855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54F4DED-7E42-40E8-BD30-D56707D3FBF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51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95325" y="2403295"/>
            <a:ext cx="4017963" cy="2959100"/>
            <a:chOff x="435" y="2110"/>
            <a:chExt cx="2531" cy="1864"/>
          </a:xfrm>
        </p:grpSpPr>
        <p:sp>
          <p:nvSpPr>
            <p:cNvPr id="21540" name="Text Box 3"/>
            <p:cNvSpPr txBox="1">
              <a:spLocks noChangeArrowheads="1"/>
            </p:cNvSpPr>
            <p:nvPr/>
          </p:nvSpPr>
          <p:spPr bwMode="auto">
            <a:xfrm>
              <a:off x="435" y="2806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 </a:t>
              </a:r>
              <a:r>
                <a:rPr lang="en-US" altLang="zh-CN" sz="1800" i="1">
                  <a:latin typeface="ISOCPEUR" pitchFamily="34" charset="0"/>
                </a:rPr>
                <a:t>X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21541" name="Line 4"/>
            <p:cNvSpPr>
              <a:spLocks noChangeShapeType="1"/>
            </p:cNvSpPr>
            <p:nvPr/>
          </p:nvSpPr>
          <p:spPr bwMode="auto">
            <a:xfrm>
              <a:off x="1832" y="2274"/>
              <a:ext cx="0" cy="15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2" name="Text Box 5"/>
            <p:cNvSpPr txBox="1">
              <a:spLocks noChangeArrowheads="1"/>
            </p:cNvSpPr>
            <p:nvPr/>
          </p:nvSpPr>
          <p:spPr bwMode="auto">
            <a:xfrm>
              <a:off x="1676" y="2110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Z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21543" name="Text Box 6"/>
            <p:cNvSpPr txBox="1">
              <a:spLocks noChangeArrowheads="1"/>
            </p:cNvSpPr>
            <p:nvPr/>
          </p:nvSpPr>
          <p:spPr bwMode="auto">
            <a:xfrm>
              <a:off x="1802" y="3743"/>
              <a:ext cx="25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2000" i="1" baseline="-10000">
                  <a:latin typeface="ISOCPEUR" pitchFamily="34" charset="0"/>
                  <a:ea typeface="仿宋_GB2312" pitchFamily="49" charset="-122"/>
                </a:rPr>
                <a:t>H</a:t>
              </a:r>
            </a:p>
          </p:txBody>
        </p:sp>
        <p:sp>
          <p:nvSpPr>
            <p:cNvPr id="21544" name="Text Box 7"/>
            <p:cNvSpPr txBox="1">
              <a:spLocks noChangeArrowheads="1"/>
            </p:cNvSpPr>
            <p:nvPr/>
          </p:nvSpPr>
          <p:spPr bwMode="auto">
            <a:xfrm>
              <a:off x="2654" y="2842"/>
              <a:ext cx="3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Y</a:t>
              </a:r>
              <a:r>
                <a:rPr lang="en-US" altLang="zh-CN" sz="1800" i="1" baseline="-25000">
                  <a:latin typeface="ISOCPEUR" pitchFamily="34" charset="0"/>
                </a:rPr>
                <a:t>W </a:t>
              </a:r>
              <a:endParaRPr lang="en-US" altLang="zh-CN" sz="2400" i="1" baseline="-25000">
                <a:latin typeface="ISOCPEUR" pitchFamily="34" charset="0"/>
              </a:endParaRPr>
            </a:p>
          </p:txBody>
        </p:sp>
        <p:sp>
          <p:nvSpPr>
            <p:cNvPr id="21545" name="Line 8"/>
            <p:cNvSpPr>
              <a:spLocks noChangeShapeType="1"/>
            </p:cNvSpPr>
            <p:nvPr/>
          </p:nvSpPr>
          <p:spPr bwMode="auto">
            <a:xfrm>
              <a:off x="615" y="3037"/>
              <a:ext cx="2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Text Box 9"/>
            <p:cNvSpPr txBox="1">
              <a:spLocks noChangeArrowheads="1"/>
            </p:cNvSpPr>
            <p:nvPr/>
          </p:nvSpPr>
          <p:spPr bwMode="auto">
            <a:xfrm>
              <a:off x="1812" y="2845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i="1">
                  <a:latin typeface="ISOCPEUR" pitchFamily="34" charset="0"/>
                </a:rPr>
                <a:t>O</a:t>
              </a:r>
            </a:p>
          </p:txBody>
        </p:sp>
      </p:grpSp>
      <p:sp>
        <p:nvSpPr>
          <p:cNvPr id="141322" name="Line 10"/>
          <p:cNvSpPr>
            <a:spLocks noChangeShapeType="1"/>
          </p:cNvSpPr>
          <p:nvPr/>
        </p:nvSpPr>
        <p:spPr bwMode="auto">
          <a:xfrm flipV="1">
            <a:off x="1409700" y="3043057"/>
            <a:ext cx="1504950" cy="831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1701800" y="3182757"/>
            <a:ext cx="511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V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24" name="Line 12"/>
          <p:cNvSpPr>
            <a:spLocks noChangeShapeType="1"/>
          </p:cNvSpPr>
          <p:nvPr/>
        </p:nvSpPr>
        <p:spPr bwMode="auto">
          <a:xfrm>
            <a:off x="1409700" y="3874907"/>
            <a:ext cx="1504950" cy="1120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325" name="Text Box 13"/>
          <p:cNvSpPr txBox="1">
            <a:spLocks noChangeArrowheads="1"/>
          </p:cNvSpPr>
          <p:nvPr/>
        </p:nvSpPr>
        <p:spPr bwMode="auto">
          <a:xfrm>
            <a:off x="2460625" y="2757307"/>
            <a:ext cx="5191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Z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1068388" y="3522482"/>
            <a:ext cx="612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X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27" name="Arc 15"/>
          <p:cNvSpPr>
            <a:spLocks/>
          </p:cNvSpPr>
          <p:nvPr/>
        </p:nvSpPr>
        <p:spPr bwMode="auto">
          <a:xfrm>
            <a:off x="2914650" y="3847920"/>
            <a:ext cx="1060450" cy="1147762"/>
          </a:xfrm>
          <a:custGeom>
            <a:avLst/>
            <a:gdLst>
              <a:gd name="T0" fmla="*/ 2147483647 w 21600"/>
              <a:gd name="T1" fmla="*/ 0 h 23391"/>
              <a:gd name="T2" fmla="*/ 2147483647 w 21600"/>
              <a:gd name="T3" fmla="*/ 2147483647 h 23391"/>
              <a:gd name="T4" fmla="*/ 0 w 21600"/>
              <a:gd name="T5" fmla="*/ 2147483647 h 23391"/>
              <a:gd name="T6" fmla="*/ 0 60000 65536"/>
              <a:gd name="T7" fmla="*/ 0 60000 65536"/>
              <a:gd name="T8" fmla="*/ 0 60000 65536"/>
              <a:gd name="T9" fmla="*/ 0 w 21600"/>
              <a:gd name="T10" fmla="*/ 0 h 23391"/>
              <a:gd name="T11" fmla="*/ 21600 w 21600"/>
              <a:gd name="T12" fmla="*/ 23391 h 233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3391" fill="none" extrusionOk="0">
                <a:moveTo>
                  <a:pt x="21525" y="0"/>
                </a:moveTo>
                <a:cubicBezTo>
                  <a:pt x="21575" y="596"/>
                  <a:pt x="21600" y="1193"/>
                  <a:pt x="21600" y="1792"/>
                </a:cubicBezTo>
                <a:cubicBezTo>
                  <a:pt x="21600" y="13650"/>
                  <a:pt x="12039" y="23291"/>
                  <a:pt x="181" y="23391"/>
                </a:cubicBezTo>
              </a:path>
              <a:path w="21600" h="23391" stroke="0" extrusionOk="0">
                <a:moveTo>
                  <a:pt x="21525" y="0"/>
                </a:moveTo>
                <a:cubicBezTo>
                  <a:pt x="21575" y="596"/>
                  <a:pt x="21600" y="1193"/>
                  <a:pt x="21600" y="1792"/>
                </a:cubicBezTo>
                <a:cubicBezTo>
                  <a:pt x="21600" y="13650"/>
                  <a:pt x="12039" y="23291"/>
                  <a:pt x="181" y="23391"/>
                </a:cubicBezTo>
                <a:lnTo>
                  <a:pt x="0" y="1792"/>
                </a:lnTo>
                <a:lnTo>
                  <a:pt x="21525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1328" name="Line 16"/>
          <p:cNvSpPr>
            <a:spLocks noChangeShapeType="1"/>
          </p:cNvSpPr>
          <p:nvPr/>
        </p:nvSpPr>
        <p:spPr bwMode="auto">
          <a:xfrm>
            <a:off x="2914650" y="3043057"/>
            <a:ext cx="1060450" cy="831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329" name="Text Box 17"/>
          <p:cNvSpPr txBox="1">
            <a:spLocks noChangeArrowheads="1"/>
          </p:cNvSpPr>
          <p:nvPr/>
        </p:nvSpPr>
        <p:spPr bwMode="auto">
          <a:xfrm>
            <a:off x="1681163" y="4294007"/>
            <a:ext cx="5318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H</a:t>
            </a:r>
          </a:p>
        </p:txBody>
      </p:sp>
      <p:sp>
        <p:nvSpPr>
          <p:cNvPr id="141330" name="Text Box 18"/>
          <p:cNvSpPr txBox="1">
            <a:spLocks noChangeArrowheads="1"/>
          </p:cNvSpPr>
          <p:nvPr/>
        </p:nvSpPr>
        <p:spPr bwMode="auto">
          <a:xfrm>
            <a:off x="2365375" y="4902020"/>
            <a:ext cx="682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Y</a:t>
            </a:r>
            <a:r>
              <a:rPr lang="en-US" altLang="zh-CN" sz="2000" i="1" baseline="-16000">
                <a:latin typeface="ISOCPEUR" pitchFamily="34" charset="0"/>
                <a:ea typeface="仿宋_GB2312" pitchFamily="49" charset="-122"/>
              </a:rPr>
              <a:t>H</a:t>
            </a:r>
          </a:p>
        </p:txBody>
      </p:sp>
      <p:sp>
        <p:nvSpPr>
          <p:cNvPr id="141331" name="Text Box 19"/>
          <p:cNvSpPr txBox="1">
            <a:spLocks noChangeArrowheads="1"/>
          </p:cNvSpPr>
          <p:nvPr/>
        </p:nvSpPr>
        <p:spPr bwMode="auto">
          <a:xfrm>
            <a:off x="3843338" y="3539945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YW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32" name="Text Box 20"/>
          <p:cNvSpPr txBox="1">
            <a:spLocks noChangeArrowheads="1"/>
          </p:cNvSpPr>
          <p:nvPr/>
        </p:nvSpPr>
        <p:spPr bwMode="auto">
          <a:xfrm>
            <a:off x="3211513" y="3114495"/>
            <a:ext cx="679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P</a:t>
            </a:r>
            <a:r>
              <a:rPr lang="en-US" altLang="zh-CN" sz="1800" i="1" baseline="-8000">
                <a:latin typeface="ISOCPEUR" pitchFamily="34" charset="0"/>
              </a:rPr>
              <a:t>W</a:t>
            </a:r>
            <a:endParaRPr lang="en-US" altLang="zh-CN" sz="2400" i="1">
              <a:latin typeface="ISOCPEUR" pitchFamily="34" charset="0"/>
            </a:endParaRPr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5132388" y="2542995"/>
            <a:ext cx="3573462" cy="3211512"/>
            <a:chOff x="3240" y="707"/>
            <a:chExt cx="2251" cy="2023"/>
          </a:xfrm>
        </p:grpSpPr>
        <p:sp>
          <p:nvSpPr>
            <p:cNvPr id="21530" name="Freeform 24"/>
            <p:cNvSpPr>
              <a:spLocks/>
            </p:cNvSpPr>
            <p:nvPr/>
          </p:nvSpPr>
          <p:spPr bwMode="auto">
            <a:xfrm>
              <a:off x="4736" y="709"/>
              <a:ext cx="749" cy="1959"/>
            </a:xfrm>
            <a:custGeom>
              <a:avLst/>
              <a:gdLst>
                <a:gd name="T0" fmla="*/ 0 w 804"/>
                <a:gd name="T1" fmla="*/ 0 h 2100"/>
                <a:gd name="T2" fmla="*/ 0 w 804"/>
                <a:gd name="T3" fmla="*/ 915 h 2100"/>
                <a:gd name="T4" fmla="*/ 565 w 804"/>
                <a:gd name="T5" fmla="*/ 1483 h 2100"/>
                <a:gd name="T6" fmla="*/ 565 w 804"/>
                <a:gd name="T7" fmla="*/ 573 h 2100"/>
                <a:gd name="T8" fmla="*/ 0 w 804"/>
                <a:gd name="T9" fmla="*/ 0 h 2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4"/>
                <a:gd name="T16" fmla="*/ 0 h 2100"/>
                <a:gd name="T17" fmla="*/ 804 w 804"/>
                <a:gd name="T18" fmla="*/ 2100 h 2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4" h="2100">
                  <a:moveTo>
                    <a:pt x="0" y="0"/>
                  </a:moveTo>
                  <a:lnTo>
                    <a:pt x="0" y="1296"/>
                  </a:lnTo>
                  <a:lnTo>
                    <a:pt x="804" y="2100"/>
                  </a:lnTo>
                  <a:lnTo>
                    <a:pt x="804" y="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Line 25"/>
            <p:cNvSpPr>
              <a:spLocks noChangeShapeType="1"/>
            </p:cNvSpPr>
            <p:nvPr/>
          </p:nvSpPr>
          <p:spPr bwMode="auto">
            <a:xfrm>
              <a:off x="4736" y="709"/>
              <a:ext cx="755" cy="7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Line 26"/>
            <p:cNvSpPr>
              <a:spLocks noChangeShapeType="1"/>
            </p:cNvSpPr>
            <p:nvPr/>
          </p:nvSpPr>
          <p:spPr bwMode="auto">
            <a:xfrm>
              <a:off x="5491" y="1464"/>
              <a:ext cx="0" cy="12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Text Box 27"/>
            <p:cNvSpPr txBox="1">
              <a:spLocks noChangeArrowheads="1"/>
            </p:cNvSpPr>
            <p:nvPr/>
          </p:nvSpPr>
          <p:spPr bwMode="auto">
            <a:xfrm>
              <a:off x="5214" y="1378"/>
              <a:ext cx="2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W</a:t>
              </a:r>
            </a:p>
          </p:txBody>
        </p:sp>
        <p:sp>
          <p:nvSpPr>
            <p:cNvPr id="21534" name="Rectangle 28"/>
            <p:cNvSpPr>
              <a:spLocks noChangeArrowheads="1"/>
            </p:cNvSpPr>
            <p:nvPr/>
          </p:nvSpPr>
          <p:spPr bwMode="auto">
            <a:xfrm>
              <a:off x="3255" y="710"/>
              <a:ext cx="1479" cy="1211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i="1">
                <a:latin typeface="ISOCPEUR" pitchFamily="34" charset="0"/>
              </a:endParaRPr>
            </a:p>
          </p:txBody>
        </p:sp>
        <p:sp>
          <p:nvSpPr>
            <p:cNvPr id="21535" name="Freeform 29"/>
            <p:cNvSpPr>
              <a:spLocks/>
            </p:cNvSpPr>
            <p:nvPr/>
          </p:nvSpPr>
          <p:spPr bwMode="auto">
            <a:xfrm>
              <a:off x="3255" y="709"/>
              <a:ext cx="1481" cy="1213"/>
            </a:xfrm>
            <a:custGeom>
              <a:avLst/>
              <a:gdLst>
                <a:gd name="T0" fmla="*/ 1118 w 1589"/>
                <a:gd name="T1" fmla="*/ 0 h 1300"/>
                <a:gd name="T2" fmla="*/ 0 w 1589"/>
                <a:gd name="T3" fmla="*/ 0 h 1300"/>
                <a:gd name="T4" fmla="*/ 0 w 1589"/>
                <a:gd name="T5" fmla="*/ 919 h 1300"/>
                <a:gd name="T6" fmla="*/ 0 60000 65536"/>
                <a:gd name="T7" fmla="*/ 0 60000 65536"/>
                <a:gd name="T8" fmla="*/ 0 60000 65536"/>
                <a:gd name="T9" fmla="*/ 0 w 1589"/>
                <a:gd name="T10" fmla="*/ 0 h 1300"/>
                <a:gd name="T11" fmla="*/ 1589 w 1589"/>
                <a:gd name="T12" fmla="*/ 1300 h 1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" h="1300">
                  <a:moveTo>
                    <a:pt x="1589" y="0"/>
                  </a:moveTo>
                  <a:lnTo>
                    <a:pt x="0" y="0"/>
                  </a:lnTo>
                  <a:lnTo>
                    <a:pt x="0" y="130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Text Box 30"/>
            <p:cNvSpPr txBox="1">
              <a:spLocks noChangeArrowheads="1"/>
            </p:cNvSpPr>
            <p:nvPr/>
          </p:nvSpPr>
          <p:spPr bwMode="auto">
            <a:xfrm>
              <a:off x="3240" y="70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V </a:t>
              </a:r>
            </a:p>
          </p:txBody>
        </p:sp>
        <p:sp>
          <p:nvSpPr>
            <p:cNvPr id="21537" name="Freeform 31"/>
            <p:cNvSpPr>
              <a:spLocks/>
            </p:cNvSpPr>
            <p:nvPr/>
          </p:nvSpPr>
          <p:spPr bwMode="auto">
            <a:xfrm>
              <a:off x="3251" y="1917"/>
              <a:ext cx="2238" cy="756"/>
            </a:xfrm>
            <a:custGeom>
              <a:avLst/>
              <a:gdLst>
                <a:gd name="T0" fmla="*/ 0 w 2400"/>
                <a:gd name="T1" fmla="*/ 0 h 810"/>
                <a:gd name="T2" fmla="*/ 1122 w 2400"/>
                <a:gd name="T3" fmla="*/ 0 h 810"/>
                <a:gd name="T4" fmla="*/ 1692 w 2400"/>
                <a:gd name="T5" fmla="*/ 574 h 810"/>
                <a:gd name="T6" fmla="*/ 575 w 2400"/>
                <a:gd name="T7" fmla="*/ 574 h 810"/>
                <a:gd name="T8" fmla="*/ 0 w 2400"/>
                <a:gd name="T9" fmla="*/ 0 h 8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0"/>
                <a:gd name="T16" fmla="*/ 0 h 810"/>
                <a:gd name="T17" fmla="*/ 2400 w 2400"/>
                <a:gd name="T18" fmla="*/ 810 h 8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0" h="810">
                  <a:moveTo>
                    <a:pt x="0" y="0"/>
                  </a:moveTo>
                  <a:lnTo>
                    <a:pt x="1590" y="0"/>
                  </a:lnTo>
                  <a:lnTo>
                    <a:pt x="2400" y="810"/>
                  </a:lnTo>
                  <a:lnTo>
                    <a:pt x="816" y="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Freeform 32"/>
            <p:cNvSpPr>
              <a:spLocks/>
            </p:cNvSpPr>
            <p:nvPr/>
          </p:nvSpPr>
          <p:spPr bwMode="auto">
            <a:xfrm>
              <a:off x="3251" y="1917"/>
              <a:ext cx="2238" cy="756"/>
            </a:xfrm>
            <a:custGeom>
              <a:avLst/>
              <a:gdLst>
                <a:gd name="T0" fmla="*/ 0 w 2400"/>
                <a:gd name="T1" fmla="*/ 0 h 810"/>
                <a:gd name="T2" fmla="*/ 571 w 2400"/>
                <a:gd name="T3" fmla="*/ 574 h 810"/>
                <a:gd name="T4" fmla="*/ 1692 w 2400"/>
                <a:gd name="T5" fmla="*/ 574 h 810"/>
                <a:gd name="T6" fmla="*/ 0 60000 65536"/>
                <a:gd name="T7" fmla="*/ 0 60000 65536"/>
                <a:gd name="T8" fmla="*/ 0 60000 65536"/>
                <a:gd name="T9" fmla="*/ 0 w 2400"/>
                <a:gd name="T10" fmla="*/ 0 h 810"/>
                <a:gd name="T11" fmla="*/ 2400 w 2400"/>
                <a:gd name="T12" fmla="*/ 810 h 8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0" h="810">
                  <a:moveTo>
                    <a:pt x="0" y="0"/>
                  </a:moveTo>
                  <a:lnTo>
                    <a:pt x="810" y="810"/>
                  </a:lnTo>
                  <a:lnTo>
                    <a:pt x="2400" y="810"/>
                  </a:lnTo>
                </a:path>
              </a:pathLst>
            </a:custGeom>
            <a:solidFill>
              <a:srgbClr val="CCCC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Text Box 33"/>
            <p:cNvSpPr txBox="1">
              <a:spLocks noChangeArrowheads="1"/>
            </p:cNvSpPr>
            <p:nvPr/>
          </p:nvSpPr>
          <p:spPr bwMode="auto">
            <a:xfrm>
              <a:off x="3972" y="244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H</a:t>
              </a:r>
            </a:p>
          </p:txBody>
        </p:sp>
      </p:grpSp>
      <p:sp>
        <p:nvSpPr>
          <p:cNvPr id="141346" name="Freeform 34"/>
          <p:cNvSpPr>
            <a:spLocks/>
          </p:cNvSpPr>
          <p:nvPr/>
        </p:nvSpPr>
        <p:spPr bwMode="auto">
          <a:xfrm>
            <a:off x="5648325" y="3306582"/>
            <a:ext cx="2619375" cy="1914525"/>
          </a:xfrm>
          <a:custGeom>
            <a:avLst/>
            <a:gdLst>
              <a:gd name="T0" fmla="*/ 2147483647 w 1650"/>
              <a:gd name="T1" fmla="*/ 2147483647 h 1206"/>
              <a:gd name="T2" fmla="*/ 2147483647 w 1650"/>
              <a:gd name="T3" fmla="*/ 0 h 1206"/>
              <a:gd name="T4" fmla="*/ 0 w 1650"/>
              <a:gd name="T5" fmla="*/ 2147483647 h 1206"/>
              <a:gd name="T6" fmla="*/ 2147483647 w 1650"/>
              <a:gd name="T7" fmla="*/ 2147483647 h 1206"/>
              <a:gd name="T8" fmla="*/ 0 60000 65536"/>
              <a:gd name="T9" fmla="*/ 0 60000 65536"/>
              <a:gd name="T10" fmla="*/ 0 60000 65536"/>
              <a:gd name="T11" fmla="*/ 0 60000 65536"/>
              <a:gd name="T12" fmla="*/ 0 w 1650"/>
              <a:gd name="T13" fmla="*/ 0 h 1206"/>
              <a:gd name="T14" fmla="*/ 1650 w 1650"/>
              <a:gd name="T15" fmla="*/ 1206 h 12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50" h="1206">
                <a:moveTo>
                  <a:pt x="1650" y="1206"/>
                </a:moveTo>
                <a:lnTo>
                  <a:pt x="1170" y="0"/>
                </a:lnTo>
                <a:lnTo>
                  <a:pt x="0" y="726"/>
                </a:lnTo>
                <a:lnTo>
                  <a:pt x="1650" y="1206"/>
                </a:lnTo>
                <a:close/>
              </a:path>
            </a:pathLst>
          </a:custGeom>
          <a:solidFill>
            <a:srgbClr val="00CC99">
              <a:alpha val="50195"/>
            </a:srgbClr>
          </a:solidFill>
          <a:ln w="28575" cap="flat" cmpd="sng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347" name="Text Box 35"/>
          <p:cNvSpPr txBox="1">
            <a:spLocks noChangeArrowheads="1"/>
          </p:cNvSpPr>
          <p:nvPr/>
        </p:nvSpPr>
        <p:spPr bwMode="auto">
          <a:xfrm>
            <a:off x="7018338" y="3897132"/>
            <a:ext cx="34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</a:p>
        </p:txBody>
      </p:sp>
      <p:sp>
        <p:nvSpPr>
          <p:cNvPr id="141348" name="Text Box 36"/>
          <p:cNvSpPr txBox="1">
            <a:spLocks noChangeArrowheads="1"/>
          </p:cNvSpPr>
          <p:nvPr/>
        </p:nvSpPr>
        <p:spPr bwMode="auto">
          <a:xfrm>
            <a:off x="6192838" y="3484382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V</a:t>
            </a:r>
            <a:endParaRPr lang="en-US" altLang="zh-CN" i="1" baseline="-10000">
              <a:latin typeface="ISOCPEUR" pitchFamily="34" charset="0"/>
            </a:endParaRPr>
          </a:p>
        </p:txBody>
      </p:sp>
      <p:sp>
        <p:nvSpPr>
          <p:cNvPr id="141349" name="Text Box 37"/>
          <p:cNvSpPr txBox="1">
            <a:spLocks noChangeArrowheads="1"/>
          </p:cNvSpPr>
          <p:nvPr/>
        </p:nvSpPr>
        <p:spPr bwMode="auto">
          <a:xfrm>
            <a:off x="6688138" y="4802007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H</a:t>
            </a:r>
            <a:endParaRPr lang="en-US" altLang="zh-CN" i="1" baseline="-10000">
              <a:latin typeface="ISOCPEUR" pitchFamily="34" charset="0"/>
            </a:endParaRPr>
          </a:p>
        </p:txBody>
      </p:sp>
      <p:sp>
        <p:nvSpPr>
          <p:cNvPr id="141350" name="Text Box 38"/>
          <p:cNvSpPr txBox="1">
            <a:spLocks noChangeArrowheads="1"/>
          </p:cNvSpPr>
          <p:nvPr/>
        </p:nvSpPr>
        <p:spPr bwMode="auto">
          <a:xfrm>
            <a:off x="7962900" y="3982857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W</a:t>
            </a:r>
            <a:endParaRPr lang="en-US" altLang="zh-CN" i="1" baseline="-10000">
              <a:latin typeface="ISOCPEUR" pitchFamily="34" charset="0"/>
            </a:endParaRPr>
          </a:p>
        </p:txBody>
      </p:sp>
      <p:sp>
        <p:nvSpPr>
          <p:cNvPr id="141351" name="Text Box 39"/>
          <p:cNvSpPr txBox="1">
            <a:spLocks noChangeArrowheads="1"/>
          </p:cNvSpPr>
          <p:nvPr/>
        </p:nvSpPr>
        <p:spPr bwMode="auto">
          <a:xfrm>
            <a:off x="5214938" y="4049532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X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52" name="Text Box 40"/>
          <p:cNvSpPr txBox="1">
            <a:spLocks noChangeArrowheads="1"/>
          </p:cNvSpPr>
          <p:nvPr/>
        </p:nvSpPr>
        <p:spPr bwMode="auto">
          <a:xfrm>
            <a:off x="7996238" y="5125857"/>
            <a:ext cx="469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Y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41353" name="Text Box 41"/>
          <p:cNvSpPr txBox="1">
            <a:spLocks noChangeArrowheads="1"/>
          </p:cNvSpPr>
          <p:nvPr/>
        </p:nvSpPr>
        <p:spPr bwMode="auto">
          <a:xfrm>
            <a:off x="7086600" y="2877957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P</a:t>
            </a:r>
            <a:r>
              <a:rPr lang="en-US" altLang="zh-CN" sz="2400" i="1" baseline="-10000">
                <a:latin typeface="ISOCPEUR" pitchFamily="34" charset="0"/>
              </a:rPr>
              <a:t>Z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21529" name="Text Box 79"/>
          <p:cNvSpPr txBox="1">
            <a:spLocks noChangeArrowheads="1"/>
          </p:cNvSpPr>
          <p:nvPr/>
        </p:nvSpPr>
        <p:spPr bwMode="auto">
          <a:xfrm>
            <a:off x="251878" y="334772"/>
            <a:ext cx="8805862" cy="191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迹线表示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（</a:t>
            </a:r>
            <a:r>
              <a:rPr lang="zh-CN" altLang="en-US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自学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迹线：平面与投影面的交线。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规定：平面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的正面、水平、侧面迹线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      分别用 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aseline="-10000" dirty="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 baseline="-10000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aseline="-10000" dirty="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 baseline="-10000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P</a:t>
            </a:r>
            <a:r>
              <a:rPr lang="en-US" altLang="zh-CN" sz="2400" baseline="-10000" dirty="0">
                <a:latin typeface="黑体" pitchFamily="2" charset="-122"/>
                <a:ea typeface="黑体" pitchFamily="2" charset="-122"/>
              </a:rPr>
              <a:t>W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表示。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874328" y="5941368"/>
            <a:ext cx="4283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 任意两条迹线表示一个平面。</a:t>
            </a:r>
          </a:p>
        </p:txBody>
      </p:sp>
      <p:sp>
        <p:nvSpPr>
          <p:cNvPr id="5" name="右箭头 1">
            <a:hlinkClick r:id="rId2" action="ppaction://hlinksldjump"/>
            <a:extLst>
              <a:ext uri="{FF2B5EF4-FFF2-40B4-BE49-F238E27FC236}">
                <a16:creationId xmlns:a16="http://schemas.microsoft.com/office/drawing/2014/main" id="{A77FEC44-BDA8-1516-7DC6-404FCEEBDF59}"/>
              </a:ext>
            </a:extLst>
          </p:cNvPr>
          <p:cNvSpPr/>
          <p:nvPr/>
        </p:nvSpPr>
        <p:spPr bwMode="auto">
          <a:xfrm>
            <a:off x="4566047" y="505716"/>
            <a:ext cx="681831" cy="36812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1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1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9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8" dur="500"/>
                                        <p:tgtEl>
                                          <p:spTgt spid="1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1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4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1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4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4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4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2" grpId="0" animBg="1"/>
      <p:bldP spid="141323" grpId="0" autoUpdateAnimBg="0"/>
      <p:bldP spid="141324" grpId="0" animBg="1"/>
      <p:bldP spid="141325" grpId="0" autoUpdateAnimBg="0"/>
      <p:bldP spid="141326" grpId="0" autoUpdateAnimBg="0"/>
      <p:bldP spid="141327" grpId="0" animBg="1"/>
      <p:bldP spid="141328" grpId="0" animBg="1"/>
      <p:bldP spid="141329" grpId="0" autoUpdateAnimBg="0"/>
      <p:bldP spid="141330" grpId="0" autoUpdateAnimBg="0"/>
      <p:bldP spid="141331" grpId="0" autoUpdateAnimBg="0"/>
      <p:bldP spid="141332" grpId="0" autoUpdateAnimBg="0"/>
      <p:bldP spid="141346" grpId="0" animBg="1"/>
      <p:bldP spid="141347" grpId="0" build="p" autoUpdateAnimBg="0" advAuto="0"/>
      <p:bldP spid="141348" grpId="0" autoUpdateAnimBg="0"/>
      <p:bldP spid="141349" grpId="0" autoUpdateAnimBg="0"/>
      <p:bldP spid="141350" grpId="0" autoUpdateAnimBg="0"/>
      <p:bldP spid="141351" grpId="0" autoUpdateAnimBg="0"/>
      <p:bldP spid="141352" grpId="0" autoUpdateAnimBg="0"/>
      <p:bldP spid="141353" grpId="0" autoUpdateAnimBg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F0E2279-D6E8-4E21-9DDB-951E8366548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52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60418" name="Line 2"/>
          <p:cNvSpPr>
            <a:spLocks noChangeShapeType="1"/>
          </p:cNvSpPr>
          <p:nvPr/>
        </p:nvSpPr>
        <p:spPr bwMode="auto">
          <a:xfrm flipV="1">
            <a:off x="5359400" y="3409950"/>
            <a:ext cx="248285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19" name="Line 3"/>
          <p:cNvSpPr>
            <a:spLocks noChangeShapeType="1"/>
          </p:cNvSpPr>
          <p:nvPr/>
        </p:nvSpPr>
        <p:spPr bwMode="auto">
          <a:xfrm flipV="1">
            <a:off x="5356225" y="2565400"/>
            <a:ext cx="242252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0" name="Line 4"/>
          <p:cNvSpPr>
            <a:spLocks noChangeShapeType="1"/>
          </p:cNvSpPr>
          <p:nvPr/>
        </p:nvSpPr>
        <p:spPr bwMode="auto">
          <a:xfrm>
            <a:off x="5284788" y="3060700"/>
            <a:ext cx="2586037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>
            <a:off x="5683250" y="2114550"/>
            <a:ext cx="0" cy="20955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6" name="AutoShape 30"/>
          <p:cNvSpPr>
            <a:spLocks noChangeArrowheads="1"/>
          </p:cNvSpPr>
          <p:nvPr/>
        </p:nvSpPr>
        <p:spPr bwMode="auto">
          <a:xfrm>
            <a:off x="6599238" y="2533650"/>
            <a:ext cx="69850" cy="69850"/>
          </a:xfrm>
          <a:prstGeom prst="flowChartConnector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60447" name="AutoShape 31"/>
          <p:cNvSpPr>
            <a:spLocks noChangeArrowheads="1"/>
          </p:cNvSpPr>
          <p:nvPr/>
        </p:nvSpPr>
        <p:spPr bwMode="auto">
          <a:xfrm>
            <a:off x="7272338" y="3024188"/>
            <a:ext cx="69850" cy="69850"/>
          </a:xfrm>
          <a:prstGeom prst="flowChartConnector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60450" name="AutoShape 34"/>
          <p:cNvSpPr>
            <a:spLocks noChangeArrowheads="1"/>
          </p:cNvSpPr>
          <p:nvPr/>
        </p:nvSpPr>
        <p:spPr bwMode="auto">
          <a:xfrm>
            <a:off x="5646738" y="3373438"/>
            <a:ext cx="69850" cy="69850"/>
          </a:xfrm>
          <a:prstGeom prst="flowChartConnector">
            <a:avLst/>
          </a:prstGeom>
          <a:solidFill>
            <a:srgbClr val="00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solidFill>
                <a:srgbClr val="FFFF00"/>
              </a:solidFill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2251075" y="1912938"/>
            <a:ext cx="5802313" cy="49450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60423" name="Freeform 7"/>
          <p:cNvSpPr>
            <a:spLocks/>
          </p:cNvSpPr>
          <p:nvPr/>
        </p:nvSpPr>
        <p:spPr bwMode="auto">
          <a:xfrm>
            <a:off x="2654300" y="2571750"/>
            <a:ext cx="2228850" cy="838200"/>
          </a:xfrm>
          <a:custGeom>
            <a:avLst/>
            <a:gdLst>
              <a:gd name="T0" fmla="*/ 2147483647 w 1452"/>
              <a:gd name="T1" fmla="*/ 2147483647 h 840"/>
              <a:gd name="T2" fmla="*/ 0 w 1452"/>
              <a:gd name="T3" fmla="*/ 0 h 840"/>
              <a:gd name="T4" fmla="*/ 2147483647 w 1452"/>
              <a:gd name="T5" fmla="*/ 2147483647 h 840"/>
              <a:gd name="T6" fmla="*/ 2147483647 w 1452"/>
              <a:gd name="T7" fmla="*/ 2147483647 h 840"/>
              <a:gd name="T8" fmla="*/ 0 60000 65536"/>
              <a:gd name="T9" fmla="*/ 0 60000 65536"/>
              <a:gd name="T10" fmla="*/ 0 60000 65536"/>
              <a:gd name="T11" fmla="*/ 0 60000 65536"/>
              <a:gd name="T12" fmla="*/ 0 w 1452"/>
              <a:gd name="T13" fmla="*/ 0 h 840"/>
              <a:gd name="T14" fmla="*/ 1452 w 1452"/>
              <a:gd name="T15" fmla="*/ 840 h 8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2" h="840">
                <a:moveTo>
                  <a:pt x="552" y="840"/>
                </a:moveTo>
                <a:lnTo>
                  <a:pt x="0" y="0"/>
                </a:lnTo>
                <a:lnTo>
                  <a:pt x="1452" y="492"/>
                </a:lnTo>
                <a:lnTo>
                  <a:pt x="552" y="84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4" name="Freeform 8"/>
          <p:cNvSpPr>
            <a:spLocks/>
          </p:cNvSpPr>
          <p:nvPr/>
        </p:nvSpPr>
        <p:spPr bwMode="auto">
          <a:xfrm flipV="1">
            <a:off x="2654300" y="4351338"/>
            <a:ext cx="2228850" cy="1631950"/>
          </a:xfrm>
          <a:custGeom>
            <a:avLst/>
            <a:gdLst>
              <a:gd name="T0" fmla="*/ 0 w 1404"/>
              <a:gd name="T1" fmla="*/ 2147483647 h 1032"/>
              <a:gd name="T2" fmla="*/ 2147483647 w 1404"/>
              <a:gd name="T3" fmla="*/ 2147483647 h 1032"/>
              <a:gd name="T4" fmla="*/ 2147483647 w 1404"/>
              <a:gd name="T5" fmla="*/ 0 h 1032"/>
              <a:gd name="T6" fmla="*/ 0 w 1404"/>
              <a:gd name="T7" fmla="*/ 2147483647 h 1032"/>
              <a:gd name="T8" fmla="*/ 0 60000 65536"/>
              <a:gd name="T9" fmla="*/ 0 60000 65536"/>
              <a:gd name="T10" fmla="*/ 0 60000 65536"/>
              <a:gd name="T11" fmla="*/ 0 60000 65536"/>
              <a:gd name="T12" fmla="*/ 0 w 1404"/>
              <a:gd name="T13" fmla="*/ 0 h 1032"/>
              <a:gd name="T14" fmla="*/ 1404 w 1404"/>
              <a:gd name="T15" fmla="*/ 1032 h 10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4" h="1032">
                <a:moveTo>
                  <a:pt x="0" y="432"/>
                </a:moveTo>
                <a:lnTo>
                  <a:pt x="528" y="1032"/>
                </a:lnTo>
                <a:lnTo>
                  <a:pt x="1404" y="0"/>
                </a:lnTo>
                <a:lnTo>
                  <a:pt x="0" y="432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2100263" y="2246313"/>
            <a:ext cx="72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a’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0426" name="Text Box 10"/>
          <p:cNvSpPr txBox="1">
            <a:spLocks noChangeArrowheads="1"/>
          </p:cNvSpPr>
          <p:nvPr/>
        </p:nvSpPr>
        <p:spPr bwMode="auto">
          <a:xfrm>
            <a:off x="2306638" y="5195888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</a:t>
            </a:r>
          </a:p>
        </p:txBody>
      </p:sp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3005138" y="3373438"/>
            <a:ext cx="74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’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3105150" y="4064000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6324600" y="2187575"/>
            <a:ext cx="84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a”</a:t>
            </a:r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5129213" y="3395663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b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60431" name="Text Box 15"/>
          <p:cNvSpPr txBox="1">
            <a:spLocks noChangeArrowheads="1"/>
          </p:cNvSpPr>
          <p:nvPr/>
        </p:nvSpPr>
        <p:spPr bwMode="auto">
          <a:xfrm>
            <a:off x="7113588" y="2663825"/>
            <a:ext cx="757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”</a:t>
            </a:r>
          </a:p>
        </p:txBody>
      </p:sp>
      <p:sp>
        <p:nvSpPr>
          <p:cNvPr id="60432" name="Text Box 16"/>
          <p:cNvSpPr txBox="1">
            <a:spLocks noChangeArrowheads="1"/>
          </p:cNvSpPr>
          <p:nvPr/>
        </p:nvSpPr>
        <p:spPr bwMode="auto">
          <a:xfrm>
            <a:off x="4729163" y="2744788"/>
            <a:ext cx="555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672013" y="585628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i="1">
                <a:latin typeface="ISOCPEUR" pitchFamily="34" charset="0"/>
              </a:rPr>
              <a:t>c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22550" name="Rectangle 18"/>
          <p:cNvSpPr>
            <a:spLocks noChangeArrowheads="1"/>
          </p:cNvSpPr>
          <p:nvPr/>
        </p:nvSpPr>
        <p:spPr bwMode="auto">
          <a:xfrm>
            <a:off x="338138" y="324168"/>
            <a:ext cx="88058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3.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无轴投影 （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自学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0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只强调形状、大小，不考虑其相对于投影面的位置。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  做图时，利用几何元素之间的相互位置关系。</a:t>
            </a:r>
          </a:p>
        </p:txBody>
      </p:sp>
      <p:sp>
        <p:nvSpPr>
          <p:cNvPr id="60436" name="Line 20"/>
          <p:cNvSpPr>
            <a:spLocks noChangeShapeType="1"/>
          </p:cNvSpPr>
          <p:nvPr/>
        </p:nvSpPr>
        <p:spPr bwMode="auto">
          <a:xfrm flipH="1">
            <a:off x="2654300" y="4349750"/>
            <a:ext cx="84455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37" name="Line 21"/>
          <p:cNvSpPr>
            <a:spLocks noChangeShapeType="1"/>
          </p:cNvSpPr>
          <p:nvPr/>
        </p:nvSpPr>
        <p:spPr bwMode="auto">
          <a:xfrm>
            <a:off x="3498850" y="4348163"/>
            <a:ext cx="13843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0" name="Line 24"/>
          <p:cNvSpPr>
            <a:spLocks noChangeShapeType="1"/>
          </p:cNvSpPr>
          <p:nvPr/>
        </p:nvSpPr>
        <p:spPr bwMode="auto">
          <a:xfrm>
            <a:off x="5353050" y="2565400"/>
            <a:ext cx="12700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1" name="Line 25"/>
          <p:cNvSpPr>
            <a:spLocks noChangeShapeType="1"/>
          </p:cNvSpPr>
          <p:nvPr/>
        </p:nvSpPr>
        <p:spPr bwMode="auto">
          <a:xfrm>
            <a:off x="5365750" y="3060700"/>
            <a:ext cx="193675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2" name="Line 26"/>
          <p:cNvSpPr>
            <a:spLocks noChangeShapeType="1"/>
          </p:cNvSpPr>
          <p:nvPr/>
        </p:nvSpPr>
        <p:spPr bwMode="auto">
          <a:xfrm>
            <a:off x="5359400" y="3409950"/>
            <a:ext cx="32067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3" name="Line 27"/>
          <p:cNvSpPr>
            <a:spLocks noChangeShapeType="1"/>
          </p:cNvSpPr>
          <p:nvPr/>
        </p:nvSpPr>
        <p:spPr bwMode="auto">
          <a:xfrm>
            <a:off x="2673350" y="2565400"/>
            <a:ext cx="2697163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44" name="Line 28"/>
          <p:cNvSpPr>
            <a:spLocks noChangeShapeType="1"/>
          </p:cNvSpPr>
          <p:nvPr/>
        </p:nvSpPr>
        <p:spPr bwMode="auto">
          <a:xfrm>
            <a:off x="4887913" y="3060700"/>
            <a:ext cx="4826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5" name="Line 29"/>
          <p:cNvSpPr>
            <a:spLocks noChangeShapeType="1"/>
          </p:cNvSpPr>
          <p:nvPr/>
        </p:nvSpPr>
        <p:spPr bwMode="auto">
          <a:xfrm flipV="1">
            <a:off x="3503613" y="3409950"/>
            <a:ext cx="1866900" cy="15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48" name="Text Box 32"/>
          <p:cNvSpPr txBox="1">
            <a:spLocks noChangeArrowheads="1"/>
          </p:cNvSpPr>
          <p:nvPr/>
        </p:nvSpPr>
        <p:spPr bwMode="auto">
          <a:xfrm>
            <a:off x="6415088" y="3805238"/>
            <a:ext cx="2363787" cy="2073275"/>
          </a:xfrm>
          <a:prstGeom prst="rect">
            <a:avLst/>
          </a:prstGeom>
          <a:solidFill>
            <a:srgbClr val="CCCCFF"/>
          </a:solidFill>
          <a:ln w="9525">
            <a:solidFill>
              <a:srgbClr val="3333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几何元素间的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方位关系</a:t>
            </a:r>
          </a:p>
          <a:p>
            <a:pPr eaLnBrk="1" hangingPunct="1">
              <a:buClrTx/>
              <a:buFontTx/>
              <a:buChar char="•"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几何元素间的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度量关系</a:t>
            </a:r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 rot="5400000">
            <a:off x="6157913" y="2098675"/>
            <a:ext cx="0" cy="9461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2" name="Line 36"/>
          <p:cNvSpPr>
            <a:spLocks noChangeShapeType="1"/>
          </p:cNvSpPr>
          <p:nvPr/>
        </p:nvSpPr>
        <p:spPr bwMode="auto">
          <a:xfrm>
            <a:off x="2654300" y="4349750"/>
            <a:ext cx="0" cy="9461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55" name="Line 39"/>
          <p:cNvSpPr>
            <a:spLocks noChangeShapeType="1"/>
          </p:cNvSpPr>
          <p:nvPr/>
        </p:nvSpPr>
        <p:spPr bwMode="auto">
          <a:xfrm>
            <a:off x="4886325" y="4343400"/>
            <a:ext cx="0" cy="163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60" name="Line 44"/>
          <p:cNvSpPr>
            <a:spLocks noChangeShapeType="1"/>
          </p:cNvSpPr>
          <p:nvPr/>
        </p:nvSpPr>
        <p:spPr bwMode="auto">
          <a:xfrm>
            <a:off x="5683250" y="2571750"/>
            <a:ext cx="0" cy="83820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>
            <a:off x="2654300" y="4349750"/>
            <a:ext cx="0" cy="9461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3" name="Line 37"/>
          <p:cNvSpPr>
            <a:spLocks noChangeShapeType="1"/>
          </p:cNvSpPr>
          <p:nvPr/>
        </p:nvSpPr>
        <p:spPr bwMode="auto">
          <a:xfrm>
            <a:off x="2620963" y="4791075"/>
            <a:ext cx="61912" cy="66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38" name="Line 22"/>
          <p:cNvSpPr>
            <a:spLocks noChangeShapeType="1"/>
          </p:cNvSpPr>
          <p:nvPr/>
        </p:nvSpPr>
        <p:spPr bwMode="auto">
          <a:xfrm>
            <a:off x="4883150" y="4344988"/>
            <a:ext cx="0" cy="16319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56" name="Line 40"/>
          <p:cNvSpPr>
            <a:spLocks noChangeShapeType="1"/>
          </p:cNvSpPr>
          <p:nvPr/>
        </p:nvSpPr>
        <p:spPr bwMode="auto">
          <a:xfrm>
            <a:off x="4840288" y="4995863"/>
            <a:ext cx="76200" cy="57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7" name="Line 41"/>
          <p:cNvSpPr>
            <a:spLocks noChangeShapeType="1"/>
          </p:cNvSpPr>
          <p:nvPr/>
        </p:nvSpPr>
        <p:spPr bwMode="auto">
          <a:xfrm>
            <a:off x="4835525" y="5038725"/>
            <a:ext cx="71438" cy="523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39" name="Line 23"/>
          <p:cNvSpPr>
            <a:spLocks noChangeShapeType="1"/>
          </p:cNvSpPr>
          <p:nvPr/>
        </p:nvSpPr>
        <p:spPr bwMode="auto">
          <a:xfrm rot="5400000">
            <a:off x="6500813" y="2244725"/>
            <a:ext cx="0" cy="16319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58" name="Line 42"/>
          <p:cNvSpPr>
            <a:spLocks noChangeShapeType="1"/>
          </p:cNvSpPr>
          <p:nvPr/>
        </p:nvSpPr>
        <p:spPr bwMode="auto">
          <a:xfrm>
            <a:off x="6450013" y="3014663"/>
            <a:ext cx="52387" cy="71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459" name="Line 43"/>
          <p:cNvSpPr>
            <a:spLocks noChangeShapeType="1"/>
          </p:cNvSpPr>
          <p:nvPr/>
        </p:nvSpPr>
        <p:spPr bwMode="auto">
          <a:xfrm>
            <a:off x="6402388" y="3019425"/>
            <a:ext cx="52387" cy="71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572" name="Text Box 45"/>
          <p:cNvSpPr txBox="1">
            <a:spLocks noChangeArrowheads="1"/>
          </p:cNvSpPr>
          <p:nvPr/>
        </p:nvSpPr>
        <p:spPr bwMode="auto">
          <a:xfrm>
            <a:off x="5607050" y="1031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/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307975" y="2289175"/>
            <a:ext cx="2012950" cy="11874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  完成△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ABC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的侧面投影。</a:t>
            </a:r>
          </a:p>
        </p:txBody>
      </p:sp>
      <p:sp>
        <p:nvSpPr>
          <p:cNvPr id="60451" name="Freeform 35"/>
          <p:cNvSpPr>
            <a:spLocks/>
          </p:cNvSpPr>
          <p:nvPr/>
        </p:nvSpPr>
        <p:spPr bwMode="auto">
          <a:xfrm>
            <a:off x="5683250" y="2571750"/>
            <a:ext cx="1628775" cy="838200"/>
          </a:xfrm>
          <a:custGeom>
            <a:avLst/>
            <a:gdLst>
              <a:gd name="T0" fmla="*/ 2147483647 w 1026"/>
              <a:gd name="T1" fmla="*/ 2147483647 h 528"/>
              <a:gd name="T2" fmla="*/ 2147483647 w 1026"/>
              <a:gd name="T3" fmla="*/ 0 h 528"/>
              <a:gd name="T4" fmla="*/ 0 w 1026"/>
              <a:gd name="T5" fmla="*/ 2147483647 h 528"/>
              <a:gd name="T6" fmla="*/ 2147483647 w 1026"/>
              <a:gd name="T7" fmla="*/ 2147483647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1026"/>
              <a:gd name="T13" fmla="*/ 0 h 528"/>
              <a:gd name="T14" fmla="*/ 1026 w 102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6" h="528">
                <a:moveTo>
                  <a:pt x="1026" y="306"/>
                </a:moveTo>
                <a:lnTo>
                  <a:pt x="600" y="0"/>
                </a:lnTo>
                <a:lnTo>
                  <a:pt x="0" y="528"/>
                </a:lnTo>
                <a:lnTo>
                  <a:pt x="1026" y="306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64" name="Line 48"/>
          <p:cNvSpPr>
            <a:spLocks noChangeShapeType="1"/>
          </p:cNvSpPr>
          <p:nvPr/>
        </p:nvSpPr>
        <p:spPr bwMode="auto">
          <a:xfrm>
            <a:off x="6040438" y="2543175"/>
            <a:ext cx="61912" cy="66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" name="右箭头 1">
            <a:hlinkClick r:id="rId2" action="ppaction://hlinksldjump"/>
          </p:cNvPr>
          <p:cNvSpPr/>
          <p:nvPr/>
        </p:nvSpPr>
        <p:spPr bwMode="auto">
          <a:xfrm>
            <a:off x="4566047" y="376326"/>
            <a:ext cx="681831" cy="36812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5"/>
                                            </p:cond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5"/>
                                            </p:cond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 animBg="1"/>
      <p:bldP spid="60420" grpId="0" animBg="1"/>
      <p:bldP spid="60421" grpId="0" animBg="1"/>
      <p:bldP spid="60446" grpId="0" animBg="1" autoUpdateAnimBg="0"/>
      <p:bldP spid="60447" grpId="0" animBg="1" autoUpdateAnimBg="0"/>
      <p:bldP spid="60450" grpId="0" animBg="1" autoUpdateAnimBg="0"/>
      <p:bldP spid="60422" grpId="0" animBg="1"/>
      <p:bldP spid="60423" grpId="0" animBg="1"/>
      <p:bldP spid="60424" grpId="0" animBg="1"/>
      <p:bldP spid="60425" grpId="0" autoUpdateAnimBg="0"/>
      <p:bldP spid="60426" grpId="0" autoUpdateAnimBg="0"/>
      <p:bldP spid="60427" grpId="0" autoUpdateAnimBg="0"/>
      <p:bldP spid="60428" grpId="0" autoUpdateAnimBg="0"/>
      <p:bldP spid="60429" grpId="0" autoUpdateAnimBg="0"/>
      <p:bldP spid="60430" grpId="0" autoUpdateAnimBg="0"/>
      <p:bldP spid="60431" grpId="0" autoUpdateAnimBg="0"/>
      <p:bldP spid="60432" grpId="0" autoUpdateAnimBg="0"/>
      <p:bldP spid="60433" grpId="0" autoUpdateAnimBg="0"/>
      <p:bldP spid="60436" grpId="0" animBg="1"/>
      <p:bldP spid="60437" grpId="0" animBg="1"/>
      <p:bldP spid="60440" grpId="0" animBg="1"/>
      <p:bldP spid="60441" grpId="0" animBg="1"/>
      <p:bldP spid="60442" grpId="0" animBg="1"/>
      <p:bldP spid="60443" grpId="0" animBg="1"/>
      <p:bldP spid="60444" grpId="0" animBg="1"/>
      <p:bldP spid="60445" grpId="0" animBg="1"/>
      <p:bldP spid="60448" grpId="0" animBg="1" autoUpdateAnimBg="0"/>
      <p:bldP spid="60449" grpId="0" animBg="1"/>
      <p:bldP spid="60452" grpId="0" animBg="1"/>
      <p:bldP spid="60455" grpId="0" animBg="1"/>
      <p:bldP spid="60460" grpId="0" animBg="1"/>
      <p:bldP spid="60435" grpId="0" animBg="1"/>
      <p:bldP spid="60453" grpId="0" animBg="1"/>
      <p:bldP spid="60438" grpId="0" animBg="1"/>
      <p:bldP spid="60456" grpId="0" animBg="1"/>
      <p:bldP spid="60457" grpId="0" animBg="1"/>
      <p:bldP spid="60439" grpId="0" animBg="1"/>
      <p:bldP spid="60458" grpId="0" animBg="1"/>
      <p:bldP spid="60459" grpId="0" animBg="1"/>
      <p:bldP spid="60462" grpId="0" animBg="1" autoUpdateAnimBg="0"/>
      <p:bldP spid="60451" grpId="0" animBg="1"/>
      <p:bldP spid="6046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902F0DC-6912-4E20-9231-1D6F8CD1344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53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38138" y="295275"/>
            <a:ext cx="74072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>
                <a:latin typeface="黑体" pitchFamily="2" charset="-122"/>
                <a:ea typeface="黑体" pitchFamily="2" charset="-122"/>
              </a:rPr>
              <a:t>二</a:t>
            </a:r>
            <a:r>
              <a:rPr lang="en-US" altLang="zh-CN" sz="360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sz="3600">
                <a:latin typeface="黑体" pitchFamily="2" charset="-122"/>
                <a:ea typeface="黑体" pitchFamily="2" charset="-122"/>
              </a:rPr>
              <a:t>平面的投影特性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平面在单一投影面上的投影特性</a:t>
            </a:r>
            <a:endParaRPr lang="zh-CN" altLang="en-US" b="0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79450" y="1781175"/>
            <a:ext cx="7550150" cy="2911475"/>
            <a:chOff x="442" y="1142"/>
            <a:chExt cx="4756" cy="1834"/>
          </a:xfrm>
        </p:grpSpPr>
        <p:sp>
          <p:nvSpPr>
            <p:cNvPr id="23570" name="AutoShape 26"/>
            <p:cNvSpPr>
              <a:spLocks noChangeArrowheads="1"/>
            </p:cNvSpPr>
            <p:nvPr/>
          </p:nvSpPr>
          <p:spPr bwMode="auto">
            <a:xfrm>
              <a:off x="442" y="2059"/>
              <a:ext cx="4756" cy="880"/>
            </a:xfrm>
            <a:prstGeom prst="parallelogram">
              <a:avLst>
                <a:gd name="adj" fmla="val 123429"/>
              </a:avLst>
            </a:prstGeom>
            <a:solidFill>
              <a:srgbClr val="CCECFF"/>
            </a:solidFill>
            <a:ln w="38100">
              <a:solidFill>
                <a:srgbClr val="0033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3571" name="Line 27"/>
            <p:cNvSpPr>
              <a:spLocks noChangeShapeType="1"/>
            </p:cNvSpPr>
            <p:nvPr/>
          </p:nvSpPr>
          <p:spPr bwMode="auto">
            <a:xfrm>
              <a:off x="4057" y="1171"/>
              <a:ext cx="0" cy="1105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28"/>
            <p:cNvSpPr>
              <a:spLocks noChangeShapeType="1"/>
            </p:cNvSpPr>
            <p:nvPr/>
          </p:nvSpPr>
          <p:spPr bwMode="auto">
            <a:xfrm flipV="1">
              <a:off x="2601" y="2553"/>
              <a:ext cx="799" cy="16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Line 29"/>
            <p:cNvSpPr>
              <a:spLocks noChangeShapeType="1"/>
            </p:cNvSpPr>
            <p:nvPr/>
          </p:nvSpPr>
          <p:spPr bwMode="auto">
            <a:xfrm flipV="1">
              <a:off x="1148" y="1694"/>
              <a:ext cx="0" cy="942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Line 30"/>
            <p:cNvSpPr>
              <a:spLocks noChangeShapeType="1"/>
            </p:cNvSpPr>
            <p:nvPr/>
          </p:nvSpPr>
          <p:spPr bwMode="auto">
            <a:xfrm flipV="1">
              <a:off x="2391" y="1475"/>
              <a:ext cx="0" cy="900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Line 31"/>
            <p:cNvSpPr>
              <a:spLocks noChangeShapeType="1"/>
            </p:cNvSpPr>
            <p:nvPr/>
          </p:nvSpPr>
          <p:spPr bwMode="auto">
            <a:xfrm flipV="1">
              <a:off x="1685" y="1266"/>
              <a:ext cx="0" cy="890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Freeform 32"/>
            <p:cNvSpPr>
              <a:spLocks/>
            </p:cNvSpPr>
            <p:nvPr/>
          </p:nvSpPr>
          <p:spPr bwMode="auto">
            <a:xfrm>
              <a:off x="1127" y="1244"/>
              <a:ext cx="1265" cy="494"/>
            </a:xfrm>
            <a:custGeom>
              <a:avLst/>
              <a:gdLst>
                <a:gd name="T0" fmla="*/ 553 w 1265"/>
                <a:gd name="T1" fmla="*/ 0 h 494"/>
                <a:gd name="T2" fmla="*/ 0 w 1265"/>
                <a:gd name="T3" fmla="*/ 494 h 494"/>
                <a:gd name="T4" fmla="*/ 1265 w 1265"/>
                <a:gd name="T5" fmla="*/ 218 h 494"/>
                <a:gd name="T6" fmla="*/ 553 w 1265"/>
                <a:gd name="T7" fmla="*/ 0 h 4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5"/>
                <a:gd name="T13" fmla="*/ 0 h 494"/>
                <a:gd name="T14" fmla="*/ 1265 w 1265"/>
                <a:gd name="T15" fmla="*/ 494 h 4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5" h="494">
                  <a:moveTo>
                    <a:pt x="553" y="0"/>
                  </a:moveTo>
                  <a:lnTo>
                    <a:pt x="0" y="494"/>
                  </a:lnTo>
                  <a:lnTo>
                    <a:pt x="1265" y="218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rgbClr val="99FFCC">
                <a:alpha val="50195"/>
              </a:srgbClr>
            </a:solidFill>
            <a:ln w="28575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Freeform 33"/>
            <p:cNvSpPr>
              <a:spLocks/>
            </p:cNvSpPr>
            <p:nvPr/>
          </p:nvSpPr>
          <p:spPr bwMode="auto">
            <a:xfrm>
              <a:off x="1143" y="2155"/>
              <a:ext cx="1265" cy="494"/>
            </a:xfrm>
            <a:custGeom>
              <a:avLst/>
              <a:gdLst>
                <a:gd name="T0" fmla="*/ 553 w 1265"/>
                <a:gd name="T1" fmla="*/ 0 h 494"/>
                <a:gd name="T2" fmla="*/ 0 w 1265"/>
                <a:gd name="T3" fmla="*/ 494 h 494"/>
                <a:gd name="T4" fmla="*/ 1265 w 1265"/>
                <a:gd name="T5" fmla="*/ 218 h 494"/>
                <a:gd name="T6" fmla="*/ 553 w 1265"/>
                <a:gd name="T7" fmla="*/ 0 h 4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5"/>
                <a:gd name="T13" fmla="*/ 0 h 494"/>
                <a:gd name="T14" fmla="*/ 1265 w 1265"/>
                <a:gd name="T15" fmla="*/ 494 h 4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5" h="494">
                  <a:moveTo>
                    <a:pt x="553" y="0"/>
                  </a:moveTo>
                  <a:lnTo>
                    <a:pt x="0" y="494"/>
                  </a:lnTo>
                  <a:lnTo>
                    <a:pt x="1265" y="218"/>
                  </a:lnTo>
                  <a:lnTo>
                    <a:pt x="553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Line 34"/>
            <p:cNvSpPr>
              <a:spLocks noChangeShapeType="1"/>
            </p:cNvSpPr>
            <p:nvPr/>
          </p:nvSpPr>
          <p:spPr bwMode="auto">
            <a:xfrm>
              <a:off x="2613" y="1986"/>
              <a:ext cx="0" cy="731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35"/>
            <p:cNvSpPr>
              <a:spLocks noChangeShapeType="1"/>
            </p:cNvSpPr>
            <p:nvPr/>
          </p:nvSpPr>
          <p:spPr bwMode="auto">
            <a:xfrm>
              <a:off x="2850" y="1143"/>
              <a:ext cx="0" cy="1512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36"/>
            <p:cNvSpPr>
              <a:spLocks noChangeShapeType="1"/>
            </p:cNvSpPr>
            <p:nvPr/>
          </p:nvSpPr>
          <p:spPr bwMode="auto">
            <a:xfrm>
              <a:off x="3384" y="1521"/>
              <a:ext cx="0" cy="1061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1" name="Freeform 37"/>
            <p:cNvSpPr>
              <a:spLocks/>
            </p:cNvSpPr>
            <p:nvPr/>
          </p:nvSpPr>
          <p:spPr bwMode="auto">
            <a:xfrm>
              <a:off x="3665" y="1186"/>
              <a:ext cx="1032" cy="582"/>
            </a:xfrm>
            <a:custGeom>
              <a:avLst/>
              <a:gdLst>
                <a:gd name="T0" fmla="*/ 392 w 1032"/>
                <a:gd name="T1" fmla="*/ 0 h 582"/>
                <a:gd name="T2" fmla="*/ 0 w 1032"/>
                <a:gd name="T3" fmla="*/ 582 h 582"/>
                <a:gd name="T4" fmla="*/ 1032 w 1032"/>
                <a:gd name="T5" fmla="*/ 465 h 582"/>
                <a:gd name="T6" fmla="*/ 392 w 1032"/>
                <a:gd name="T7" fmla="*/ 0 h 5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2"/>
                <a:gd name="T13" fmla="*/ 0 h 582"/>
                <a:gd name="T14" fmla="*/ 1032 w 1032"/>
                <a:gd name="T15" fmla="*/ 582 h 5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2" h="582">
                  <a:moveTo>
                    <a:pt x="392" y="0"/>
                  </a:moveTo>
                  <a:lnTo>
                    <a:pt x="0" y="582"/>
                  </a:lnTo>
                  <a:lnTo>
                    <a:pt x="1032" y="465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99FFCC">
                <a:alpha val="50195"/>
              </a:srgbClr>
            </a:solidFill>
            <a:ln w="28575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38"/>
            <p:cNvSpPr>
              <a:spLocks noChangeShapeType="1"/>
            </p:cNvSpPr>
            <p:nvPr/>
          </p:nvSpPr>
          <p:spPr bwMode="auto">
            <a:xfrm>
              <a:off x="3665" y="1753"/>
              <a:ext cx="0" cy="822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Line 39"/>
            <p:cNvSpPr>
              <a:spLocks noChangeShapeType="1"/>
            </p:cNvSpPr>
            <p:nvPr/>
          </p:nvSpPr>
          <p:spPr bwMode="auto">
            <a:xfrm>
              <a:off x="4683" y="1651"/>
              <a:ext cx="0" cy="698"/>
            </a:xfrm>
            <a:prstGeom prst="line">
              <a:avLst/>
            </a:prstGeom>
            <a:noFill/>
            <a:ln w="12700">
              <a:solidFill>
                <a:srgbClr val="66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Freeform 40"/>
            <p:cNvSpPr>
              <a:spLocks/>
            </p:cNvSpPr>
            <p:nvPr/>
          </p:nvSpPr>
          <p:spPr bwMode="auto">
            <a:xfrm>
              <a:off x="3672" y="2270"/>
              <a:ext cx="1011" cy="306"/>
            </a:xfrm>
            <a:custGeom>
              <a:avLst/>
              <a:gdLst>
                <a:gd name="T0" fmla="*/ 386 w 1011"/>
                <a:gd name="T1" fmla="*/ 0 h 306"/>
                <a:gd name="T2" fmla="*/ 0 w 1011"/>
                <a:gd name="T3" fmla="*/ 306 h 306"/>
                <a:gd name="T4" fmla="*/ 1011 w 1011"/>
                <a:gd name="T5" fmla="*/ 73 h 306"/>
                <a:gd name="T6" fmla="*/ 386 w 1011"/>
                <a:gd name="T7" fmla="*/ 0 h 3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1"/>
                <a:gd name="T13" fmla="*/ 0 h 306"/>
                <a:gd name="T14" fmla="*/ 1011 w 1011"/>
                <a:gd name="T15" fmla="*/ 306 h 3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1" h="306">
                  <a:moveTo>
                    <a:pt x="386" y="0"/>
                  </a:moveTo>
                  <a:lnTo>
                    <a:pt x="0" y="306"/>
                  </a:lnTo>
                  <a:lnTo>
                    <a:pt x="1011" y="73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Text Box 41"/>
            <p:cNvSpPr txBox="1">
              <a:spLocks noChangeArrowheads="1"/>
            </p:cNvSpPr>
            <p:nvPr/>
          </p:nvSpPr>
          <p:spPr bwMode="auto">
            <a:xfrm>
              <a:off x="3927" y="2611"/>
              <a:ext cx="2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333399"/>
                  </a:solidFill>
                </a:rPr>
                <a:t>P</a:t>
              </a:r>
            </a:p>
          </p:txBody>
        </p:sp>
        <p:sp>
          <p:nvSpPr>
            <p:cNvPr id="23586" name="Freeform 42"/>
            <p:cNvSpPr>
              <a:spLocks/>
            </p:cNvSpPr>
            <p:nvPr/>
          </p:nvSpPr>
          <p:spPr bwMode="auto">
            <a:xfrm>
              <a:off x="2604" y="1142"/>
              <a:ext cx="785" cy="858"/>
            </a:xfrm>
            <a:custGeom>
              <a:avLst/>
              <a:gdLst>
                <a:gd name="T0" fmla="*/ 247 w 785"/>
                <a:gd name="T1" fmla="*/ 0 h 858"/>
                <a:gd name="T2" fmla="*/ 0 w 785"/>
                <a:gd name="T3" fmla="*/ 858 h 858"/>
                <a:gd name="T4" fmla="*/ 785 w 785"/>
                <a:gd name="T5" fmla="*/ 393 h 858"/>
                <a:gd name="T6" fmla="*/ 247 w 785"/>
                <a:gd name="T7" fmla="*/ 0 h 8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5"/>
                <a:gd name="T13" fmla="*/ 0 h 858"/>
                <a:gd name="T14" fmla="*/ 785 w 785"/>
                <a:gd name="T15" fmla="*/ 858 h 8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5" h="858">
                  <a:moveTo>
                    <a:pt x="247" y="0"/>
                  </a:moveTo>
                  <a:lnTo>
                    <a:pt x="0" y="858"/>
                  </a:lnTo>
                  <a:lnTo>
                    <a:pt x="785" y="393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99FFCC">
                <a:alpha val="50195"/>
              </a:srgbClr>
            </a:solidFill>
            <a:ln w="28575" cmpd="sng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83" name="Text Box 43"/>
          <p:cNvSpPr txBox="1">
            <a:spLocks noChangeArrowheads="1"/>
          </p:cNvSpPr>
          <p:nvPr/>
        </p:nvSpPr>
        <p:spPr bwMode="auto">
          <a:xfrm>
            <a:off x="1150938" y="4872038"/>
            <a:ext cx="1851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平面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//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P</a:t>
            </a:r>
            <a:endParaRPr lang="en-US" altLang="zh-CN" sz="2800" b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484" name="Text Box 44"/>
          <p:cNvSpPr txBox="1">
            <a:spLocks noChangeArrowheads="1"/>
          </p:cNvSpPr>
          <p:nvPr/>
        </p:nvSpPr>
        <p:spPr bwMode="auto">
          <a:xfrm>
            <a:off x="3741738" y="4916488"/>
            <a:ext cx="2097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平面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Symbol" pitchFamily="18" charset="2"/>
              </a:rPr>
              <a:t>P</a:t>
            </a:r>
          </a:p>
        </p:txBody>
      </p:sp>
      <p:sp>
        <p:nvSpPr>
          <p:cNvPr id="61485" name="Rectangle 45"/>
          <p:cNvSpPr>
            <a:spLocks noChangeArrowheads="1"/>
          </p:cNvSpPr>
          <p:nvPr/>
        </p:nvSpPr>
        <p:spPr bwMode="auto">
          <a:xfrm>
            <a:off x="1084263" y="5403850"/>
            <a:ext cx="1612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反映实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黑体" pitchFamily="2" charset="-122"/>
              </a:rPr>
              <a:t>形</a:t>
            </a:r>
          </a:p>
        </p:txBody>
      </p:sp>
      <p:sp>
        <p:nvSpPr>
          <p:cNvPr id="61486" name="Rectangle 46"/>
          <p:cNvSpPr>
            <a:spLocks noChangeArrowheads="1"/>
          </p:cNvSpPr>
          <p:nvPr/>
        </p:nvSpPr>
        <p:spPr bwMode="auto">
          <a:xfrm>
            <a:off x="1212850" y="5857875"/>
            <a:ext cx="1941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实形性</a:t>
            </a:r>
          </a:p>
        </p:txBody>
      </p:sp>
      <p:sp>
        <p:nvSpPr>
          <p:cNvPr id="61487" name="Rectangle 47"/>
          <p:cNvSpPr>
            <a:spLocks noChangeArrowheads="1"/>
          </p:cNvSpPr>
          <p:nvPr/>
        </p:nvSpPr>
        <p:spPr bwMode="auto">
          <a:xfrm>
            <a:off x="3379788" y="5391150"/>
            <a:ext cx="28305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积聚成直线</a:t>
            </a:r>
          </a:p>
        </p:txBody>
      </p:sp>
      <p:sp>
        <p:nvSpPr>
          <p:cNvPr id="61488" name="Rectangle 48"/>
          <p:cNvSpPr>
            <a:spLocks noChangeArrowheads="1"/>
          </p:cNvSpPr>
          <p:nvPr/>
        </p:nvSpPr>
        <p:spPr bwMode="auto">
          <a:xfrm>
            <a:off x="3562350" y="5849938"/>
            <a:ext cx="20526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积聚性</a:t>
            </a:r>
          </a:p>
        </p:txBody>
      </p:sp>
      <p:sp>
        <p:nvSpPr>
          <p:cNvPr id="61489" name="Rectangle 49"/>
          <p:cNvSpPr>
            <a:spLocks noChangeArrowheads="1"/>
          </p:cNvSpPr>
          <p:nvPr/>
        </p:nvSpPr>
        <p:spPr bwMode="auto">
          <a:xfrm>
            <a:off x="6153150" y="5402263"/>
            <a:ext cx="2478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类似图形</a:t>
            </a:r>
          </a:p>
        </p:txBody>
      </p:sp>
      <p:sp>
        <p:nvSpPr>
          <p:cNvPr id="61490" name="Rectangle 50"/>
          <p:cNvSpPr>
            <a:spLocks noChangeArrowheads="1"/>
          </p:cNvSpPr>
          <p:nvPr/>
        </p:nvSpPr>
        <p:spPr bwMode="auto">
          <a:xfrm>
            <a:off x="6089650" y="5848350"/>
            <a:ext cx="24177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类似性</a:t>
            </a:r>
          </a:p>
        </p:txBody>
      </p: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6210300" y="4914900"/>
            <a:ext cx="1468438" cy="519113"/>
            <a:chOff x="3912" y="3096"/>
            <a:chExt cx="925" cy="327"/>
          </a:xfrm>
        </p:grpSpPr>
        <p:sp>
          <p:nvSpPr>
            <p:cNvPr id="61492" name="Rectangle 52"/>
            <p:cNvSpPr>
              <a:spLocks noChangeArrowheads="1"/>
            </p:cNvSpPr>
            <p:nvPr/>
          </p:nvSpPr>
          <p:spPr bwMode="auto">
            <a:xfrm>
              <a:off x="3912" y="3096"/>
              <a:ext cx="92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defRPr/>
              </a:pPr>
              <a:r>
                <a: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  <a:sym typeface="Symbol" pitchFamily="18" charset="2"/>
                </a:rPr>
                <a:t>平面  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itchFamily="2" charset="-122"/>
                  <a:ea typeface="黑体" pitchFamily="2" charset="-122"/>
                  <a:sym typeface="Symbol" pitchFamily="18" charset="2"/>
                </a:rPr>
                <a:t>P</a:t>
              </a:r>
            </a:p>
          </p:txBody>
        </p:sp>
        <p:grpSp>
          <p:nvGrpSpPr>
            <p:cNvPr id="23567" name="Group 53"/>
            <p:cNvGrpSpPr>
              <a:grpSpLocks/>
            </p:cNvGrpSpPr>
            <p:nvPr/>
          </p:nvGrpSpPr>
          <p:grpSpPr bwMode="auto">
            <a:xfrm>
              <a:off x="4432" y="3183"/>
              <a:ext cx="210" cy="175"/>
              <a:chOff x="5203" y="233"/>
              <a:chExt cx="216" cy="156"/>
            </a:xfrm>
          </p:grpSpPr>
          <p:sp>
            <p:nvSpPr>
              <p:cNvPr id="23568" name="Line 54"/>
              <p:cNvSpPr>
                <a:spLocks noChangeShapeType="1"/>
              </p:cNvSpPr>
              <p:nvPr/>
            </p:nvSpPr>
            <p:spPr bwMode="auto">
              <a:xfrm flipH="1">
                <a:off x="5265" y="233"/>
                <a:ext cx="131" cy="1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69" name="Line 55"/>
              <p:cNvSpPr>
                <a:spLocks noChangeShapeType="1"/>
              </p:cNvSpPr>
              <p:nvPr/>
            </p:nvSpPr>
            <p:spPr bwMode="auto">
              <a:xfrm>
                <a:off x="5203" y="389"/>
                <a:ext cx="2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1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6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6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61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61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3" grpId="0" build="p" autoUpdateAnimBg="0"/>
      <p:bldP spid="61484" grpId="0" build="p" autoUpdateAnimBg="0"/>
      <p:bldP spid="61485" grpId="0" build="p" autoUpdateAnimBg="0"/>
      <p:bldP spid="61486" grpId="0" autoUpdateAnimBg="0"/>
      <p:bldP spid="61487" grpId="0" build="p" autoUpdateAnimBg="0"/>
      <p:bldP spid="61488" grpId="0" autoUpdateAnimBg="0"/>
      <p:bldP spid="61489" grpId="0" build="p" autoUpdateAnimBg="0"/>
      <p:bldP spid="61490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F44DFB7-2C82-41AD-BE16-3084844A1A5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54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488950" y="1490663"/>
            <a:ext cx="865505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投影面平行面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　  平行于某一个投影面的平面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投影面平行面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平面平行于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H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水平面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平面平行于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V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正平面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平面平行于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W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侧平面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530225" y="419100"/>
            <a:ext cx="6713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平面在三投影面体系中的投影特性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2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62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72494" y="6304845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B253589-03B6-4325-8263-901CFD502C25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55</a:t>
            </a:fld>
            <a:endParaRPr lang="en-US" altLang="zh-CN" sz="1400" dirty="0">
              <a:solidFill>
                <a:schemeClr val="bg2"/>
              </a:solidFill>
            </a:endParaRPr>
          </a:p>
        </p:txBody>
      </p:sp>
      <p:sp>
        <p:nvSpPr>
          <p:cNvPr id="163842" name="AutoShape 2" descr="蓝色砂纸"/>
          <p:cNvSpPr>
            <a:spLocks noChangeArrowheads="1"/>
          </p:cNvSpPr>
          <p:nvPr/>
        </p:nvSpPr>
        <p:spPr bwMode="auto">
          <a:xfrm>
            <a:off x="4406900" y="2967034"/>
            <a:ext cx="1287463" cy="739775"/>
          </a:xfrm>
          <a:prstGeom prst="wedgeRoundRectCallout">
            <a:avLst>
              <a:gd name="adj1" fmla="val -121764"/>
              <a:gd name="adj2" fmla="val -65880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4614863" y="2876546"/>
            <a:ext cx="706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</a:rPr>
              <a:t>//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V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4419600" y="3240084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正平面</a:t>
            </a:r>
          </a:p>
        </p:txBody>
      </p:sp>
      <p:sp>
        <p:nvSpPr>
          <p:cNvPr id="163845" name="AutoShape 5" descr="蓝色砂纸"/>
          <p:cNvSpPr>
            <a:spLocks noChangeArrowheads="1"/>
          </p:cNvSpPr>
          <p:nvPr/>
        </p:nvSpPr>
        <p:spPr bwMode="auto">
          <a:xfrm>
            <a:off x="6716713" y="2984496"/>
            <a:ext cx="1219200" cy="739775"/>
          </a:xfrm>
          <a:prstGeom prst="wedgeRoundRectCallout">
            <a:avLst>
              <a:gd name="adj1" fmla="val 61718"/>
              <a:gd name="adj2" fmla="val -67597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63846" name="AutoShape 6" descr="蓝色砂纸"/>
          <p:cNvSpPr>
            <a:spLocks noChangeArrowheads="1"/>
          </p:cNvSpPr>
          <p:nvPr/>
        </p:nvSpPr>
        <p:spPr bwMode="auto">
          <a:xfrm>
            <a:off x="4916489" y="4653661"/>
            <a:ext cx="1290637" cy="774700"/>
          </a:xfrm>
          <a:prstGeom prst="wedgeRoundRectCallout">
            <a:avLst>
              <a:gd name="adj1" fmla="val -104120"/>
              <a:gd name="adj2" fmla="val -75412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6724650" y="3252784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水平面</a:t>
            </a:r>
          </a:p>
        </p:txBody>
      </p:sp>
      <p:sp>
        <p:nvSpPr>
          <p:cNvPr id="163848" name="Text Box 8"/>
          <p:cNvSpPr txBox="1">
            <a:spLocks noChangeArrowheads="1"/>
          </p:cNvSpPr>
          <p:nvPr/>
        </p:nvSpPr>
        <p:spPr bwMode="auto">
          <a:xfrm>
            <a:off x="6991350" y="2905121"/>
            <a:ext cx="746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</a:rPr>
              <a:t>//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H</a:t>
            </a:r>
          </a:p>
        </p:txBody>
      </p:sp>
      <p:sp>
        <p:nvSpPr>
          <p:cNvPr id="163849" name="Text Box 9"/>
          <p:cNvSpPr txBox="1">
            <a:spLocks noChangeArrowheads="1"/>
          </p:cNvSpPr>
          <p:nvPr/>
        </p:nvSpPr>
        <p:spPr bwMode="auto">
          <a:xfrm>
            <a:off x="5187951" y="4590161"/>
            <a:ext cx="785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</a:rPr>
              <a:t>//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W</a:t>
            </a:r>
          </a:p>
        </p:txBody>
      </p:sp>
      <p:sp>
        <p:nvSpPr>
          <p:cNvPr id="163850" name="Rectangle 10"/>
          <p:cNvSpPr>
            <a:spLocks noChangeArrowheads="1"/>
          </p:cNvSpPr>
          <p:nvPr/>
        </p:nvSpPr>
        <p:spPr bwMode="auto">
          <a:xfrm>
            <a:off x="4959351" y="495369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侧平面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36588" y="3214684"/>
            <a:ext cx="3543300" cy="2557462"/>
            <a:chOff x="414" y="2478"/>
            <a:chExt cx="2232" cy="1611"/>
          </a:xfrm>
        </p:grpSpPr>
        <p:sp>
          <p:nvSpPr>
            <p:cNvPr id="25688" name="Freeform 12"/>
            <p:cNvSpPr>
              <a:spLocks/>
            </p:cNvSpPr>
            <p:nvPr/>
          </p:nvSpPr>
          <p:spPr bwMode="auto">
            <a:xfrm>
              <a:off x="442" y="3618"/>
              <a:ext cx="2181" cy="447"/>
            </a:xfrm>
            <a:custGeom>
              <a:avLst/>
              <a:gdLst>
                <a:gd name="T0" fmla="*/ 180 w 3067"/>
                <a:gd name="T1" fmla="*/ 114 h 629"/>
                <a:gd name="T2" fmla="*/ 558 w 3067"/>
                <a:gd name="T3" fmla="*/ 114 h 629"/>
                <a:gd name="T4" fmla="*/ 360 w 3067"/>
                <a:gd name="T5" fmla="*/ 0 h 629"/>
                <a:gd name="T6" fmla="*/ 0 w 3067"/>
                <a:gd name="T7" fmla="*/ 0 h 629"/>
                <a:gd name="T8" fmla="*/ 180 w 3067"/>
                <a:gd name="T9" fmla="*/ 114 h 6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7"/>
                <a:gd name="T16" fmla="*/ 0 h 629"/>
                <a:gd name="T17" fmla="*/ 3067 w 3067"/>
                <a:gd name="T18" fmla="*/ 629 h 6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7" h="629">
                  <a:moveTo>
                    <a:pt x="989" y="629"/>
                  </a:moveTo>
                  <a:lnTo>
                    <a:pt x="3067" y="629"/>
                  </a:lnTo>
                  <a:lnTo>
                    <a:pt x="1978" y="0"/>
                  </a:lnTo>
                  <a:lnTo>
                    <a:pt x="0" y="0"/>
                  </a:lnTo>
                  <a:lnTo>
                    <a:pt x="989" y="629"/>
                  </a:lnTo>
                  <a:close/>
                </a:path>
              </a:pathLst>
            </a:custGeom>
            <a:solidFill>
              <a:srgbClr val="CCFFFF"/>
            </a:solidFill>
            <a:ln w="28575" cmpd="sng">
              <a:solidFill>
                <a:srgbClr val="CCEC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9" name="Rectangle 13"/>
            <p:cNvSpPr>
              <a:spLocks noChangeArrowheads="1"/>
            </p:cNvSpPr>
            <p:nvPr/>
          </p:nvSpPr>
          <p:spPr bwMode="auto">
            <a:xfrm>
              <a:off x="442" y="2516"/>
              <a:ext cx="1375" cy="1091"/>
            </a:xfrm>
            <a:prstGeom prst="rect">
              <a:avLst/>
            </a:prstGeom>
            <a:solidFill>
              <a:srgbClr val="CCFFCC"/>
            </a:solidFill>
            <a:ln w="38100">
              <a:solidFill>
                <a:srgbClr val="CCFF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25690" name="Freeform 14"/>
            <p:cNvSpPr>
              <a:spLocks/>
            </p:cNvSpPr>
            <p:nvPr/>
          </p:nvSpPr>
          <p:spPr bwMode="auto">
            <a:xfrm>
              <a:off x="1833" y="2516"/>
              <a:ext cx="790" cy="1547"/>
            </a:xfrm>
            <a:custGeom>
              <a:avLst/>
              <a:gdLst>
                <a:gd name="T0" fmla="*/ 0 w 1111"/>
                <a:gd name="T1" fmla="*/ 0 h 2175"/>
                <a:gd name="T2" fmla="*/ 0 w 1111"/>
                <a:gd name="T3" fmla="*/ 280 h 2175"/>
                <a:gd name="T4" fmla="*/ 202 w 1111"/>
                <a:gd name="T5" fmla="*/ 395 h 2175"/>
                <a:gd name="T6" fmla="*/ 202 w 1111"/>
                <a:gd name="T7" fmla="*/ 107 h 2175"/>
                <a:gd name="T8" fmla="*/ 0 w 1111"/>
                <a:gd name="T9" fmla="*/ 0 h 2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1"/>
                <a:gd name="T16" fmla="*/ 0 h 2175"/>
                <a:gd name="T17" fmla="*/ 1111 w 1111"/>
                <a:gd name="T18" fmla="*/ 2175 h 21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1" h="2175">
                  <a:moveTo>
                    <a:pt x="0" y="0"/>
                  </a:moveTo>
                  <a:lnTo>
                    <a:pt x="0" y="1534"/>
                  </a:lnTo>
                  <a:lnTo>
                    <a:pt x="1111" y="2175"/>
                  </a:lnTo>
                  <a:lnTo>
                    <a:pt x="1111" y="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  <a:ln w="28575" cmpd="sng">
              <a:solidFill>
                <a:srgbClr val="FFFF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1" name="Line 15"/>
            <p:cNvSpPr>
              <a:spLocks noChangeShapeType="1"/>
            </p:cNvSpPr>
            <p:nvPr/>
          </p:nvSpPr>
          <p:spPr bwMode="auto">
            <a:xfrm>
              <a:off x="427" y="3616"/>
              <a:ext cx="1406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2" name="Line 16"/>
            <p:cNvSpPr>
              <a:spLocks noChangeShapeType="1"/>
            </p:cNvSpPr>
            <p:nvPr/>
          </p:nvSpPr>
          <p:spPr bwMode="auto">
            <a:xfrm>
              <a:off x="1821" y="3611"/>
              <a:ext cx="806" cy="46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3" name="Line 17"/>
            <p:cNvSpPr>
              <a:spLocks noChangeShapeType="1"/>
            </p:cNvSpPr>
            <p:nvPr/>
          </p:nvSpPr>
          <p:spPr bwMode="auto">
            <a:xfrm>
              <a:off x="1180" y="3281"/>
              <a:ext cx="7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4" name="Line 18"/>
            <p:cNvSpPr>
              <a:spLocks noChangeShapeType="1"/>
            </p:cNvSpPr>
            <p:nvPr/>
          </p:nvSpPr>
          <p:spPr bwMode="auto">
            <a:xfrm>
              <a:off x="1612" y="3660"/>
              <a:ext cx="7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5" name="Line 19"/>
            <p:cNvSpPr>
              <a:spLocks noChangeShapeType="1"/>
            </p:cNvSpPr>
            <p:nvPr/>
          </p:nvSpPr>
          <p:spPr bwMode="auto">
            <a:xfrm>
              <a:off x="1823" y="3338"/>
              <a:ext cx="556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6" name="Line 20"/>
            <p:cNvSpPr>
              <a:spLocks noChangeShapeType="1"/>
            </p:cNvSpPr>
            <p:nvPr/>
          </p:nvSpPr>
          <p:spPr bwMode="auto">
            <a:xfrm>
              <a:off x="1601" y="3655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7" name="Line 21"/>
            <p:cNvSpPr>
              <a:spLocks noChangeShapeType="1"/>
            </p:cNvSpPr>
            <p:nvPr/>
          </p:nvSpPr>
          <p:spPr bwMode="auto">
            <a:xfrm>
              <a:off x="1596" y="3932"/>
              <a:ext cx="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8" name="Line 22"/>
            <p:cNvSpPr>
              <a:spLocks noChangeShapeType="1"/>
            </p:cNvSpPr>
            <p:nvPr/>
          </p:nvSpPr>
          <p:spPr bwMode="auto">
            <a:xfrm>
              <a:off x="1957" y="3280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99" name="Line 23"/>
            <p:cNvSpPr>
              <a:spLocks noChangeShapeType="1"/>
            </p:cNvSpPr>
            <p:nvPr/>
          </p:nvSpPr>
          <p:spPr bwMode="auto">
            <a:xfrm>
              <a:off x="1046" y="3616"/>
              <a:ext cx="555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0" name="Line 24"/>
            <p:cNvSpPr>
              <a:spLocks noChangeShapeType="1"/>
            </p:cNvSpPr>
            <p:nvPr/>
          </p:nvSpPr>
          <p:spPr bwMode="auto">
            <a:xfrm flipV="1">
              <a:off x="1051" y="2670"/>
              <a:ext cx="0" cy="9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1" name="Line 25"/>
            <p:cNvSpPr>
              <a:spLocks noChangeShapeType="1"/>
            </p:cNvSpPr>
            <p:nvPr/>
          </p:nvSpPr>
          <p:spPr bwMode="auto">
            <a:xfrm>
              <a:off x="1051" y="2670"/>
              <a:ext cx="408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2" name="Line 26"/>
            <p:cNvSpPr>
              <a:spLocks noChangeShapeType="1"/>
            </p:cNvSpPr>
            <p:nvPr/>
          </p:nvSpPr>
          <p:spPr bwMode="auto">
            <a:xfrm>
              <a:off x="1822" y="2674"/>
              <a:ext cx="402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3" name="Line 27"/>
            <p:cNvSpPr>
              <a:spLocks noChangeShapeType="1"/>
            </p:cNvSpPr>
            <p:nvPr/>
          </p:nvSpPr>
          <p:spPr bwMode="auto">
            <a:xfrm>
              <a:off x="1053" y="3342"/>
              <a:ext cx="54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4" name="Line 28"/>
            <p:cNvSpPr>
              <a:spLocks noChangeShapeType="1"/>
            </p:cNvSpPr>
            <p:nvPr/>
          </p:nvSpPr>
          <p:spPr bwMode="auto">
            <a:xfrm>
              <a:off x="1053" y="2672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5" name="Line 29"/>
            <p:cNvSpPr>
              <a:spLocks noChangeShapeType="1"/>
            </p:cNvSpPr>
            <p:nvPr/>
          </p:nvSpPr>
          <p:spPr bwMode="auto">
            <a:xfrm>
              <a:off x="1181" y="3692"/>
              <a:ext cx="7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6" name="Line 30"/>
            <p:cNvSpPr>
              <a:spLocks noChangeShapeType="1"/>
            </p:cNvSpPr>
            <p:nvPr/>
          </p:nvSpPr>
          <p:spPr bwMode="auto">
            <a:xfrm>
              <a:off x="1179" y="3692"/>
              <a:ext cx="424" cy="244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07" name="Line 31"/>
            <p:cNvSpPr>
              <a:spLocks noChangeShapeType="1"/>
            </p:cNvSpPr>
            <p:nvPr/>
          </p:nvSpPr>
          <p:spPr bwMode="auto">
            <a:xfrm>
              <a:off x="1053" y="2668"/>
              <a:ext cx="0" cy="679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72" name="Text Box 32"/>
            <p:cNvSpPr txBox="1">
              <a:spLocks noChangeArrowheads="1"/>
            </p:cNvSpPr>
            <p:nvPr/>
          </p:nvSpPr>
          <p:spPr bwMode="auto">
            <a:xfrm>
              <a:off x="414" y="2478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63873" name="Text Box 33"/>
            <p:cNvSpPr txBox="1">
              <a:spLocks noChangeArrowheads="1"/>
            </p:cNvSpPr>
            <p:nvPr/>
          </p:nvSpPr>
          <p:spPr bwMode="auto">
            <a:xfrm>
              <a:off x="2359" y="286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63874" name="Text Box 34"/>
            <p:cNvSpPr txBox="1">
              <a:spLocks noChangeArrowheads="1"/>
            </p:cNvSpPr>
            <p:nvPr/>
          </p:nvSpPr>
          <p:spPr bwMode="auto">
            <a:xfrm>
              <a:off x="1047" y="3801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5711" name="Line 35"/>
            <p:cNvSpPr>
              <a:spLocks noChangeShapeType="1"/>
            </p:cNvSpPr>
            <p:nvPr/>
          </p:nvSpPr>
          <p:spPr bwMode="auto">
            <a:xfrm>
              <a:off x="1056" y="3205"/>
              <a:ext cx="131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2" name="Freeform 36"/>
            <p:cNvSpPr>
              <a:spLocks/>
            </p:cNvSpPr>
            <p:nvPr/>
          </p:nvSpPr>
          <p:spPr bwMode="auto">
            <a:xfrm>
              <a:off x="1956" y="2900"/>
              <a:ext cx="414" cy="762"/>
            </a:xfrm>
            <a:custGeom>
              <a:avLst/>
              <a:gdLst>
                <a:gd name="T0" fmla="*/ 270 w 414"/>
                <a:gd name="T1" fmla="*/ 0 h 762"/>
                <a:gd name="T2" fmla="*/ 0 w 414"/>
                <a:gd name="T3" fmla="*/ 378 h 762"/>
                <a:gd name="T4" fmla="*/ 414 w 414"/>
                <a:gd name="T5" fmla="*/ 762 h 762"/>
                <a:gd name="T6" fmla="*/ 270 w 414"/>
                <a:gd name="T7" fmla="*/ 0 h 7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4"/>
                <a:gd name="T13" fmla="*/ 0 h 762"/>
                <a:gd name="T14" fmla="*/ 414 w 414"/>
                <a:gd name="T15" fmla="*/ 762 h 7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4" h="762">
                  <a:moveTo>
                    <a:pt x="270" y="0"/>
                  </a:moveTo>
                  <a:lnTo>
                    <a:pt x="0" y="378"/>
                  </a:lnTo>
                  <a:lnTo>
                    <a:pt x="414" y="762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3" name="Line 37"/>
            <p:cNvSpPr>
              <a:spLocks noChangeShapeType="1"/>
            </p:cNvSpPr>
            <p:nvPr/>
          </p:nvSpPr>
          <p:spPr bwMode="auto">
            <a:xfrm>
              <a:off x="1462" y="2904"/>
              <a:ext cx="7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4" name="Line 38"/>
            <p:cNvSpPr>
              <a:spLocks noChangeShapeType="1"/>
            </p:cNvSpPr>
            <p:nvPr/>
          </p:nvSpPr>
          <p:spPr bwMode="auto">
            <a:xfrm flipV="1">
              <a:off x="1820" y="2504"/>
              <a:ext cx="0" cy="1112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5" name="Line 39"/>
            <p:cNvSpPr>
              <a:spLocks noChangeShapeType="1"/>
            </p:cNvSpPr>
            <p:nvPr/>
          </p:nvSpPr>
          <p:spPr bwMode="auto">
            <a:xfrm>
              <a:off x="1048" y="3200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6" name="Line 40"/>
            <p:cNvSpPr>
              <a:spLocks noChangeShapeType="1"/>
            </p:cNvSpPr>
            <p:nvPr/>
          </p:nvSpPr>
          <p:spPr bwMode="auto">
            <a:xfrm>
              <a:off x="1184" y="3276"/>
              <a:ext cx="0" cy="4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7" name="Line 41"/>
            <p:cNvSpPr>
              <a:spLocks noChangeShapeType="1"/>
            </p:cNvSpPr>
            <p:nvPr/>
          </p:nvSpPr>
          <p:spPr bwMode="auto">
            <a:xfrm>
              <a:off x="1819" y="3198"/>
              <a:ext cx="144" cy="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8" name="Line 42"/>
            <p:cNvSpPr>
              <a:spLocks noChangeShapeType="1"/>
            </p:cNvSpPr>
            <p:nvPr/>
          </p:nvSpPr>
          <p:spPr bwMode="auto">
            <a:xfrm>
              <a:off x="1048" y="3340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19" name="Freeform 43"/>
            <p:cNvSpPr>
              <a:spLocks/>
            </p:cNvSpPr>
            <p:nvPr/>
          </p:nvSpPr>
          <p:spPr bwMode="auto">
            <a:xfrm>
              <a:off x="1188" y="2904"/>
              <a:ext cx="414" cy="762"/>
            </a:xfrm>
            <a:custGeom>
              <a:avLst/>
              <a:gdLst>
                <a:gd name="T0" fmla="*/ 270 w 414"/>
                <a:gd name="T1" fmla="*/ 0 h 762"/>
                <a:gd name="T2" fmla="*/ 0 w 414"/>
                <a:gd name="T3" fmla="*/ 378 h 762"/>
                <a:gd name="T4" fmla="*/ 414 w 414"/>
                <a:gd name="T5" fmla="*/ 762 h 762"/>
                <a:gd name="T6" fmla="*/ 270 w 414"/>
                <a:gd name="T7" fmla="*/ 0 h 7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4"/>
                <a:gd name="T13" fmla="*/ 0 h 762"/>
                <a:gd name="T14" fmla="*/ 414 w 414"/>
                <a:gd name="T15" fmla="*/ 762 h 7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4" h="762">
                  <a:moveTo>
                    <a:pt x="270" y="0"/>
                  </a:moveTo>
                  <a:lnTo>
                    <a:pt x="0" y="378"/>
                  </a:lnTo>
                  <a:lnTo>
                    <a:pt x="414" y="762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0" name="Line 44"/>
            <p:cNvSpPr>
              <a:spLocks noChangeShapeType="1"/>
            </p:cNvSpPr>
            <p:nvPr/>
          </p:nvSpPr>
          <p:spPr bwMode="auto">
            <a:xfrm>
              <a:off x="1452" y="2898"/>
              <a:ext cx="0" cy="9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1" name="Line 45"/>
            <p:cNvSpPr>
              <a:spLocks noChangeShapeType="1"/>
            </p:cNvSpPr>
            <p:nvPr/>
          </p:nvSpPr>
          <p:spPr bwMode="auto">
            <a:xfrm>
              <a:off x="2370" y="3648"/>
              <a:ext cx="0" cy="2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2" name="Line 46"/>
            <p:cNvSpPr>
              <a:spLocks noChangeShapeType="1"/>
            </p:cNvSpPr>
            <p:nvPr/>
          </p:nvSpPr>
          <p:spPr bwMode="auto">
            <a:xfrm>
              <a:off x="1434" y="3846"/>
              <a:ext cx="7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23" name="Line 47"/>
            <p:cNvSpPr>
              <a:spLocks noChangeShapeType="1"/>
            </p:cNvSpPr>
            <p:nvPr/>
          </p:nvSpPr>
          <p:spPr bwMode="auto">
            <a:xfrm>
              <a:off x="2226" y="2904"/>
              <a:ext cx="0" cy="9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243513" y="201609"/>
            <a:ext cx="3595687" cy="2662237"/>
            <a:chOff x="3316" y="580"/>
            <a:chExt cx="2265" cy="1677"/>
          </a:xfrm>
        </p:grpSpPr>
        <p:grpSp>
          <p:nvGrpSpPr>
            <p:cNvPr id="25652" name="Group 49"/>
            <p:cNvGrpSpPr>
              <a:grpSpLocks/>
            </p:cNvGrpSpPr>
            <p:nvPr/>
          </p:nvGrpSpPr>
          <p:grpSpPr bwMode="auto">
            <a:xfrm>
              <a:off x="3320" y="597"/>
              <a:ext cx="2244" cy="1602"/>
              <a:chOff x="384" y="829"/>
              <a:chExt cx="2376" cy="1695"/>
            </a:xfrm>
          </p:grpSpPr>
          <p:grpSp>
            <p:nvGrpSpPr>
              <p:cNvPr id="25681" name="Group 50"/>
              <p:cNvGrpSpPr>
                <a:grpSpLocks/>
              </p:cNvGrpSpPr>
              <p:nvPr/>
            </p:nvGrpSpPr>
            <p:grpSpPr bwMode="auto">
              <a:xfrm>
                <a:off x="400" y="845"/>
                <a:ext cx="2356" cy="1673"/>
                <a:chOff x="1000" y="744"/>
                <a:chExt cx="3067" cy="2178"/>
              </a:xfrm>
            </p:grpSpPr>
            <p:sp>
              <p:nvSpPr>
                <p:cNvPr id="25685" name="Freeform 51"/>
                <p:cNvSpPr>
                  <a:spLocks/>
                </p:cNvSpPr>
                <p:nvPr/>
              </p:nvSpPr>
              <p:spPr bwMode="auto">
                <a:xfrm>
                  <a:off x="1000" y="2293"/>
                  <a:ext cx="3067" cy="629"/>
                </a:xfrm>
                <a:custGeom>
                  <a:avLst/>
                  <a:gdLst>
                    <a:gd name="T0" fmla="*/ 989 w 3067"/>
                    <a:gd name="T1" fmla="*/ 629 h 629"/>
                    <a:gd name="T2" fmla="*/ 3067 w 3067"/>
                    <a:gd name="T3" fmla="*/ 629 h 629"/>
                    <a:gd name="T4" fmla="*/ 1978 w 3067"/>
                    <a:gd name="T5" fmla="*/ 0 h 629"/>
                    <a:gd name="T6" fmla="*/ 0 w 3067"/>
                    <a:gd name="T7" fmla="*/ 0 h 629"/>
                    <a:gd name="T8" fmla="*/ 989 w 3067"/>
                    <a:gd name="T9" fmla="*/ 629 h 6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7"/>
                    <a:gd name="T16" fmla="*/ 0 h 629"/>
                    <a:gd name="T17" fmla="*/ 3067 w 3067"/>
                    <a:gd name="T18" fmla="*/ 629 h 6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7" h="629">
                      <a:moveTo>
                        <a:pt x="989" y="629"/>
                      </a:moveTo>
                      <a:lnTo>
                        <a:pt x="3067" y="629"/>
                      </a:lnTo>
                      <a:lnTo>
                        <a:pt x="1978" y="0"/>
                      </a:lnTo>
                      <a:lnTo>
                        <a:pt x="0" y="0"/>
                      </a:lnTo>
                      <a:lnTo>
                        <a:pt x="989" y="629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28575" cmpd="sng">
                  <a:solidFill>
                    <a:srgbClr val="CCE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86" name="Rectangle 52"/>
                <p:cNvSpPr>
                  <a:spLocks noChangeArrowheads="1"/>
                </p:cNvSpPr>
                <p:nvPr/>
              </p:nvSpPr>
              <p:spPr bwMode="auto">
                <a:xfrm>
                  <a:off x="1000" y="744"/>
                  <a:ext cx="1934" cy="1534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solidFill>
                    <a:srgbClr val="CCFF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25687" name="Freeform 53"/>
                <p:cNvSpPr>
                  <a:spLocks/>
                </p:cNvSpPr>
                <p:nvPr/>
              </p:nvSpPr>
              <p:spPr bwMode="auto">
                <a:xfrm>
                  <a:off x="2956" y="744"/>
                  <a:ext cx="1111" cy="2175"/>
                </a:xfrm>
                <a:custGeom>
                  <a:avLst/>
                  <a:gdLst>
                    <a:gd name="T0" fmla="*/ 0 w 1111"/>
                    <a:gd name="T1" fmla="*/ 0 h 2175"/>
                    <a:gd name="T2" fmla="*/ 0 w 1111"/>
                    <a:gd name="T3" fmla="*/ 1534 h 2175"/>
                    <a:gd name="T4" fmla="*/ 1111 w 1111"/>
                    <a:gd name="T5" fmla="*/ 2175 h 2175"/>
                    <a:gd name="T6" fmla="*/ 1111 w 1111"/>
                    <a:gd name="T7" fmla="*/ 589 h 2175"/>
                    <a:gd name="T8" fmla="*/ 0 w 1111"/>
                    <a:gd name="T9" fmla="*/ 0 h 217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1"/>
                    <a:gd name="T16" fmla="*/ 0 h 2175"/>
                    <a:gd name="T17" fmla="*/ 1111 w 1111"/>
                    <a:gd name="T18" fmla="*/ 2175 h 217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1" h="2175">
                      <a:moveTo>
                        <a:pt x="0" y="0"/>
                      </a:moveTo>
                      <a:lnTo>
                        <a:pt x="0" y="1534"/>
                      </a:lnTo>
                      <a:lnTo>
                        <a:pt x="1111" y="2175"/>
                      </a:lnTo>
                      <a:lnTo>
                        <a:pt x="1111" y="5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28575" cmpd="sng">
                  <a:solidFill>
                    <a:srgbClr val="FFFF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82" name="Line 54"/>
              <p:cNvSpPr>
                <a:spLocks noChangeShapeType="1"/>
              </p:cNvSpPr>
              <p:nvPr/>
            </p:nvSpPr>
            <p:spPr bwMode="auto">
              <a:xfrm>
                <a:off x="384" y="2033"/>
                <a:ext cx="1518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83" name="Line 55"/>
              <p:cNvSpPr>
                <a:spLocks noChangeShapeType="1"/>
              </p:cNvSpPr>
              <p:nvPr/>
            </p:nvSpPr>
            <p:spPr bwMode="auto">
              <a:xfrm>
                <a:off x="1890" y="2027"/>
                <a:ext cx="870" cy="49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84" name="Line 56"/>
              <p:cNvSpPr>
                <a:spLocks noChangeShapeType="1"/>
              </p:cNvSpPr>
              <p:nvPr/>
            </p:nvSpPr>
            <p:spPr bwMode="auto">
              <a:xfrm flipV="1">
                <a:off x="1895" y="829"/>
                <a:ext cx="0" cy="1201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53" name="Line 57"/>
            <p:cNvSpPr>
              <a:spLocks noChangeShapeType="1"/>
            </p:cNvSpPr>
            <p:nvPr/>
          </p:nvSpPr>
          <p:spPr bwMode="auto">
            <a:xfrm>
              <a:off x="3840" y="1069"/>
              <a:ext cx="0" cy="7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4" name="Line 58"/>
            <p:cNvSpPr>
              <a:spLocks noChangeShapeType="1"/>
            </p:cNvSpPr>
            <p:nvPr/>
          </p:nvSpPr>
          <p:spPr bwMode="auto">
            <a:xfrm flipV="1">
              <a:off x="4157" y="981"/>
              <a:ext cx="0" cy="7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5" name="Line 59"/>
            <p:cNvSpPr>
              <a:spLocks noChangeShapeType="1"/>
            </p:cNvSpPr>
            <p:nvPr/>
          </p:nvSpPr>
          <p:spPr bwMode="auto">
            <a:xfrm flipV="1">
              <a:off x="3740" y="1001"/>
              <a:ext cx="0" cy="7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6" name="Line 60"/>
            <p:cNvSpPr>
              <a:spLocks noChangeShapeType="1"/>
            </p:cNvSpPr>
            <p:nvPr/>
          </p:nvSpPr>
          <p:spPr bwMode="auto">
            <a:xfrm>
              <a:off x="4694" y="2045"/>
              <a:ext cx="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7" name="Line 61"/>
            <p:cNvSpPr>
              <a:spLocks noChangeShapeType="1"/>
            </p:cNvSpPr>
            <p:nvPr/>
          </p:nvSpPr>
          <p:spPr bwMode="auto">
            <a:xfrm flipV="1">
              <a:off x="5293" y="1320"/>
              <a:ext cx="0" cy="7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8" name="Line 62"/>
            <p:cNvSpPr>
              <a:spLocks noChangeShapeType="1"/>
            </p:cNvSpPr>
            <p:nvPr/>
          </p:nvSpPr>
          <p:spPr bwMode="auto">
            <a:xfrm>
              <a:off x="4870" y="1063"/>
              <a:ext cx="436" cy="262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59" name="Line 63"/>
            <p:cNvSpPr>
              <a:spLocks noChangeShapeType="1"/>
            </p:cNvSpPr>
            <p:nvPr/>
          </p:nvSpPr>
          <p:spPr bwMode="auto">
            <a:xfrm>
              <a:off x="4682" y="1326"/>
              <a:ext cx="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04" name="Text Box 64"/>
            <p:cNvSpPr txBox="1">
              <a:spLocks noChangeArrowheads="1"/>
            </p:cNvSpPr>
            <p:nvPr/>
          </p:nvSpPr>
          <p:spPr bwMode="auto">
            <a:xfrm>
              <a:off x="3316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63905" name="Text Box 65"/>
            <p:cNvSpPr txBox="1">
              <a:spLocks noChangeArrowheads="1"/>
            </p:cNvSpPr>
            <p:nvPr/>
          </p:nvSpPr>
          <p:spPr bwMode="auto">
            <a:xfrm>
              <a:off x="5294" y="97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63906" name="Text Box 66"/>
            <p:cNvSpPr txBox="1">
              <a:spLocks noChangeArrowheads="1"/>
            </p:cNvSpPr>
            <p:nvPr/>
          </p:nvSpPr>
          <p:spPr bwMode="auto">
            <a:xfrm>
              <a:off x="3996" y="1969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5663" name="Line 67"/>
            <p:cNvSpPr>
              <a:spLocks noChangeShapeType="1"/>
            </p:cNvSpPr>
            <p:nvPr/>
          </p:nvSpPr>
          <p:spPr bwMode="auto">
            <a:xfrm>
              <a:off x="4248" y="992"/>
              <a:ext cx="5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4" name="Line 68"/>
            <p:cNvSpPr>
              <a:spLocks noChangeShapeType="1"/>
            </p:cNvSpPr>
            <p:nvPr/>
          </p:nvSpPr>
          <p:spPr bwMode="auto">
            <a:xfrm flipH="1" flipV="1">
              <a:off x="3724" y="1729"/>
              <a:ext cx="117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5" name="Line 69"/>
            <p:cNvSpPr>
              <a:spLocks noChangeShapeType="1"/>
            </p:cNvSpPr>
            <p:nvPr/>
          </p:nvSpPr>
          <p:spPr bwMode="auto">
            <a:xfrm flipH="1" flipV="1">
              <a:off x="3730" y="998"/>
              <a:ext cx="117" cy="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6" name="Line 70"/>
            <p:cNvSpPr>
              <a:spLocks noChangeShapeType="1"/>
            </p:cNvSpPr>
            <p:nvPr/>
          </p:nvSpPr>
          <p:spPr bwMode="auto">
            <a:xfrm flipH="1" flipV="1">
              <a:off x="4749" y="988"/>
              <a:ext cx="1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7" name="Line 71"/>
            <p:cNvSpPr>
              <a:spLocks noChangeShapeType="1"/>
            </p:cNvSpPr>
            <p:nvPr/>
          </p:nvSpPr>
          <p:spPr bwMode="auto">
            <a:xfrm>
              <a:off x="3847" y="1067"/>
              <a:ext cx="10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8" name="Line 72"/>
            <p:cNvSpPr>
              <a:spLocks noChangeShapeType="1"/>
            </p:cNvSpPr>
            <p:nvPr/>
          </p:nvSpPr>
          <p:spPr bwMode="auto">
            <a:xfrm>
              <a:off x="3726" y="996"/>
              <a:ext cx="888" cy="0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69" name="Line 73"/>
            <p:cNvSpPr>
              <a:spLocks noChangeShapeType="1"/>
            </p:cNvSpPr>
            <p:nvPr/>
          </p:nvSpPr>
          <p:spPr bwMode="auto">
            <a:xfrm flipH="1" flipV="1">
              <a:off x="4576" y="980"/>
              <a:ext cx="24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0" name="Line 74"/>
            <p:cNvSpPr>
              <a:spLocks noChangeShapeType="1"/>
            </p:cNvSpPr>
            <p:nvPr/>
          </p:nvSpPr>
          <p:spPr bwMode="auto">
            <a:xfrm>
              <a:off x="4812" y="111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1" name="Freeform 75"/>
            <p:cNvSpPr>
              <a:spLocks/>
            </p:cNvSpPr>
            <p:nvPr/>
          </p:nvSpPr>
          <p:spPr bwMode="auto">
            <a:xfrm>
              <a:off x="3840" y="1794"/>
              <a:ext cx="972" cy="258"/>
            </a:xfrm>
            <a:custGeom>
              <a:avLst/>
              <a:gdLst>
                <a:gd name="T0" fmla="*/ 0 w 972"/>
                <a:gd name="T1" fmla="*/ 0 h 258"/>
                <a:gd name="T2" fmla="*/ 858 w 972"/>
                <a:gd name="T3" fmla="*/ 258 h 258"/>
                <a:gd name="T4" fmla="*/ 972 w 972"/>
                <a:gd name="T5" fmla="*/ 48 h 258"/>
                <a:gd name="T6" fmla="*/ 0 w 972"/>
                <a:gd name="T7" fmla="*/ 0 h 2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2"/>
                <a:gd name="T13" fmla="*/ 0 h 258"/>
                <a:gd name="T14" fmla="*/ 972 w 972"/>
                <a:gd name="T15" fmla="*/ 258 h 2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2" h="258">
                  <a:moveTo>
                    <a:pt x="0" y="0"/>
                  </a:moveTo>
                  <a:lnTo>
                    <a:pt x="858" y="258"/>
                  </a:lnTo>
                  <a:lnTo>
                    <a:pt x="972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2" name="Line 76"/>
            <p:cNvSpPr>
              <a:spLocks noChangeShapeType="1"/>
            </p:cNvSpPr>
            <p:nvPr/>
          </p:nvSpPr>
          <p:spPr bwMode="auto">
            <a:xfrm>
              <a:off x="4686" y="132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3" name="Line 77"/>
            <p:cNvSpPr>
              <a:spLocks noChangeShapeType="1"/>
            </p:cNvSpPr>
            <p:nvPr/>
          </p:nvSpPr>
          <p:spPr bwMode="auto">
            <a:xfrm flipH="1" flipV="1">
              <a:off x="4144" y="1727"/>
              <a:ext cx="542" cy="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4" name="Freeform 78"/>
            <p:cNvSpPr>
              <a:spLocks/>
            </p:cNvSpPr>
            <p:nvPr/>
          </p:nvSpPr>
          <p:spPr bwMode="auto">
            <a:xfrm>
              <a:off x="3840" y="1074"/>
              <a:ext cx="972" cy="258"/>
            </a:xfrm>
            <a:custGeom>
              <a:avLst/>
              <a:gdLst>
                <a:gd name="T0" fmla="*/ 0 w 972"/>
                <a:gd name="T1" fmla="*/ 0 h 258"/>
                <a:gd name="T2" fmla="*/ 858 w 972"/>
                <a:gd name="T3" fmla="*/ 258 h 258"/>
                <a:gd name="T4" fmla="*/ 972 w 972"/>
                <a:gd name="T5" fmla="*/ 48 h 258"/>
                <a:gd name="T6" fmla="*/ 0 w 972"/>
                <a:gd name="T7" fmla="*/ 0 h 2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2"/>
                <a:gd name="T13" fmla="*/ 0 h 258"/>
                <a:gd name="T14" fmla="*/ 972 w 972"/>
                <a:gd name="T15" fmla="*/ 258 h 2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2" h="258">
                  <a:moveTo>
                    <a:pt x="0" y="0"/>
                  </a:moveTo>
                  <a:lnTo>
                    <a:pt x="858" y="258"/>
                  </a:lnTo>
                  <a:lnTo>
                    <a:pt x="972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5" name="Line 79"/>
            <p:cNvSpPr>
              <a:spLocks noChangeShapeType="1"/>
            </p:cNvSpPr>
            <p:nvPr/>
          </p:nvSpPr>
          <p:spPr bwMode="auto">
            <a:xfrm flipH="1" flipV="1">
              <a:off x="4137" y="991"/>
              <a:ext cx="554" cy="3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6" name="Line 80"/>
            <p:cNvSpPr>
              <a:spLocks noChangeShapeType="1"/>
            </p:cNvSpPr>
            <p:nvPr/>
          </p:nvSpPr>
          <p:spPr bwMode="auto">
            <a:xfrm>
              <a:off x="4812" y="1122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7" name="Line 81"/>
            <p:cNvSpPr>
              <a:spLocks noChangeShapeType="1"/>
            </p:cNvSpPr>
            <p:nvPr/>
          </p:nvSpPr>
          <p:spPr bwMode="auto">
            <a:xfrm>
              <a:off x="4818" y="18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8" name="Line 82"/>
            <p:cNvSpPr>
              <a:spLocks noChangeShapeType="1"/>
            </p:cNvSpPr>
            <p:nvPr/>
          </p:nvSpPr>
          <p:spPr bwMode="auto">
            <a:xfrm>
              <a:off x="4956" y="1116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79" name="Line 83"/>
            <p:cNvSpPr>
              <a:spLocks noChangeShapeType="1"/>
            </p:cNvSpPr>
            <p:nvPr/>
          </p:nvSpPr>
          <p:spPr bwMode="auto">
            <a:xfrm>
              <a:off x="4608" y="984"/>
              <a:ext cx="0" cy="7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80" name="Line 84"/>
            <p:cNvSpPr>
              <a:spLocks noChangeShapeType="1"/>
            </p:cNvSpPr>
            <p:nvPr/>
          </p:nvSpPr>
          <p:spPr bwMode="auto">
            <a:xfrm>
              <a:off x="4614" y="1740"/>
              <a:ext cx="198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601663" y="201609"/>
            <a:ext cx="3590925" cy="2638425"/>
            <a:chOff x="392" y="580"/>
            <a:chExt cx="2262" cy="1662"/>
          </a:xfrm>
        </p:grpSpPr>
        <p:grpSp>
          <p:nvGrpSpPr>
            <p:cNvPr id="25615" name="Group 86"/>
            <p:cNvGrpSpPr>
              <a:grpSpLocks/>
            </p:cNvGrpSpPr>
            <p:nvPr/>
          </p:nvGrpSpPr>
          <p:grpSpPr bwMode="auto">
            <a:xfrm>
              <a:off x="411" y="612"/>
              <a:ext cx="2221" cy="1578"/>
              <a:chOff x="1000" y="744"/>
              <a:chExt cx="3067" cy="2178"/>
            </a:xfrm>
          </p:grpSpPr>
          <p:sp>
            <p:nvSpPr>
              <p:cNvPr id="25649" name="Freeform 87"/>
              <p:cNvSpPr>
                <a:spLocks/>
              </p:cNvSpPr>
              <p:nvPr/>
            </p:nvSpPr>
            <p:spPr bwMode="auto">
              <a:xfrm>
                <a:off x="1000" y="2293"/>
                <a:ext cx="3067" cy="629"/>
              </a:xfrm>
              <a:custGeom>
                <a:avLst/>
                <a:gdLst>
                  <a:gd name="T0" fmla="*/ 989 w 3067"/>
                  <a:gd name="T1" fmla="*/ 629 h 629"/>
                  <a:gd name="T2" fmla="*/ 3067 w 3067"/>
                  <a:gd name="T3" fmla="*/ 629 h 629"/>
                  <a:gd name="T4" fmla="*/ 1978 w 3067"/>
                  <a:gd name="T5" fmla="*/ 0 h 629"/>
                  <a:gd name="T6" fmla="*/ 0 w 3067"/>
                  <a:gd name="T7" fmla="*/ 0 h 629"/>
                  <a:gd name="T8" fmla="*/ 989 w 3067"/>
                  <a:gd name="T9" fmla="*/ 629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50" name="Rectangle 88"/>
              <p:cNvSpPr>
                <a:spLocks noChangeArrowheads="1"/>
              </p:cNvSpPr>
              <p:nvPr/>
            </p:nvSpPr>
            <p:spPr bwMode="auto">
              <a:xfrm>
                <a:off x="1000" y="744"/>
                <a:ext cx="1934" cy="1534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5651" name="Freeform 89"/>
              <p:cNvSpPr>
                <a:spLocks/>
              </p:cNvSpPr>
              <p:nvPr/>
            </p:nvSpPr>
            <p:spPr bwMode="auto">
              <a:xfrm>
                <a:off x="2956" y="744"/>
                <a:ext cx="1111" cy="2175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1534 h 2175"/>
                  <a:gd name="T4" fmla="*/ 1111 w 1111"/>
                  <a:gd name="T5" fmla="*/ 2175 h 2175"/>
                  <a:gd name="T6" fmla="*/ 1111 w 1111"/>
                  <a:gd name="T7" fmla="*/ 589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616" name="Line 90"/>
            <p:cNvSpPr>
              <a:spLocks noChangeShapeType="1"/>
            </p:cNvSpPr>
            <p:nvPr/>
          </p:nvSpPr>
          <p:spPr bwMode="auto">
            <a:xfrm>
              <a:off x="396" y="1733"/>
              <a:ext cx="1431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7" name="Line 91"/>
            <p:cNvSpPr>
              <a:spLocks noChangeShapeType="1"/>
            </p:cNvSpPr>
            <p:nvPr/>
          </p:nvSpPr>
          <p:spPr bwMode="auto">
            <a:xfrm>
              <a:off x="1816" y="1727"/>
              <a:ext cx="820" cy="469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8" name="Line 92"/>
            <p:cNvSpPr>
              <a:spLocks noChangeShapeType="1"/>
            </p:cNvSpPr>
            <p:nvPr/>
          </p:nvSpPr>
          <p:spPr bwMode="auto">
            <a:xfrm>
              <a:off x="1871" y="1568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9" name="Line 93"/>
            <p:cNvSpPr>
              <a:spLocks noChangeShapeType="1"/>
            </p:cNvSpPr>
            <p:nvPr/>
          </p:nvSpPr>
          <p:spPr bwMode="auto">
            <a:xfrm>
              <a:off x="1108" y="1655"/>
              <a:ext cx="0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0" name="Line 94"/>
            <p:cNvSpPr>
              <a:spLocks noChangeShapeType="1"/>
            </p:cNvSpPr>
            <p:nvPr/>
          </p:nvSpPr>
          <p:spPr bwMode="auto">
            <a:xfrm flipV="1">
              <a:off x="1102" y="1977"/>
              <a:ext cx="783" cy="0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Line 95"/>
            <p:cNvSpPr>
              <a:spLocks noChangeShapeType="1"/>
            </p:cNvSpPr>
            <p:nvPr/>
          </p:nvSpPr>
          <p:spPr bwMode="auto">
            <a:xfrm flipV="1">
              <a:off x="1475" y="1324"/>
              <a:ext cx="0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2" name="Line 96"/>
            <p:cNvSpPr>
              <a:spLocks noChangeShapeType="1"/>
            </p:cNvSpPr>
            <p:nvPr/>
          </p:nvSpPr>
          <p:spPr bwMode="auto">
            <a:xfrm flipV="1">
              <a:off x="697" y="1478"/>
              <a:ext cx="0" cy="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3" name="Line 97"/>
            <p:cNvSpPr>
              <a:spLocks noChangeShapeType="1"/>
            </p:cNvSpPr>
            <p:nvPr/>
          </p:nvSpPr>
          <p:spPr bwMode="auto">
            <a:xfrm>
              <a:off x="1877" y="1970"/>
              <a:ext cx="3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4" name="Line 98"/>
            <p:cNvSpPr>
              <a:spLocks noChangeShapeType="1"/>
            </p:cNvSpPr>
            <p:nvPr/>
          </p:nvSpPr>
          <p:spPr bwMode="auto">
            <a:xfrm flipV="1">
              <a:off x="2232" y="1685"/>
              <a:ext cx="0" cy="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5" name="Line 99"/>
            <p:cNvSpPr>
              <a:spLocks noChangeShapeType="1"/>
            </p:cNvSpPr>
            <p:nvPr/>
          </p:nvSpPr>
          <p:spPr bwMode="auto">
            <a:xfrm flipH="1" flipV="1">
              <a:off x="1459" y="1729"/>
              <a:ext cx="408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Line 100"/>
            <p:cNvSpPr>
              <a:spLocks noChangeShapeType="1"/>
            </p:cNvSpPr>
            <p:nvPr/>
          </p:nvSpPr>
          <p:spPr bwMode="auto">
            <a:xfrm flipH="1" flipV="1">
              <a:off x="1270" y="677"/>
              <a:ext cx="394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41" name="Text Box 101"/>
            <p:cNvSpPr txBox="1">
              <a:spLocks noChangeArrowheads="1"/>
            </p:cNvSpPr>
            <p:nvPr/>
          </p:nvSpPr>
          <p:spPr bwMode="auto">
            <a:xfrm>
              <a:off x="392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63942" name="Text Box 102"/>
            <p:cNvSpPr txBox="1">
              <a:spLocks noChangeArrowheads="1"/>
            </p:cNvSpPr>
            <p:nvPr/>
          </p:nvSpPr>
          <p:spPr bwMode="auto">
            <a:xfrm>
              <a:off x="2367" y="970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25629" name="Line 103"/>
            <p:cNvSpPr>
              <a:spLocks noChangeShapeType="1"/>
            </p:cNvSpPr>
            <p:nvPr/>
          </p:nvSpPr>
          <p:spPr bwMode="auto">
            <a:xfrm>
              <a:off x="1279" y="683"/>
              <a:ext cx="5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0" name="Line 104"/>
            <p:cNvSpPr>
              <a:spLocks noChangeShapeType="1"/>
            </p:cNvSpPr>
            <p:nvPr/>
          </p:nvSpPr>
          <p:spPr bwMode="auto">
            <a:xfrm flipH="1" flipV="1">
              <a:off x="683" y="1471"/>
              <a:ext cx="408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1" name="Line 105"/>
            <p:cNvSpPr>
              <a:spLocks noChangeShapeType="1"/>
            </p:cNvSpPr>
            <p:nvPr/>
          </p:nvSpPr>
          <p:spPr bwMode="auto">
            <a:xfrm flipH="1" flipV="1">
              <a:off x="695" y="1734"/>
              <a:ext cx="408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2" name="Line 106"/>
            <p:cNvSpPr>
              <a:spLocks noChangeShapeType="1"/>
            </p:cNvSpPr>
            <p:nvPr/>
          </p:nvSpPr>
          <p:spPr bwMode="auto">
            <a:xfrm flipH="1" flipV="1">
              <a:off x="1820" y="677"/>
              <a:ext cx="405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3" name="Line 107"/>
            <p:cNvSpPr>
              <a:spLocks noChangeShapeType="1"/>
            </p:cNvSpPr>
            <p:nvPr/>
          </p:nvSpPr>
          <p:spPr bwMode="auto">
            <a:xfrm>
              <a:off x="1674" y="914"/>
              <a:ext cx="5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4" name="Freeform 108"/>
            <p:cNvSpPr>
              <a:spLocks/>
            </p:cNvSpPr>
            <p:nvPr/>
          </p:nvSpPr>
          <p:spPr bwMode="auto">
            <a:xfrm>
              <a:off x="702" y="684"/>
              <a:ext cx="774" cy="792"/>
            </a:xfrm>
            <a:custGeom>
              <a:avLst/>
              <a:gdLst>
                <a:gd name="T0" fmla="*/ 576 w 774"/>
                <a:gd name="T1" fmla="*/ 0 h 792"/>
                <a:gd name="T2" fmla="*/ 774 w 774"/>
                <a:gd name="T3" fmla="*/ 660 h 792"/>
                <a:gd name="T4" fmla="*/ 0 w 774"/>
                <a:gd name="T5" fmla="*/ 792 h 792"/>
                <a:gd name="T6" fmla="*/ 576 w 774"/>
                <a:gd name="T7" fmla="*/ 0 h 7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4"/>
                <a:gd name="T13" fmla="*/ 0 h 792"/>
                <a:gd name="T14" fmla="*/ 774 w 774"/>
                <a:gd name="T15" fmla="*/ 792 h 7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4" h="792">
                  <a:moveTo>
                    <a:pt x="576" y="0"/>
                  </a:moveTo>
                  <a:lnTo>
                    <a:pt x="774" y="660"/>
                  </a:lnTo>
                  <a:lnTo>
                    <a:pt x="0" y="79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5" name="Line 109"/>
            <p:cNvSpPr>
              <a:spLocks noChangeShapeType="1"/>
            </p:cNvSpPr>
            <p:nvPr/>
          </p:nvSpPr>
          <p:spPr bwMode="auto">
            <a:xfrm>
              <a:off x="696" y="1476"/>
              <a:ext cx="1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6" name="Line 110"/>
            <p:cNvSpPr>
              <a:spLocks noChangeShapeType="1"/>
            </p:cNvSpPr>
            <p:nvPr/>
          </p:nvSpPr>
          <p:spPr bwMode="auto">
            <a:xfrm flipH="1" flipV="1">
              <a:off x="1823" y="1476"/>
              <a:ext cx="408" cy="2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7" name="Line 111"/>
            <p:cNvSpPr>
              <a:spLocks noChangeShapeType="1"/>
            </p:cNvSpPr>
            <p:nvPr/>
          </p:nvSpPr>
          <p:spPr bwMode="auto">
            <a:xfrm flipV="1">
              <a:off x="1818" y="594"/>
              <a:ext cx="0" cy="1134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8" name="Line 112"/>
            <p:cNvSpPr>
              <a:spLocks noChangeShapeType="1"/>
            </p:cNvSpPr>
            <p:nvPr/>
          </p:nvSpPr>
          <p:spPr bwMode="auto">
            <a:xfrm>
              <a:off x="2234" y="911"/>
              <a:ext cx="0" cy="800"/>
            </a:xfrm>
            <a:prstGeom prst="line">
              <a:avLst/>
            </a:prstGeom>
            <a:noFill/>
            <a:ln w="5715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Line 113"/>
            <p:cNvSpPr>
              <a:spLocks noChangeShapeType="1"/>
            </p:cNvSpPr>
            <p:nvPr/>
          </p:nvSpPr>
          <p:spPr bwMode="auto">
            <a:xfrm>
              <a:off x="1470" y="1344"/>
              <a:ext cx="40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0" name="Line 114"/>
            <p:cNvSpPr>
              <a:spLocks noChangeShapeType="1"/>
            </p:cNvSpPr>
            <p:nvPr/>
          </p:nvSpPr>
          <p:spPr bwMode="auto">
            <a:xfrm>
              <a:off x="1104" y="1704"/>
              <a:ext cx="1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1" name="Line 115"/>
            <p:cNvSpPr>
              <a:spLocks noChangeShapeType="1"/>
            </p:cNvSpPr>
            <p:nvPr/>
          </p:nvSpPr>
          <p:spPr bwMode="auto">
            <a:xfrm>
              <a:off x="1872" y="1578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2" name="Line 116"/>
            <p:cNvSpPr>
              <a:spLocks noChangeShapeType="1"/>
            </p:cNvSpPr>
            <p:nvPr/>
          </p:nvSpPr>
          <p:spPr bwMode="auto">
            <a:xfrm>
              <a:off x="1272" y="690"/>
              <a:ext cx="0" cy="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3" name="Line 117"/>
            <p:cNvSpPr>
              <a:spLocks noChangeShapeType="1"/>
            </p:cNvSpPr>
            <p:nvPr/>
          </p:nvSpPr>
          <p:spPr bwMode="auto">
            <a:xfrm>
              <a:off x="1278" y="1734"/>
              <a:ext cx="390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4" name="Line 118"/>
            <p:cNvSpPr>
              <a:spLocks noChangeShapeType="1"/>
            </p:cNvSpPr>
            <p:nvPr/>
          </p:nvSpPr>
          <p:spPr bwMode="auto">
            <a:xfrm>
              <a:off x="1668" y="906"/>
              <a:ext cx="0" cy="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59" name="Text Box 119"/>
            <p:cNvSpPr txBox="1">
              <a:spLocks noChangeArrowheads="1"/>
            </p:cNvSpPr>
            <p:nvPr/>
          </p:nvSpPr>
          <p:spPr bwMode="auto">
            <a:xfrm>
              <a:off x="1065" y="195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5646" name="Line 120"/>
            <p:cNvSpPr>
              <a:spLocks noChangeShapeType="1"/>
            </p:cNvSpPr>
            <p:nvPr/>
          </p:nvSpPr>
          <p:spPr bwMode="auto">
            <a:xfrm flipH="1" flipV="1">
              <a:off x="1806" y="1338"/>
              <a:ext cx="41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7" name="Line 121"/>
            <p:cNvSpPr>
              <a:spLocks noChangeShapeType="1"/>
            </p:cNvSpPr>
            <p:nvPr/>
          </p:nvSpPr>
          <p:spPr bwMode="auto">
            <a:xfrm>
              <a:off x="1464" y="1344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48" name="Freeform 122"/>
            <p:cNvSpPr>
              <a:spLocks/>
            </p:cNvSpPr>
            <p:nvPr/>
          </p:nvSpPr>
          <p:spPr bwMode="auto">
            <a:xfrm>
              <a:off x="1098" y="912"/>
              <a:ext cx="774" cy="792"/>
            </a:xfrm>
            <a:custGeom>
              <a:avLst/>
              <a:gdLst>
                <a:gd name="T0" fmla="*/ 576 w 774"/>
                <a:gd name="T1" fmla="*/ 0 h 792"/>
                <a:gd name="T2" fmla="*/ 774 w 774"/>
                <a:gd name="T3" fmla="*/ 660 h 792"/>
                <a:gd name="T4" fmla="*/ 0 w 774"/>
                <a:gd name="T5" fmla="*/ 792 h 792"/>
                <a:gd name="T6" fmla="*/ 576 w 774"/>
                <a:gd name="T7" fmla="*/ 0 h 7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4"/>
                <a:gd name="T13" fmla="*/ 0 h 792"/>
                <a:gd name="T14" fmla="*/ 774 w 774"/>
                <a:gd name="T15" fmla="*/ 792 h 7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4" h="792">
                  <a:moveTo>
                    <a:pt x="576" y="0"/>
                  </a:moveTo>
                  <a:lnTo>
                    <a:pt x="774" y="660"/>
                  </a:lnTo>
                  <a:lnTo>
                    <a:pt x="0" y="79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" name="Rectangle 35"/>
          <p:cNvSpPr>
            <a:spLocks noChangeArrowheads="1"/>
          </p:cNvSpPr>
          <p:nvPr/>
        </p:nvSpPr>
        <p:spPr bwMode="auto">
          <a:xfrm>
            <a:off x="757238" y="5760072"/>
            <a:ext cx="80629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投影面平行面的投影特性：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  在所平行的投影面上的投影反映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实形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；在其它两个投影面上的投影积聚成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，并平行于相应投影轴。</a:t>
            </a:r>
            <a:endParaRPr lang="zh-CN" altLang="en-US" sz="20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6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63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63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63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2" grpId="0" animBg="1" autoUpdateAnimBg="0"/>
      <p:bldP spid="163843" grpId="0" build="p" autoUpdateAnimBg="0"/>
      <p:bldP spid="163844" grpId="0" build="p" autoUpdateAnimBg="0"/>
      <p:bldP spid="163845" grpId="0" animBg="1" autoUpdateAnimBg="0"/>
      <p:bldP spid="163846" grpId="0" animBg="1" autoUpdateAnimBg="0"/>
      <p:bldP spid="163847" grpId="0" build="p" autoUpdateAnimBg="0"/>
      <p:bldP spid="163848" grpId="0" build="p" autoUpdateAnimBg="0"/>
      <p:bldP spid="163849" grpId="0" build="p" autoUpdateAnimBg="0"/>
      <p:bldP spid="163850" grpId="0" build="p" autoUpdateAnimBg="0"/>
      <p:bldP spid="12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A94D759-D04C-4DB4-8E0C-B3891E40B44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56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363538" y="1303338"/>
            <a:ext cx="8289925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投影面垂直面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　　垂直于某一个投影面、与另两个投影面倾斜的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平面 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投影面垂直面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</a:p>
          <a:p>
            <a:pPr eaLnBrk="1" hangingPunct="1">
              <a:buClrTx/>
              <a:buFontTx/>
              <a:buNone/>
            </a:pP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平面垂直于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H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铅垂面</a:t>
            </a:r>
            <a:endParaRPr lang="zh-CN" altLang="en-US" sz="280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平面垂直于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V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正垂面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平面垂直于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W</a:t>
            </a:r>
            <a:r>
              <a:rPr lang="en-US" altLang="zh-CN" sz="2800">
                <a:ea typeface="黑体" pitchFamily="2" charset="-122"/>
              </a:rPr>
              <a:t>—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侧垂面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build="allAtOnce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49916" y="6316134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F676160-2627-4099-895B-3331132745E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57</a:t>
            </a:fld>
            <a:endParaRPr lang="en-US" altLang="zh-CN" sz="1400" dirty="0">
              <a:solidFill>
                <a:schemeClr val="bg2"/>
              </a:solidFill>
            </a:endParaRPr>
          </a:p>
        </p:txBody>
      </p:sp>
      <p:sp>
        <p:nvSpPr>
          <p:cNvPr id="150587" name="AutoShape 59" descr="蓝色砂纸"/>
          <p:cNvSpPr>
            <a:spLocks noChangeArrowheads="1"/>
          </p:cNvSpPr>
          <p:nvPr/>
        </p:nvSpPr>
        <p:spPr bwMode="auto">
          <a:xfrm>
            <a:off x="4211638" y="2754838"/>
            <a:ext cx="1287462" cy="739775"/>
          </a:xfrm>
          <a:prstGeom prst="wedgeRoundRectCallout">
            <a:avLst>
              <a:gd name="adj1" fmla="val -75278"/>
              <a:gd name="adj2" fmla="val -37556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50588" name="Text Box 60"/>
          <p:cNvSpPr txBox="1">
            <a:spLocks noChangeArrowheads="1"/>
          </p:cNvSpPr>
          <p:nvPr/>
        </p:nvSpPr>
        <p:spPr bwMode="auto">
          <a:xfrm>
            <a:off x="4419600" y="2658001"/>
            <a:ext cx="744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  <a:sym typeface="Symbol" pitchFamily="18" charset="2"/>
              </a:rPr>
              <a:t>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V</a:t>
            </a:r>
          </a:p>
        </p:txBody>
      </p:sp>
      <p:sp>
        <p:nvSpPr>
          <p:cNvPr id="150589" name="Rectangle 61"/>
          <p:cNvSpPr>
            <a:spLocks noChangeArrowheads="1"/>
          </p:cNvSpPr>
          <p:nvPr/>
        </p:nvSpPr>
        <p:spPr bwMode="auto">
          <a:xfrm>
            <a:off x="4224338" y="302788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正垂面</a:t>
            </a:r>
          </a:p>
        </p:txBody>
      </p:sp>
      <p:sp>
        <p:nvSpPr>
          <p:cNvPr id="150590" name="AutoShape 62" descr="蓝色砂纸"/>
          <p:cNvSpPr>
            <a:spLocks noChangeArrowheads="1"/>
          </p:cNvSpPr>
          <p:nvPr/>
        </p:nvSpPr>
        <p:spPr bwMode="auto">
          <a:xfrm>
            <a:off x="6715125" y="2954863"/>
            <a:ext cx="1219200" cy="739775"/>
          </a:xfrm>
          <a:prstGeom prst="wedgeRoundRectCallout">
            <a:avLst>
              <a:gd name="adj1" fmla="val 61588"/>
              <a:gd name="adj2" fmla="val -83690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50591" name="AutoShape 63" descr="蓝色砂纸"/>
          <p:cNvSpPr>
            <a:spLocks noChangeArrowheads="1"/>
          </p:cNvSpPr>
          <p:nvPr/>
        </p:nvSpPr>
        <p:spPr bwMode="auto">
          <a:xfrm>
            <a:off x="4813300" y="4985276"/>
            <a:ext cx="1289050" cy="774700"/>
          </a:xfrm>
          <a:prstGeom prst="wedgeRoundRectCallout">
            <a:avLst>
              <a:gd name="adj1" fmla="val -104185"/>
              <a:gd name="adj2" fmla="val -90778"/>
              <a:gd name="adj3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1905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400" b="0">
              <a:ea typeface="隶书" pitchFamily="49" charset="-122"/>
            </a:endParaRPr>
          </a:p>
        </p:txBody>
      </p:sp>
      <p:sp>
        <p:nvSpPr>
          <p:cNvPr id="150592" name="Rectangle 64"/>
          <p:cNvSpPr>
            <a:spLocks noChangeArrowheads="1"/>
          </p:cNvSpPr>
          <p:nvPr/>
        </p:nvSpPr>
        <p:spPr bwMode="auto">
          <a:xfrm>
            <a:off x="6723063" y="3223151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铅垂面</a:t>
            </a:r>
          </a:p>
        </p:txBody>
      </p:sp>
      <p:sp>
        <p:nvSpPr>
          <p:cNvPr id="150593" name="Text Box 65"/>
          <p:cNvSpPr txBox="1">
            <a:spLocks noChangeArrowheads="1"/>
          </p:cNvSpPr>
          <p:nvPr/>
        </p:nvSpPr>
        <p:spPr bwMode="auto">
          <a:xfrm>
            <a:off x="6989763" y="2869138"/>
            <a:ext cx="784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  <a:sym typeface="Symbol" pitchFamily="18" charset="2"/>
              </a:rPr>
              <a:t>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H</a:t>
            </a:r>
          </a:p>
        </p:txBody>
      </p:sp>
      <p:sp>
        <p:nvSpPr>
          <p:cNvPr id="150594" name="Text Box 66"/>
          <p:cNvSpPr txBox="1">
            <a:spLocks noChangeArrowheads="1"/>
          </p:cNvSpPr>
          <p:nvPr/>
        </p:nvSpPr>
        <p:spPr bwMode="auto">
          <a:xfrm>
            <a:off x="5084763" y="4915426"/>
            <a:ext cx="82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solidFill>
                  <a:srgbClr val="333399"/>
                </a:solidFill>
                <a:ea typeface="隶书" pitchFamily="49" charset="-122"/>
                <a:sym typeface="Symbol" pitchFamily="18" charset="2"/>
              </a:rPr>
              <a:t> </a:t>
            </a:r>
            <a:r>
              <a:rPr lang="en-US" altLang="zh-CN" sz="2800" i="1">
                <a:solidFill>
                  <a:srgbClr val="333399"/>
                </a:solidFill>
                <a:ea typeface="隶书" pitchFamily="49" charset="-122"/>
              </a:rPr>
              <a:t>W</a:t>
            </a:r>
          </a:p>
        </p:txBody>
      </p:sp>
      <p:sp>
        <p:nvSpPr>
          <p:cNvPr id="150595" name="Rectangle 67"/>
          <p:cNvSpPr>
            <a:spLocks noChangeArrowheads="1"/>
          </p:cNvSpPr>
          <p:nvPr/>
        </p:nvSpPr>
        <p:spPr bwMode="auto">
          <a:xfrm>
            <a:off x="4856163" y="528531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黑体" pitchFamily="2" charset="-122"/>
              </a:rPr>
              <a:t>侧垂面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600075" y="171976"/>
            <a:ext cx="3590925" cy="2638425"/>
            <a:chOff x="392" y="580"/>
            <a:chExt cx="2262" cy="1662"/>
          </a:xfrm>
        </p:grpSpPr>
        <p:grpSp>
          <p:nvGrpSpPr>
            <p:cNvPr id="29795" name="Group 69"/>
            <p:cNvGrpSpPr>
              <a:grpSpLocks/>
            </p:cNvGrpSpPr>
            <p:nvPr/>
          </p:nvGrpSpPr>
          <p:grpSpPr bwMode="auto">
            <a:xfrm>
              <a:off x="411" y="612"/>
              <a:ext cx="2221" cy="1578"/>
              <a:chOff x="1000" y="744"/>
              <a:chExt cx="3067" cy="2178"/>
            </a:xfrm>
          </p:grpSpPr>
          <p:sp>
            <p:nvSpPr>
              <p:cNvPr id="29833" name="Freeform 70"/>
              <p:cNvSpPr>
                <a:spLocks/>
              </p:cNvSpPr>
              <p:nvPr/>
            </p:nvSpPr>
            <p:spPr bwMode="auto">
              <a:xfrm>
                <a:off x="1000" y="2293"/>
                <a:ext cx="3067" cy="629"/>
              </a:xfrm>
              <a:custGeom>
                <a:avLst/>
                <a:gdLst>
                  <a:gd name="T0" fmla="*/ 989 w 3067"/>
                  <a:gd name="T1" fmla="*/ 629 h 629"/>
                  <a:gd name="T2" fmla="*/ 3067 w 3067"/>
                  <a:gd name="T3" fmla="*/ 629 h 629"/>
                  <a:gd name="T4" fmla="*/ 1978 w 3067"/>
                  <a:gd name="T5" fmla="*/ 0 h 629"/>
                  <a:gd name="T6" fmla="*/ 0 w 3067"/>
                  <a:gd name="T7" fmla="*/ 0 h 629"/>
                  <a:gd name="T8" fmla="*/ 989 w 3067"/>
                  <a:gd name="T9" fmla="*/ 629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834" name="Rectangle 71"/>
              <p:cNvSpPr>
                <a:spLocks noChangeArrowheads="1"/>
              </p:cNvSpPr>
              <p:nvPr/>
            </p:nvSpPr>
            <p:spPr bwMode="auto">
              <a:xfrm>
                <a:off x="1000" y="744"/>
                <a:ext cx="1934" cy="1534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9835" name="Freeform 72"/>
              <p:cNvSpPr>
                <a:spLocks/>
              </p:cNvSpPr>
              <p:nvPr/>
            </p:nvSpPr>
            <p:spPr bwMode="auto">
              <a:xfrm>
                <a:off x="2956" y="744"/>
                <a:ext cx="1111" cy="2175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1534 h 2175"/>
                  <a:gd name="T4" fmla="*/ 1111 w 1111"/>
                  <a:gd name="T5" fmla="*/ 2175 h 2175"/>
                  <a:gd name="T6" fmla="*/ 1111 w 1111"/>
                  <a:gd name="T7" fmla="*/ 589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96" name="Line 73"/>
            <p:cNvSpPr>
              <a:spLocks noChangeShapeType="1"/>
            </p:cNvSpPr>
            <p:nvPr/>
          </p:nvSpPr>
          <p:spPr bwMode="auto">
            <a:xfrm>
              <a:off x="396" y="1733"/>
              <a:ext cx="1431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7" name="Line 74"/>
            <p:cNvSpPr>
              <a:spLocks noChangeShapeType="1"/>
            </p:cNvSpPr>
            <p:nvPr/>
          </p:nvSpPr>
          <p:spPr bwMode="auto">
            <a:xfrm>
              <a:off x="1816" y="1727"/>
              <a:ext cx="820" cy="469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8" name="Line 75"/>
            <p:cNvSpPr>
              <a:spLocks noChangeShapeType="1"/>
            </p:cNvSpPr>
            <p:nvPr/>
          </p:nvSpPr>
          <p:spPr bwMode="auto">
            <a:xfrm>
              <a:off x="1703" y="1382"/>
              <a:ext cx="0" cy="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9" name="Line 76"/>
            <p:cNvSpPr>
              <a:spLocks noChangeShapeType="1"/>
            </p:cNvSpPr>
            <p:nvPr/>
          </p:nvSpPr>
          <p:spPr bwMode="auto">
            <a:xfrm>
              <a:off x="982" y="1619"/>
              <a:ext cx="0" cy="2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0" name="Line 77"/>
            <p:cNvSpPr>
              <a:spLocks noChangeShapeType="1"/>
            </p:cNvSpPr>
            <p:nvPr/>
          </p:nvSpPr>
          <p:spPr bwMode="auto">
            <a:xfrm flipV="1">
              <a:off x="1289" y="682"/>
              <a:ext cx="0" cy="10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1" name="Line 78"/>
            <p:cNvSpPr>
              <a:spLocks noChangeShapeType="1"/>
            </p:cNvSpPr>
            <p:nvPr/>
          </p:nvSpPr>
          <p:spPr bwMode="auto">
            <a:xfrm flipV="1">
              <a:off x="697" y="1478"/>
              <a:ext cx="0" cy="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2" name="Line 79"/>
            <p:cNvSpPr>
              <a:spLocks noChangeShapeType="1"/>
            </p:cNvSpPr>
            <p:nvPr/>
          </p:nvSpPr>
          <p:spPr bwMode="auto">
            <a:xfrm>
              <a:off x="1703" y="2108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3" name="Line 80"/>
            <p:cNvSpPr>
              <a:spLocks noChangeShapeType="1"/>
            </p:cNvSpPr>
            <p:nvPr/>
          </p:nvSpPr>
          <p:spPr bwMode="auto">
            <a:xfrm flipV="1">
              <a:off x="2118" y="1637"/>
              <a:ext cx="0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4" name="Line 81"/>
            <p:cNvSpPr>
              <a:spLocks noChangeShapeType="1"/>
            </p:cNvSpPr>
            <p:nvPr/>
          </p:nvSpPr>
          <p:spPr bwMode="auto">
            <a:xfrm flipH="1" flipV="1">
              <a:off x="1270" y="677"/>
              <a:ext cx="148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610" name="Text Box 82"/>
            <p:cNvSpPr txBox="1">
              <a:spLocks noChangeArrowheads="1"/>
            </p:cNvSpPr>
            <p:nvPr/>
          </p:nvSpPr>
          <p:spPr bwMode="auto">
            <a:xfrm>
              <a:off x="392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50611" name="Text Box 83"/>
            <p:cNvSpPr txBox="1">
              <a:spLocks noChangeArrowheads="1"/>
            </p:cNvSpPr>
            <p:nvPr/>
          </p:nvSpPr>
          <p:spPr bwMode="auto">
            <a:xfrm>
              <a:off x="2367" y="970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50612" name="Text Box 84"/>
            <p:cNvSpPr txBox="1">
              <a:spLocks noChangeArrowheads="1"/>
            </p:cNvSpPr>
            <p:nvPr/>
          </p:nvSpPr>
          <p:spPr bwMode="auto">
            <a:xfrm>
              <a:off x="1065" y="195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9808" name="Line 85"/>
            <p:cNvSpPr>
              <a:spLocks noChangeShapeType="1"/>
            </p:cNvSpPr>
            <p:nvPr/>
          </p:nvSpPr>
          <p:spPr bwMode="auto">
            <a:xfrm>
              <a:off x="1279" y="683"/>
              <a:ext cx="5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09" name="Line 86"/>
            <p:cNvSpPr>
              <a:spLocks noChangeShapeType="1"/>
            </p:cNvSpPr>
            <p:nvPr/>
          </p:nvSpPr>
          <p:spPr bwMode="auto">
            <a:xfrm flipH="1" flipV="1">
              <a:off x="683" y="1471"/>
              <a:ext cx="308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0" name="Line 87"/>
            <p:cNvSpPr>
              <a:spLocks noChangeShapeType="1"/>
            </p:cNvSpPr>
            <p:nvPr/>
          </p:nvSpPr>
          <p:spPr bwMode="auto">
            <a:xfrm flipH="1" flipV="1">
              <a:off x="695" y="1734"/>
              <a:ext cx="288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1" name="Line 88"/>
            <p:cNvSpPr>
              <a:spLocks noChangeShapeType="1"/>
            </p:cNvSpPr>
            <p:nvPr/>
          </p:nvSpPr>
          <p:spPr bwMode="auto">
            <a:xfrm flipH="1" flipV="1">
              <a:off x="1820" y="683"/>
              <a:ext cx="148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2" name="Line 89"/>
            <p:cNvSpPr>
              <a:spLocks noChangeShapeType="1"/>
            </p:cNvSpPr>
            <p:nvPr/>
          </p:nvSpPr>
          <p:spPr bwMode="auto">
            <a:xfrm>
              <a:off x="1416" y="770"/>
              <a:ext cx="5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3" name="Line 90"/>
            <p:cNvSpPr>
              <a:spLocks noChangeShapeType="1"/>
            </p:cNvSpPr>
            <p:nvPr/>
          </p:nvSpPr>
          <p:spPr bwMode="auto">
            <a:xfrm>
              <a:off x="696" y="1476"/>
              <a:ext cx="1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4" name="Line 91"/>
            <p:cNvSpPr>
              <a:spLocks noChangeShapeType="1"/>
            </p:cNvSpPr>
            <p:nvPr/>
          </p:nvSpPr>
          <p:spPr bwMode="auto">
            <a:xfrm flipH="1" flipV="1">
              <a:off x="1817" y="1476"/>
              <a:ext cx="294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5" name="Line 92"/>
            <p:cNvSpPr>
              <a:spLocks noChangeShapeType="1"/>
            </p:cNvSpPr>
            <p:nvPr/>
          </p:nvSpPr>
          <p:spPr bwMode="auto">
            <a:xfrm flipV="1">
              <a:off x="1818" y="594"/>
              <a:ext cx="0" cy="1134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6" name="Line 93"/>
            <p:cNvSpPr>
              <a:spLocks noChangeShapeType="1"/>
            </p:cNvSpPr>
            <p:nvPr/>
          </p:nvSpPr>
          <p:spPr bwMode="auto">
            <a:xfrm flipH="1">
              <a:off x="696" y="690"/>
              <a:ext cx="588" cy="792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7" name="Line 94"/>
            <p:cNvSpPr>
              <a:spLocks noChangeShapeType="1"/>
            </p:cNvSpPr>
            <p:nvPr/>
          </p:nvSpPr>
          <p:spPr bwMode="auto">
            <a:xfrm flipH="1" flipV="1">
              <a:off x="1060" y="990"/>
              <a:ext cx="640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8" name="Line 95"/>
            <p:cNvSpPr>
              <a:spLocks noChangeShapeType="1"/>
            </p:cNvSpPr>
            <p:nvPr/>
          </p:nvSpPr>
          <p:spPr bwMode="auto">
            <a:xfrm flipV="1">
              <a:off x="1061" y="988"/>
              <a:ext cx="0" cy="7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19" name="Line 96"/>
            <p:cNvSpPr>
              <a:spLocks noChangeShapeType="1"/>
            </p:cNvSpPr>
            <p:nvPr/>
          </p:nvSpPr>
          <p:spPr bwMode="auto">
            <a:xfrm flipH="1" flipV="1">
              <a:off x="1285" y="1735"/>
              <a:ext cx="134" cy="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0" name="Line 97"/>
            <p:cNvSpPr>
              <a:spLocks noChangeShapeType="1"/>
            </p:cNvSpPr>
            <p:nvPr/>
          </p:nvSpPr>
          <p:spPr bwMode="auto">
            <a:xfrm>
              <a:off x="1416" y="768"/>
              <a:ext cx="0" cy="1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1" name="Line 98"/>
            <p:cNvSpPr>
              <a:spLocks noChangeShapeType="1"/>
            </p:cNvSpPr>
            <p:nvPr/>
          </p:nvSpPr>
          <p:spPr bwMode="auto">
            <a:xfrm>
              <a:off x="984" y="1902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2" name="Line 99"/>
            <p:cNvSpPr>
              <a:spLocks noChangeShapeType="1"/>
            </p:cNvSpPr>
            <p:nvPr/>
          </p:nvSpPr>
          <p:spPr bwMode="auto">
            <a:xfrm>
              <a:off x="1422" y="1812"/>
              <a:ext cx="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3" name="Line 100"/>
            <p:cNvSpPr>
              <a:spLocks noChangeShapeType="1"/>
            </p:cNvSpPr>
            <p:nvPr/>
          </p:nvSpPr>
          <p:spPr bwMode="auto">
            <a:xfrm>
              <a:off x="1062" y="990"/>
              <a:ext cx="7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4" name="Line 101"/>
            <p:cNvSpPr>
              <a:spLocks noChangeShapeType="1"/>
            </p:cNvSpPr>
            <p:nvPr/>
          </p:nvSpPr>
          <p:spPr bwMode="auto">
            <a:xfrm flipV="1">
              <a:off x="2472" y="1356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5" name="Line 102"/>
            <p:cNvSpPr>
              <a:spLocks noChangeShapeType="1"/>
            </p:cNvSpPr>
            <p:nvPr/>
          </p:nvSpPr>
          <p:spPr bwMode="auto">
            <a:xfrm>
              <a:off x="1962" y="76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6" name="Freeform 103"/>
            <p:cNvSpPr>
              <a:spLocks/>
            </p:cNvSpPr>
            <p:nvPr/>
          </p:nvSpPr>
          <p:spPr bwMode="auto">
            <a:xfrm>
              <a:off x="990" y="1812"/>
              <a:ext cx="714" cy="294"/>
            </a:xfrm>
            <a:custGeom>
              <a:avLst/>
              <a:gdLst>
                <a:gd name="T0" fmla="*/ 426 w 714"/>
                <a:gd name="T1" fmla="*/ 0 h 294"/>
                <a:gd name="T2" fmla="*/ 0 w 714"/>
                <a:gd name="T3" fmla="*/ 90 h 294"/>
                <a:gd name="T4" fmla="*/ 714 w 714"/>
                <a:gd name="T5" fmla="*/ 294 h 294"/>
                <a:gd name="T6" fmla="*/ 426 w 714"/>
                <a:gd name="T7" fmla="*/ 0 h 2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4"/>
                <a:gd name="T13" fmla="*/ 0 h 294"/>
                <a:gd name="T14" fmla="*/ 714 w 714"/>
                <a:gd name="T15" fmla="*/ 294 h 2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4" h="294">
                  <a:moveTo>
                    <a:pt x="426" y="0"/>
                  </a:moveTo>
                  <a:lnTo>
                    <a:pt x="0" y="90"/>
                  </a:lnTo>
                  <a:lnTo>
                    <a:pt x="714" y="294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7" name="Freeform 104"/>
            <p:cNvSpPr>
              <a:spLocks/>
            </p:cNvSpPr>
            <p:nvPr/>
          </p:nvSpPr>
          <p:spPr bwMode="auto">
            <a:xfrm>
              <a:off x="1962" y="768"/>
              <a:ext cx="510" cy="882"/>
            </a:xfrm>
            <a:custGeom>
              <a:avLst/>
              <a:gdLst>
                <a:gd name="T0" fmla="*/ 0 w 510"/>
                <a:gd name="T1" fmla="*/ 0 h 882"/>
                <a:gd name="T2" fmla="*/ 510 w 510"/>
                <a:gd name="T3" fmla="*/ 594 h 882"/>
                <a:gd name="T4" fmla="*/ 156 w 510"/>
                <a:gd name="T5" fmla="*/ 882 h 882"/>
                <a:gd name="T6" fmla="*/ 0 w 510"/>
                <a:gd name="T7" fmla="*/ 0 h 8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0"/>
                <a:gd name="T13" fmla="*/ 0 h 882"/>
                <a:gd name="T14" fmla="*/ 510 w 510"/>
                <a:gd name="T15" fmla="*/ 882 h 8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0" h="882">
                  <a:moveTo>
                    <a:pt x="0" y="0"/>
                  </a:moveTo>
                  <a:lnTo>
                    <a:pt x="510" y="594"/>
                  </a:lnTo>
                  <a:lnTo>
                    <a:pt x="156" y="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8" name="Line 105"/>
            <p:cNvSpPr>
              <a:spLocks noChangeShapeType="1"/>
            </p:cNvSpPr>
            <p:nvPr/>
          </p:nvSpPr>
          <p:spPr bwMode="auto">
            <a:xfrm>
              <a:off x="1710" y="137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29" name="Line 106"/>
            <p:cNvSpPr>
              <a:spLocks noChangeShapeType="1"/>
            </p:cNvSpPr>
            <p:nvPr/>
          </p:nvSpPr>
          <p:spPr bwMode="auto">
            <a:xfrm>
              <a:off x="984" y="1650"/>
              <a:ext cx="11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0" name="Line 107"/>
            <p:cNvSpPr>
              <a:spLocks noChangeShapeType="1"/>
            </p:cNvSpPr>
            <p:nvPr/>
          </p:nvSpPr>
          <p:spPr bwMode="auto">
            <a:xfrm flipH="1" flipV="1">
              <a:off x="1057" y="1735"/>
              <a:ext cx="636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1" name="Freeform 108"/>
            <p:cNvSpPr>
              <a:spLocks/>
            </p:cNvSpPr>
            <p:nvPr/>
          </p:nvSpPr>
          <p:spPr bwMode="auto">
            <a:xfrm>
              <a:off x="984" y="768"/>
              <a:ext cx="732" cy="882"/>
            </a:xfrm>
            <a:custGeom>
              <a:avLst/>
              <a:gdLst>
                <a:gd name="T0" fmla="*/ 444 w 732"/>
                <a:gd name="T1" fmla="*/ 0 h 882"/>
                <a:gd name="T2" fmla="*/ 732 w 732"/>
                <a:gd name="T3" fmla="*/ 612 h 882"/>
                <a:gd name="T4" fmla="*/ 0 w 732"/>
                <a:gd name="T5" fmla="*/ 882 h 882"/>
                <a:gd name="T6" fmla="*/ 444 w 732"/>
                <a:gd name="T7" fmla="*/ 0 h 8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2"/>
                <a:gd name="T13" fmla="*/ 0 h 882"/>
                <a:gd name="T14" fmla="*/ 732 w 732"/>
                <a:gd name="T15" fmla="*/ 882 h 8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2" h="882">
                  <a:moveTo>
                    <a:pt x="444" y="0"/>
                  </a:moveTo>
                  <a:lnTo>
                    <a:pt x="732" y="612"/>
                  </a:lnTo>
                  <a:lnTo>
                    <a:pt x="0" y="88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32" name="Line 109"/>
            <p:cNvSpPr>
              <a:spLocks noChangeShapeType="1"/>
            </p:cNvSpPr>
            <p:nvPr/>
          </p:nvSpPr>
          <p:spPr bwMode="auto">
            <a:xfrm flipH="1" flipV="1">
              <a:off x="1811" y="984"/>
              <a:ext cx="662" cy="3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0"/>
          <p:cNvGrpSpPr>
            <a:grpSpLocks/>
          </p:cNvGrpSpPr>
          <p:nvPr/>
        </p:nvGrpSpPr>
        <p:grpSpPr bwMode="auto">
          <a:xfrm>
            <a:off x="5241925" y="171976"/>
            <a:ext cx="3595688" cy="2643187"/>
            <a:chOff x="3316" y="580"/>
            <a:chExt cx="2265" cy="1665"/>
          </a:xfrm>
        </p:grpSpPr>
        <p:grpSp>
          <p:nvGrpSpPr>
            <p:cNvPr id="29752" name="Group 111"/>
            <p:cNvGrpSpPr>
              <a:grpSpLocks/>
            </p:cNvGrpSpPr>
            <p:nvPr/>
          </p:nvGrpSpPr>
          <p:grpSpPr bwMode="auto">
            <a:xfrm>
              <a:off x="3320" y="597"/>
              <a:ext cx="2244" cy="1602"/>
              <a:chOff x="384" y="829"/>
              <a:chExt cx="2376" cy="1695"/>
            </a:xfrm>
          </p:grpSpPr>
          <p:grpSp>
            <p:nvGrpSpPr>
              <p:cNvPr id="29788" name="Group 112"/>
              <p:cNvGrpSpPr>
                <a:grpSpLocks/>
              </p:cNvGrpSpPr>
              <p:nvPr/>
            </p:nvGrpSpPr>
            <p:grpSpPr bwMode="auto">
              <a:xfrm>
                <a:off x="400" y="845"/>
                <a:ext cx="2356" cy="1673"/>
                <a:chOff x="1000" y="744"/>
                <a:chExt cx="3067" cy="2178"/>
              </a:xfrm>
            </p:grpSpPr>
            <p:sp>
              <p:nvSpPr>
                <p:cNvPr id="29792" name="Freeform 113"/>
                <p:cNvSpPr>
                  <a:spLocks/>
                </p:cNvSpPr>
                <p:nvPr/>
              </p:nvSpPr>
              <p:spPr bwMode="auto">
                <a:xfrm>
                  <a:off x="1000" y="2293"/>
                  <a:ext cx="3067" cy="629"/>
                </a:xfrm>
                <a:custGeom>
                  <a:avLst/>
                  <a:gdLst>
                    <a:gd name="T0" fmla="*/ 989 w 3067"/>
                    <a:gd name="T1" fmla="*/ 629 h 629"/>
                    <a:gd name="T2" fmla="*/ 3067 w 3067"/>
                    <a:gd name="T3" fmla="*/ 629 h 629"/>
                    <a:gd name="T4" fmla="*/ 1978 w 3067"/>
                    <a:gd name="T5" fmla="*/ 0 h 629"/>
                    <a:gd name="T6" fmla="*/ 0 w 3067"/>
                    <a:gd name="T7" fmla="*/ 0 h 629"/>
                    <a:gd name="T8" fmla="*/ 989 w 3067"/>
                    <a:gd name="T9" fmla="*/ 629 h 6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7"/>
                    <a:gd name="T16" fmla="*/ 0 h 629"/>
                    <a:gd name="T17" fmla="*/ 3067 w 3067"/>
                    <a:gd name="T18" fmla="*/ 629 h 6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7" h="629">
                      <a:moveTo>
                        <a:pt x="989" y="629"/>
                      </a:moveTo>
                      <a:lnTo>
                        <a:pt x="3067" y="629"/>
                      </a:lnTo>
                      <a:lnTo>
                        <a:pt x="1978" y="0"/>
                      </a:lnTo>
                      <a:lnTo>
                        <a:pt x="0" y="0"/>
                      </a:lnTo>
                      <a:lnTo>
                        <a:pt x="989" y="629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28575" cmpd="sng">
                  <a:solidFill>
                    <a:srgbClr val="CCE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793" name="Rectangle 114"/>
                <p:cNvSpPr>
                  <a:spLocks noChangeArrowheads="1"/>
                </p:cNvSpPr>
                <p:nvPr/>
              </p:nvSpPr>
              <p:spPr bwMode="auto">
                <a:xfrm>
                  <a:off x="1000" y="744"/>
                  <a:ext cx="1934" cy="1534"/>
                </a:xfrm>
                <a:prstGeom prst="rect">
                  <a:avLst/>
                </a:prstGeom>
                <a:solidFill>
                  <a:srgbClr val="CCFFCC"/>
                </a:solidFill>
                <a:ln w="38100">
                  <a:solidFill>
                    <a:srgbClr val="CCFF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/>
                </a:p>
              </p:txBody>
            </p:sp>
            <p:sp>
              <p:nvSpPr>
                <p:cNvPr id="29794" name="Freeform 115"/>
                <p:cNvSpPr>
                  <a:spLocks/>
                </p:cNvSpPr>
                <p:nvPr/>
              </p:nvSpPr>
              <p:spPr bwMode="auto">
                <a:xfrm>
                  <a:off x="2956" y="744"/>
                  <a:ext cx="1111" cy="2175"/>
                </a:xfrm>
                <a:custGeom>
                  <a:avLst/>
                  <a:gdLst>
                    <a:gd name="T0" fmla="*/ 0 w 1111"/>
                    <a:gd name="T1" fmla="*/ 0 h 2175"/>
                    <a:gd name="T2" fmla="*/ 0 w 1111"/>
                    <a:gd name="T3" fmla="*/ 1534 h 2175"/>
                    <a:gd name="T4" fmla="*/ 1111 w 1111"/>
                    <a:gd name="T5" fmla="*/ 2175 h 2175"/>
                    <a:gd name="T6" fmla="*/ 1111 w 1111"/>
                    <a:gd name="T7" fmla="*/ 589 h 2175"/>
                    <a:gd name="T8" fmla="*/ 0 w 1111"/>
                    <a:gd name="T9" fmla="*/ 0 h 217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1"/>
                    <a:gd name="T16" fmla="*/ 0 h 2175"/>
                    <a:gd name="T17" fmla="*/ 1111 w 1111"/>
                    <a:gd name="T18" fmla="*/ 2175 h 217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1" h="2175">
                      <a:moveTo>
                        <a:pt x="0" y="0"/>
                      </a:moveTo>
                      <a:lnTo>
                        <a:pt x="0" y="1534"/>
                      </a:lnTo>
                      <a:lnTo>
                        <a:pt x="1111" y="2175"/>
                      </a:lnTo>
                      <a:lnTo>
                        <a:pt x="1111" y="5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CC"/>
                </a:solidFill>
                <a:ln w="28575" cmpd="sng">
                  <a:solidFill>
                    <a:srgbClr val="FFFF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9789" name="Line 116"/>
              <p:cNvSpPr>
                <a:spLocks noChangeShapeType="1"/>
              </p:cNvSpPr>
              <p:nvPr/>
            </p:nvSpPr>
            <p:spPr bwMode="auto">
              <a:xfrm>
                <a:off x="384" y="2033"/>
                <a:ext cx="1518" cy="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90" name="Line 117"/>
              <p:cNvSpPr>
                <a:spLocks noChangeShapeType="1"/>
              </p:cNvSpPr>
              <p:nvPr/>
            </p:nvSpPr>
            <p:spPr bwMode="auto">
              <a:xfrm>
                <a:off x="1890" y="2027"/>
                <a:ext cx="870" cy="49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91" name="Line 118"/>
              <p:cNvSpPr>
                <a:spLocks noChangeShapeType="1"/>
              </p:cNvSpPr>
              <p:nvPr/>
            </p:nvSpPr>
            <p:spPr bwMode="auto">
              <a:xfrm flipV="1">
                <a:off x="1895" y="829"/>
                <a:ext cx="0" cy="1201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53" name="Line 119"/>
            <p:cNvSpPr>
              <a:spLocks noChangeShapeType="1"/>
            </p:cNvSpPr>
            <p:nvPr/>
          </p:nvSpPr>
          <p:spPr bwMode="auto">
            <a:xfrm>
              <a:off x="3948" y="1483"/>
              <a:ext cx="0" cy="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4" name="Line 120"/>
            <p:cNvSpPr>
              <a:spLocks noChangeShapeType="1"/>
            </p:cNvSpPr>
            <p:nvPr/>
          </p:nvSpPr>
          <p:spPr bwMode="auto">
            <a:xfrm flipV="1">
              <a:off x="4319" y="1497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Line 121"/>
            <p:cNvSpPr>
              <a:spLocks noChangeShapeType="1"/>
            </p:cNvSpPr>
            <p:nvPr/>
          </p:nvSpPr>
          <p:spPr bwMode="auto">
            <a:xfrm flipV="1">
              <a:off x="3740" y="1349"/>
              <a:ext cx="0" cy="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6" name="Line 122"/>
            <p:cNvSpPr>
              <a:spLocks noChangeShapeType="1"/>
            </p:cNvSpPr>
            <p:nvPr/>
          </p:nvSpPr>
          <p:spPr bwMode="auto">
            <a:xfrm>
              <a:off x="4862" y="2045"/>
              <a:ext cx="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7" name="Line 123"/>
            <p:cNvSpPr>
              <a:spLocks noChangeShapeType="1"/>
            </p:cNvSpPr>
            <p:nvPr/>
          </p:nvSpPr>
          <p:spPr bwMode="auto">
            <a:xfrm flipV="1">
              <a:off x="5293" y="1836"/>
              <a:ext cx="0" cy="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8" name="Line 124"/>
            <p:cNvSpPr>
              <a:spLocks noChangeShapeType="1"/>
            </p:cNvSpPr>
            <p:nvPr/>
          </p:nvSpPr>
          <p:spPr bwMode="auto">
            <a:xfrm>
              <a:off x="3974" y="1482"/>
              <a:ext cx="9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653" name="Text Box 125"/>
            <p:cNvSpPr txBox="1">
              <a:spLocks noChangeArrowheads="1"/>
            </p:cNvSpPr>
            <p:nvPr/>
          </p:nvSpPr>
          <p:spPr bwMode="auto">
            <a:xfrm>
              <a:off x="3316" y="580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50654" name="Text Box 126"/>
            <p:cNvSpPr txBox="1">
              <a:spLocks noChangeArrowheads="1"/>
            </p:cNvSpPr>
            <p:nvPr/>
          </p:nvSpPr>
          <p:spPr bwMode="auto">
            <a:xfrm>
              <a:off x="5294" y="97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50655" name="Text Box 127"/>
            <p:cNvSpPr txBox="1">
              <a:spLocks noChangeArrowheads="1"/>
            </p:cNvSpPr>
            <p:nvPr/>
          </p:nvSpPr>
          <p:spPr bwMode="auto">
            <a:xfrm>
              <a:off x="3996" y="195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9762" name="Line 128"/>
            <p:cNvSpPr>
              <a:spLocks noChangeShapeType="1"/>
            </p:cNvSpPr>
            <p:nvPr/>
          </p:nvSpPr>
          <p:spPr bwMode="auto">
            <a:xfrm>
              <a:off x="4308" y="1520"/>
              <a:ext cx="4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3" name="Line 129"/>
            <p:cNvSpPr>
              <a:spLocks noChangeShapeType="1"/>
            </p:cNvSpPr>
            <p:nvPr/>
          </p:nvSpPr>
          <p:spPr bwMode="auto">
            <a:xfrm flipH="1" flipV="1">
              <a:off x="3724" y="1729"/>
              <a:ext cx="213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4" name="Line 130"/>
            <p:cNvSpPr>
              <a:spLocks noChangeShapeType="1"/>
            </p:cNvSpPr>
            <p:nvPr/>
          </p:nvSpPr>
          <p:spPr bwMode="auto">
            <a:xfrm flipH="1" flipV="1">
              <a:off x="3724" y="1352"/>
              <a:ext cx="237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5" name="Line 131"/>
            <p:cNvSpPr>
              <a:spLocks noChangeShapeType="1"/>
            </p:cNvSpPr>
            <p:nvPr/>
          </p:nvSpPr>
          <p:spPr bwMode="auto">
            <a:xfrm flipH="1" flipV="1">
              <a:off x="4743" y="1516"/>
              <a:ext cx="545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6" name="Line 132"/>
            <p:cNvSpPr>
              <a:spLocks noChangeShapeType="1"/>
            </p:cNvSpPr>
            <p:nvPr/>
          </p:nvSpPr>
          <p:spPr bwMode="auto">
            <a:xfrm>
              <a:off x="3739" y="1355"/>
              <a:ext cx="1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7" name="Line 133"/>
            <p:cNvSpPr>
              <a:spLocks noChangeShapeType="1"/>
            </p:cNvSpPr>
            <p:nvPr/>
          </p:nvSpPr>
          <p:spPr bwMode="auto">
            <a:xfrm flipH="1" flipV="1">
              <a:off x="4738" y="686"/>
              <a:ext cx="408" cy="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8" name="Line 134"/>
            <p:cNvSpPr>
              <a:spLocks noChangeShapeType="1"/>
            </p:cNvSpPr>
            <p:nvPr/>
          </p:nvSpPr>
          <p:spPr bwMode="auto">
            <a:xfrm>
              <a:off x="4962" y="1470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9" name="Line 135"/>
            <p:cNvSpPr>
              <a:spLocks noChangeShapeType="1"/>
            </p:cNvSpPr>
            <p:nvPr/>
          </p:nvSpPr>
          <p:spPr bwMode="auto">
            <a:xfrm>
              <a:off x="4854" y="181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0" name="Line 136"/>
            <p:cNvSpPr>
              <a:spLocks noChangeShapeType="1"/>
            </p:cNvSpPr>
            <p:nvPr/>
          </p:nvSpPr>
          <p:spPr bwMode="auto">
            <a:xfrm flipH="1" flipV="1">
              <a:off x="4313" y="1732"/>
              <a:ext cx="523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1" name="Line 137"/>
            <p:cNvSpPr>
              <a:spLocks noChangeShapeType="1"/>
            </p:cNvSpPr>
            <p:nvPr/>
          </p:nvSpPr>
          <p:spPr bwMode="auto">
            <a:xfrm>
              <a:off x="3936" y="1860"/>
              <a:ext cx="924" cy="192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2" name="Line 138"/>
            <p:cNvSpPr>
              <a:spLocks noChangeShapeType="1"/>
            </p:cNvSpPr>
            <p:nvPr/>
          </p:nvSpPr>
          <p:spPr bwMode="auto">
            <a:xfrm>
              <a:off x="4464" y="936"/>
              <a:ext cx="0" cy="1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3" name="Line 139"/>
            <p:cNvSpPr>
              <a:spLocks noChangeShapeType="1"/>
            </p:cNvSpPr>
            <p:nvPr/>
          </p:nvSpPr>
          <p:spPr bwMode="auto">
            <a:xfrm flipH="1" flipV="1">
              <a:off x="4053" y="670"/>
              <a:ext cx="404" cy="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4" name="Line 140"/>
            <p:cNvSpPr>
              <a:spLocks noChangeShapeType="1"/>
            </p:cNvSpPr>
            <p:nvPr/>
          </p:nvSpPr>
          <p:spPr bwMode="auto">
            <a:xfrm flipH="1" flipV="1">
              <a:off x="4059" y="1734"/>
              <a:ext cx="417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5" name="Line 141"/>
            <p:cNvSpPr>
              <a:spLocks noChangeShapeType="1"/>
            </p:cNvSpPr>
            <p:nvPr/>
          </p:nvSpPr>
          <p:spPr bwMode="auto">
            <a:xfrm flipV="1">
              <a:off x="4056" y="666"/>
              <a:ext cx="0" cy="1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6" name="Line 142"/>
            <p:cNvSpPr>
              <a:spLocks noChangeShapeType="1"/>
            </p:cNvSpPr>
            <p:nvPr/>
          </p:nvSpPr>
          <p:spPr bwMode="auto">
            <a:xfrm>
              <a:off x="3954" y="1860"/>
              <a:ext cx="10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7" name="Line 143"/>
            <p:cNvSpPr>
              <a:spLocks noChangeShapeType="1"/>
            </p:cNvSpPr>
            <p:nvPr/>
          </p:nvSpPr>
          <p:spPr bwMode="auto">
            <a:xfrm>
              <a:off x="4464" y="1968"/>
              <a:ext cx="7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8" name="Line 144"/>
            <p:cNvSpPr>
              <a:spLocks noChangeShapeType="1"/>
            </p:cNvSpPr>
            <p:nvPr/>
          </p:nvSpPr>
          <p:spPr bwMode="auto">
            <a:xfrm flipV="1">
              <a:off x="5154" y="912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79" name="Line 145"/>
            <p:cNvSpPr>
              <a:spLocks noChangeShapeType="1"/>
            </p:cNvSpPr>
            <p:nvPr/>
          </p:nvSpPr>
          <p:spPr bwMode="auto">
            <a:xfrm>
              <a:off x="4056" y="684"/>
              <a:ext cx="6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0" name="Line 146"/>
            <p:cNvSpPr>
              <a:spLocks noChangeShapeType="1"/>
            </p:cNvSpPr>
            <p:nvPr/>
          </p:nvSpPr>
          <p:spPr bwMode="auto">
            <a:xfrm>
              <a:off x="4854" y="1836"/>
              <a:ext cx="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1" name="Line 147"/>
            <p:cNvSpPr>
              <a:spLocks noChangeShapeType="1"/>
            </p:cNvSpPr>
            <p:nvPr/>
          </p:nvSpPr>
          <p:spPr bwMode="auto">
            <a:xfrm>
              <a:off x="4482" y="91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2" name="Line 148"/>
            <p:cNvSpPr>
              <a:spLocks noChangeShapeType="1"/>
            </p:cNvSpPr>
            <p:nvPr/>
          </p:nvSpPr>
          <p:spPr bwMode="auto">
            <a:xfrm flipH="1" flipV="1">
              <a:off x="4738" y="1352"/>
              <a:ext cx="221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3" name="Freeform 149"/>
            <p:cNvSpPr>
              <a:spLocks/>
            </p:cNvSpPr>
            <p:nvPr/>
          </p:nvSpPr>
          <p:spPr bwMode="auto">
            <a:xfrm>
              <a:off x="3738" y="678"/>
              <a:ext cx="594" cy="846"/>
            </a:xfrm>
            <a:custGeom>
              <a:avLst/>
              <a:gdLst>
                <a:gd name="T0" fmla="*/ 324 w 594"/>
                <a:gd name="T1" fmla="*/ 0 h 846"/>
                <a:gd name="T2" fmla="*/ 0 w 594"/>
                <a:gd name="T3" fmla="*/ 678 h 846"/>
                <a:gd name="T4" fmla="*/ 594 w 594"/>
                <a:gd name="T5" fmla="*/ 846 h 846"/>
                <a:gd name="T6" fmla="*/ 324 w 594"/>
                <a:gd name="T7" fmla="*/ 0 h 8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4"/>
                <a:gd name="T13" fmla="*/ 0 h 846"/>
                <a:gd name="T14" fmla="*/ 594 w 594"/>
                <a:gd name="T15" fmla="*/ 846 h 8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4" h="846">
                  <a:moveTo>
                    <a:pt x="324" y="0"/>
                  </a:moveTo>
                  <a:lnTo>
                    <a:pt x="0" y="678"/>
                  </a:lnTo>
                  <a:lnTo>
                    <a:pt x="594" y="846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4" name="Freeform 150"/>
            <p:cNvSpPr>
              <a:spLocks/>
            </p:cNvSpPr>
            <p:nvPr/>
          </p:nvSpPr>
          <p:spPr bwMode="auto">
            <a:xfrm>
              <a:off x="3942" y="912"/>
              <a:ext cx="918" cy="924"/>
            </a:xfrm>
            <a:custGeom>
              <a:avLst/>
              <a:gdLst>
                <a:gd name="T0" fmla="*/ 0 w 918"/>
                <a:gd name="T1" fmla="*/ 570 h 924"/>
                <a:gd name="T2" fmla="*/ 918 w 918"/>
                <a:gd name="T3" fmla="*/ 924 h 924"/>
                <a:gd name="T4" fmla="*/ 522 w 918"/>
                <a:gd name="T5" fmla="*/ 0 h 924"/>
                <a:gd name="T6" fmla="*/ 0 w 918"/>
                <a:gd name="T7" fmla="*/ 570 h 9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8"/>
                <a:gd name="T13" fmla="*/ 0 h 924"/>
                <a:gd name="T14" fmla="*/ 918 w 918"/>
                <a:gd name="T15" fmla="*/ 924 h 9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8" h="924">
                  <a:moveTo>
                    <a:pt x="0" y="570"/>
                  </a:moveTo>
                  <a:lnTo>
                    <a:pt x="918" y="924"/>
                  </a:lnTo>
                  <a:lnTo>
                    <a:pt x="522" y="0"/>
                  </a:lnTo>
                  <a:lnTo>
                    <a:pt x="0" y="57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5" name="Freeform 151"/>
            <p:cNvSpPr>
              <a:spLocks/>
            </p:cNvSpPr>
            <p:nvPr/>
          </p:nvSpPr>
          <p:spPr bwMode="auto">
            <a:xfrm>
              <a:off x="4962" y="912"/>
              <a:ext cx="336" cy="924"/>
            </a:xfrm>
            <a:custGeom>
              <a:avLst/>
              <a:gdLst>
                <a:gd name="T0" fmla="*/ 186 w 336"/>
                <a:gd name="T1" fmla="*/ 0 h 924"/>
                <a:gd name="T2" fmla="*/ 0 w 336"/>
                <a:gd name="T3" fmla="*/ 570 h 924"/>
                <a:gd name="T4" fmla="*/ 336 w 336"/>
                <a:gd name="T5" fmla="*/ 924 h 924"/>
                <a:gd name="T6" fmla="*/ 186 w 336"/>
                <a:gd name="T7" fmla="*/ 0 h 9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924"/>
                <a:gd name="T14" fmla="*/ 336 w 336"/>
                <a:gd name="T15" fmla="*/ 924 h 9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924">
                  <a:moveTo>
                    <a:pt x="186" y="0"/>
                  </a:moveTo>
                  <a:lnTo>
                    <a:pt x="0" y="570"/>
                  </a:lnTo>
                  <a:lnTo>
                    <a:pt x="336" y="92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6" name="Line 152"/>
            <p:cNvSpPr>
              <a:spLocks noChangeShapeType="1"/>
            </p:cNvSpPr>
            <p:nvPr/>
          </p:nvSpPr>
          <p:spPr bwMode="auto">
            <a:xfrm>
              <a:off x="4860" y="1830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7" name="Line 153"/>
            <p:cNvSpPr>
              <a:spLocks noChangeShapeType="1"/>
            </p:cNvSpPr>
            <p:nvPr/>
          </p:nvSpPr>
          <p:spPr bwMode="auto">
            <a:xfrm flipH="1" flipV="1">
              <a:off x="4319" y="1518"/>
              <a:ext cx="541" cy="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154"/>
          <p:cNvGrpSpPr>
            <a:grpSpLocks/>
          </p:cNvGrpSpPr>
          <p:nvPr/>
        </p:nvGrpSpPr>
        <p:grpSpPr bwMode="auto">
          <a:xfrm>
            <a:off x="635000" y="3185051"/>
            <a:ext cx="3543300" cy="2595562"/>
            <a:chOff x="414" y="2478"/>
            <a:chExt cx="2232" cy="1635"/>
          </a:xfrm>
        </p:grpSpPr>
        <p:grpSp>
          <p:nvGrpSpPr>
            <p:cNvPr id="29711" name="Group 155"/>
            <p:cNvGrpSpPr>
              <a:grpSpLocks/>
            </p:cNvGrpSpPr>
            <p:nvPr/>
          </p:nvGrpSpPr>
          <p:grpSpPr bwMode="auto">
            <a:xfrm>
              <a:off x="448" y="2504"/>
              <a:ext cx="2185" cy="1567"/>
              <a:chOff x="448" y="2504"/>
              <a:chExt cx="2185" cy="1567"/>
            </a:xfrm>
          </p:grpSpPr>
          <p:sp>
            <p:nvSpPr>
              <p:cNvPr id="29747" name="Freeform 156"/>
              <p:cNvSpPr>
                <a:spLocks/>
              </p:cNvSpPr>
              <p:nvPr/>
            </p:nvSpPr>
            <p:spPr bwMode="auto">
              <a:xfrm>
                <a:off x="448" y="3618"/>
                <a:ext cx="2181" cy="447"/>
              </a:xfrm>
              <a:custGeom>
                <a:avLst/>
                <a:gdLst>
                  <a:gd name="T0" fmla="*/ 180 w 3067"/>
                  <a:gd name="T1" fmla="*/ 114 h 629"/>
                  <a:gd name="T2" fmla="*/ 558 w 3067"/>
                  <a:gd name="T3" fmla="*/ 114 h 629"/>
                  <a:gd name="T4" fmla="*/ 360 w 3067"/>
                  <a:gd name="T5" fmla="*/ 0 h 629"/>
                  <a:gd name="T6" fmla="*/ 0 w 3067"/>
                  <a:gd name="T7" fmla="*/ 0 h 629"/>
                  <a:gd name="T8" fmla="*/ 180 w 3067"/>
                  <a:gd name="T9" fmla="*/ 114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48" name="Rectangle 157"/>
              <p:cNvSpPr>
                <a:spLocks noChangeArrowheads="1"/>
              </p:cNvSpPr>
              <p:nvPr/>
            </p:nvSpPr>
            <p:spPr bwMode="auto">
              <a:xfrm>
                <a:off x="448" y="2516"/>
                <a:ext cx="1375" cy="1091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29749" name="Freeform 158"/>
              <p:cNvSpPr>
                <a:spLocks/>
              </p:cNvSpPr>
              <p:nvPr/>
            </p:nvSpPr>
            <p:spPr bwMode="auto">
              <a:xfrm>
                <a:off x="1839" y="2516"/>
                <a:ext cx="790" cy="1547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280 h 2175"/>
                  <a:gd name="T4" fmla="*/ 202 w 1111"/>
                  <a:gd name="T5" fmla="*/ 395 h 2175"/>
                  <a:gd name="T6" fmla="*/ 202 w 1111"/>
                  <a:gd name="T7" fmla="*/ 107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0" name="Line 159"/>
              <p:cNvSpPr>
                <a:spLocks noChangeShapeType="1"/>
              </p:cNvSpPr>
              <p:nvPr/>
            </p:nvSpPr>
            <p:spPr bwMode="auto">
              <a:xfrm>
                <a:off x="1827" y="3611"/>
                <a:ext cx="806" cy="460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51" name="Line 160"/>
              <p:cNvSpPr>
                <a:spLocks noChangeShapeType="1"/>
              </p:cNvSpPr>
              <p:nvPr/>
            </p:nvSpPr>
            <p:spPr bwMode="auto">
              <a:xfrm flipV="1">
                <a:off x="1826" y="2504"/>
                <a:ext cx="0" cy="1112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712" name="Line 161"/>
            <p:cNvSpPr>
              <a:spLocks noChangeShapeType="1"/>
            </p:cNvSpPr>
            <p:nvPr/>
          </p:nvSpPr>
          <p:spPr bwMode="auto">
            <a:xfrm>
              <a:off x="427" y="3616"/>
              <a:ext cx="1406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3" name="Line 162"/>
            <p:cNvSpPr>
              <a:spLocks noChangeShapeType="1"/>
            </p:cNvSpPr>
            <p:nvPr/>
          </p:nvSpPr>
          <p:spPr bwMode="auto">
            <a:xfrm>
              <a:off x="610" y="3005"/>
              <a:ext cx="1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163"/>
            <p:cNvSpPr>
              <a:spLocks noChangeShapeType="1"/>
            </p:cNvSpPr>
            <p:nvPr/>
          </p:nvSpPr>
          <p:spPr bwMode="auto">
            <a:xfrm>
              <a:off x="1612" y="3660"/>
              <a:ext cx="7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Line 164"/>
            <p:cNvSpPr>
              <a:spLocks noChangeShapeType="1"/>
            </p:cNvSpPr>
            <p:nvPr/>
          </p:nvSpPr>
          <p:spPr bwMode="auto">
            <a:xfrm>
              <a:off x="1817" y="3344"/>
              <a:ext cx="556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6" name="Line 165"/>
            <p:cNvSpPr>
              <a:spLocks noChangeShapeType="1"/>
            </p:cNvSpPr>
            <p:nvPr/>
          </p:nvSpPr>
          <p:spPr bwMode="auto">
            <a:xfrm>
              <a:off x="1596" y="3932"/>
              <a:ext cx="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7" name="Line 166"/>
            <p:cNvSpPr>
              <a:spLocks noChangeShapeType="1"/>
            </p:cNvSpPr>
            <p:nvPr/>
          </p:nvSpPr>
          <p:spPr bwMode="auto">
            <a:xfrm>
              <a:off x="2053" y="2800"/>
              <a:ext cx="0" cy="9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8" name="Line 167"/>
            <p:cNvSpPr>
              <a:spLocks noChangeShapeType="1"/>
            </p:cNvSpPr>
            <p:nvPr/>
          </p:nvSpPr>
          <p:spPr bwMode="auto">
            <a:xfrm flipV="1">
              <a:off x="1051" y="3342"/>
              <a:ext cx="0" cy="2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Line 168"/>
            <p:cNvSpPr>
              <a:spLocks noChangeShapeType="1"/>
            </p:cNvSpPr>
            <p:nvPr/>
          </p:nvSpPr>
          <p:spPr bwMode="auto">
            <a:xfrm>
              <a:off x="1507" y="2677"/>
              <a:ext cx="240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0" name="Line 169"/>
            <p:cNvSpPr>
              <a:spLocks noChangeShapeType="1"/>
            </p:cNvSpPr>
            <p:nvPr/>
          </p:nvSpPr>
          <p:spPr bwMode="auto">
            <a:xfrm>
              <a:off x="1810" y="2674"/>
              <a:ext cx="24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1" name="Line 170"/>
            <p:cNvSpPr>
              <a:spLocks noChangeShapeType="1"/>
            </p:cNvSpPr>
            <p:nvPr/>
          </p:nvSpPr>
          <p:spPr bwMode="auto">
            <a:xfrm>
              <a:off x="600" y="3616"/>
              <a:ext cx="38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2" name="Line 171"/>
            <p:cNvSpPr>
              <a:spLocks noChangeShapeType="1"/>
            </p:cNvSpPr>
            <p:nvPr/>
          </p:nvSpPr>
          <p:spPr bwMode="auto">
            <a:xfrm>
              <a:off x="1503" y="2684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3" name="Line 172"/>
            <p:cNvSpPr>
              <a:spLocks noChangeShapeType="1"/>
            </p:cNvSpPr>
            <p:nvPr/>
          </p:nvSpPr>
          <p:spPr bwMode="auto">
            <a:xfrm>
              <a:off x="1733" y="3746"/>
              <a:ext cx="3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701" name="Text Box 173"/>
            <p:cNvSpPr txBox="1">
              <a:spLocks noChangeArrowheads="1"/>
            </p:cNvSpPr>
            <p:nvPr/>
          </p:nvSpPr>
          <p:spPr bwMode="auto">
            <a:xfrm>
              <a:off x="414" y="2478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50702" name="Text Box 174"/>
            <p:cNvSpPr txBox="1">
              <a:spLocks noChangeArrowheads="1"/>
            </p:cNvSpPr>
            <p:nvPr/>
          </p:nvSpPr>
          <p:spPr bwMode="auto">
            <a:xfrm>
              <a:off x="2359" y="2861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150703" name="Text Box 175"/>
            <p:cNvSpPr txBox="1">
              <a:spLocks noChangeArrowheads="1"/>
            </p:cNvSpPr>
            <p:nvPr/>
          </p:nvSpPr>
          <p:spPr bwMode="auto">
            <a:xfrm>
              <a:off x="1101" y="3825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29727" name="Line 176"/>
            <p:cNvSpPr>
              <a:spLocks noChangeShapeType="1"/>
            </p:cNvSpPr>
            <p:nvPr/>
          </p:nvSpPr>
          <p:spPr bwMode="auto">
            <a:xfrm>
              <a:off x="1726" y="2814"/>
              <a:ext cx="3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8" name="Line 177"/>
            <p:cNvSpPr>
              <a:spLocks noChangeShapeType="1"/>
            </p:cNvSpPr>
            <p:nvPr/>
          </p:nvSpPr>
          <p:spPr bwMode="auto">
            <a:xfrm>
              <a:off x="980" y="3210"/>
              <a:ext cx="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9" name="Line 178"/>
            <p:cNvSpPr>
              <a:spLocks noChangeShapeType="1"/>
            </p:cNvSpPr>
            <p:nvPr/>
          </p:nvSpPr>
          <p:spPr bwMode="auto">
            <a:xfrm>
              <a:off x="1823" y="3005"/>
              <a:ext cx="386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0" name="Line 179"/>
            <p:cNvSpPr>
              <a:spLocks noChangeShapeType="1"/>
            </p:cNvSpPr>
            <p:nvPr/>
          </p:nvSpPr>
          <p:spPr bwMode="auto">
            <a:xfrm>
              <a:off x="1048" y="3340"/>
              <a:ext cx="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1" name="Line 180"/>
            <p:cNvSpPr>
              <a:spLocks noChangeShapeType="1"/>
            </p:cNvSpPr>
            <p:nvPr/>
          </p:nvSpPr>
          <p:spPr bwMode="auto">
            <a:xfrm>
              <a:off x="2058" y="2814"/>
              <a:ext cx="318" cy="858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2" name="Line 181"/>
            <p:cNvSpPr>
              <a:spLocks noChangeShapeType="1"/>
            </p:cNvSpPr>
            <p:nvPr/>
          </p:nvSpPr>
          <p:spPr bwMode="auto">
            <a:xfrm>
              <a:off x="612" y="3000"/>
              <a:ext cx="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3" name="Line 182"/>
            <p:cNvSpPr>
              <a:spLocks noChangeShapeType="1"/>
            </p:cNvSpPr>
            <p:nvPr/>
          </p:nvSpPr>
          <p:spPr bwMode="auto">
            <a:xfrm>
              <a:off x="1058" y="3346"/>
              <a:ext cx="555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183"/>
            <p:cNvSpPr>
              <a:spLocks noChangeShapeType="1"/>
            </p:cNvSpPr>
            <p:nvPr/>
          </p:nvSpPr>
          <p:spPr bwMode="auto">
            <a:xfrm>
              <a:off x="1740" y="2820"/>
              <a:ext cx="0" cy="9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Line 184"/>
            <p:cNvSpPr>
              <a:spLocks noChangeShapeType="1"/>
            </p:cNvSpPr>
            <p:nvPr/>
          </p:nvSpPr>
          <p:spPr bwMode="auto">
            <a:xfrm>
              <a:off x="2376" y="3654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6" name="Line 185"/>
            <p:cNvSpPr>
              <a:spLocks noChangeShapeType="1"/>
            </p:cNvSpPr>
            <p:nvPr/>
          </p:nvSpPr>
          <p:spPr bwMode="auto">
            <a:xfrm>
              <a:off x="1518" y="2682"/>
              <a:ext cx="0" cy="9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7" name="Line 186"/>
            <p:cNvSpPr>
              <a:spLocks noChangeShapeType="1"/>
            </p:cNvSpPr>
            <p:nvPr/>
          </p:nvSpPr>
          <p:spPr bwMode="auto">
            <a:xfrm>
              <a:off x="1514" y="3610"/>
              <a:ext cx="231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8" name="Line 187"/>
            <p:cNvSpPr>
              <a:spLocks noChangeShapeType="1"/>
            </p:cNvSpPr>
            <p:nvPr/>
          </p:nvSpPr>
          <p:spPr bwMode="auto">
            <a:xfrm>
              <a:off x="2202" y="3210"/>
              <a:ext cx="0" cy="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9" name="Freeform 188"/>
            <p:cNvSpPr>
              <a:spLocks/>
            </p:cNvSpPr>
            <p:nvPr/>
          </p:nvSpPr>
          <p:spPr bwMode="auto">
            <a:xfrm>
              <a:off x="618" y="2688"/>
              <a:ext cx="894" cy="642"/>
            </a:xfrm>
            <a:custGeom>
              <a:avLst/>
              <a:gdLst>
                <a:gd name="T0" fmla="*/ 894 w 894"/>
                <a:gd name="T1" fmla="*/ 0 h 642"/>
                <a:gd name="T2" fmla="*/ 0 w 894"/>
                <a:gd name="T3" fmla="*/ 324 h 642"/>
                <a:gd name="T4" fmla="*/ 438 w 894"/>
                <a:gd name="T5" fmla="*/ 642 h 642"/>
                <a:gd name="T6" fmla="*/ 894 w 894"/>
                <a:gd name="T7" fmla="*/ 0 h 6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4"/>
                <a:gd name="T13" fmla="*/ 0 h 642"/>
                <a:gd name="T14" fmla="*/ 894 w 894"/>
                <a:gd name="T15" fmla="*/ 642 h 6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4" h="642">
                  <a:moveTo>
                    <a:pt x="894" y="0"/>
                  </a:moveTo>
                  <a:lnTo>
                    <a:pt x="0" y="324"/>
                  </a:lnTo>
                  <a:lnTo>
                    <a:pt x="438" y="642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0" name="Freeform 189"/>
            <p:cNvSpPr>
              <a:spLocks/>
            </p:cNvSpPr>
            <p:nvPr/>
          </p:nvSpPr>
          <p:spPr bwMode="auto">
            <a:xfrm>
              <a:off x="978" y="3744"/>
              <a:ext cx="762" cy="192"/>
            </a:xfrm>
            <a:custGeom>
              <a:avLst/>
              <a:gdLst>
                <a:gd name="T0" fmla="*/ 762 w 762"/>
                <a:gd name="T1" fmla="*/ 0 h 192"/>
                <a:gd name="T2" fmla="*/ 0 w 762"/>
                <a:gd name="T3" fmla="*/ 84 h 192"/>
                <a:gd name="T4" fmla="*/ 630 w 762"/>
                <a:gd name="T5" fmla="*/ 192 h 192"/>
                <a:gd name="T6" fmla="*/ 762 w 762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2"/>
                <a:gd name="T13" fmla="*/ 0 h 192"/>
                <a:gd name="T14" fmla="*/ 762 w 76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2" h="192">
                  <a:moveTo>
                    <a:pt x="762" y="0"/>
                  </a:moveTo>
                  <a:lnTo>
                    <a:pt x="0" y="84"/>
                  </a:lnTo>
                  <a:lnTo>
                    <a:pt x="630" y="19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1" name="Freeform 190"/>
            <p:cNvSpPr>
              <a:spLocks/>
            </p:cNvSpPr>
            <p:nvPr/>
          </p:nvSpPr>
          <p:spPr bwMode="auto">
            <a:xfrm>
              <a:off x="996" y="2814"/>
              <a:ext cx="744" cy="852"/>
            </a:xfrm>
            <a:custGeom>
              <a:avLst/>
              <a:gdLst>
                <a:gd name="T0" fmla="*/ 744 w 744"/>
                <a:gd name="T1" fmla="*/ 0 h 852"/>
                <a:gd name="T2" fmla="*/ 0 w 744"/>
                <a:gd name="T3" fmla="*/ 402 h 852"/>
                <a:gd name="T4" fmla="*/ 606 w 744"/>
                <a:gd name="T5" fmla="*/ 852 h 852"/>
                <a:gd name="T6" fmla="*/ 744 w 744"/>
                <a:gd name="T7" fmla="*/ 0 h 8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4"/>
                <a:gd name="T13" fmla="*/ 0 h 852"/>
                <a:gd name="T14" fmla="*/ 744 w 744"/>
                <a:gd name="T15" fmla="*/ 852 h 8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4" h="852">
                  <a:moveTo>
                    <a:pt x="744" y="0"/>
                  </a:moveTo>
                  <a:lnTo>
                    <a:pt x="0" y="402"/>
                  </a:lnTo>
                  <a:lnTo>
                    <a:pt x="606" y="852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2" name="Line 191"/>
            <p:cNvSpPr>
              <a:spLocks noChangeShapeType="1"/>
            </p:cNvSpPr>
            <p:nvPr/>
          </p:nvSpPr>
          <p:spPr bwMode="auto">
            <a:xfrm>
              <a:off x="1046" y="3616"/>
              <a:ext cx="555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3" name="Line 192"/>
            <p:cNvSpPr>
              <a:spLocks noChangeShapeType="1"/>
            </p:cNvSpPr>
            <p:nvPr/>
          </p:nvSpPr>
          <p:spPr bwMode="auto">
            <a:xfrm flipH="1">
              <a:off x="966" y="3828"/>
              <a:ext cx="1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4" name="Line 193"/>
            <p:cNvSpPr>
              <a:spLocks noChangeShapeType="1"/>
            </p:cNvSpPr>
            <p:nvPr/>
          </p:nvSpPr>
          <p:spPr bwMode="auto">
            <a:xfrm>
              <a:off x="1000" y="3224"/>
              <a:ext cx="1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5" name="Line 194"/>
            <p:cNvSpPr>
              <a:spLocks noChangeShapeType="1"/>
            </p:cNvSpPr>
            <p:nvPr/>
          </p:nvSpPr>
          <p:spPr bwMode="auto">
            <a:xfrm>
              <a:off x="1601" y="3655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6" name="Line 195"/>
            <p:cNvSpPr>
              <a:spLocks noChangeShapeType="1"/>
            </p:cNvSpPr>
            <p:nvPr/>
          </p:nvSpPr>
          <p:spPr bwMode="auto">
            <a:xfrm>
              <a:off x="614" y="3004"/>
              <a:ext cx="375" cy="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0" name="Rectangle 43"/>
          <p:cNvSpPr>
            <a:spLocks noChangeArrowheads="1"/>
          </p:cNvSpPr>
          <p:nvPr/>
        </p:nvSpPr>
        <p:spPr bwMode="auto">
          <a:xfrm>
            <a:off x="525810" y="5774183"/>
            <a:ext cx="80311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投影面垂直面的投影特性：</a:t>
            </a:r>
            <a:endParaRPr lang="zh-CN" altLang="en-US" sz="2000" b="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     在所垂直的投影面上的投影积聚成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，且与轴倾斜；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     在其它两个投影面上的投影是实际空间图形的</a:t>
            </a:r>
            <a:r>
              <a:rPr lang="zh-CN" altLang="en-US" sz="2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类似形</a:t>
            </a:r>
            <a:r>
              <a:rPr lang="zh-CN" altLang="en-US" sz="2000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0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50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50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150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50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5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5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87" grpId="0" animBg="1" autoUpdateAnimBg="0"/>
      <p:bldP spid="150588" grpId="0" build="p" autoUpdateAnimBg="0"/>
      <p:bldP spid="150589" grpId="0" build="p" autoUpdateAnimBg="0"/>
      <p:bldP spid="150590" grpId="0" animBg="1" autoUpdateAnimBg="0"/>
      <p:bldP spid="150591" grpId="0" animBg="1" autoUpdateAnimBg="0"/>
      <p:bldP spid="150592" grpId="0" build="p" autoUpdateAnimBg="0"/>
      <p:bldP spid="150593" grpId="0" build="p" autoUpdateAnimBg="0"/>
      <p:bldP spid="150594" grpId="0" build="p" autoUpdateAnimBg="0"/>
      <p:bldP spid="150595" grpId="0" build="p" autoUpdateAnimBg="0"/>
      <p:bldP spid="14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B11F050-3638-4726-9C81-B8D402705A4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58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155575" y="214313"/>
            <a:ext cx="8805863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latin typeface="黑体" pitchFamily="2" charset="-122"/>
                <a:ea typeface="黑体" pitchFamily="2" charset="-122"/>
              </a:rPr>
              <a:t>一般位置平面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与三个投影面均倾斜的平面 </a:t>
            </a:r>
            <a:r>
              <a:rPr lang="en-US" altLang="zh-CN" sz="2800">
                <a:ea typeface="黑体" pitchFamily="2" charset="-122"/>
              </a:rPr>
              <a:t>——</a:t>
            </a:r>
            <a:r>
              <a:rPr lang="en-US" altLang="zh-CN" sz="280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一般位置平面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。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876425" y="1568976"/>
            <a:ext cx="4911725" cy="3543300"/>
            <a:chOff x="-1353" y="1233"/>
            <a:chExt cx="3094" cy="2232"/>
          </a:xfrm>
        </p:grpSpPr>
        <p:grpSp>
          <p:nvGrpSpPr>
            <p:cNvPr id="32773" name="Group 50"/>
            <p:cNvGrpSpPr>
              <a:grpSpLocks/>
            </p:cNvGrpSpPr>
            <p:nvPr/>
          </p:nvGrpSpPr>
          <p:grpSpPr bwMode="auto">
            <a:xfrm>
              <a:off x="-1345" y="1255"/>
              <a:ext cx="3067" cy="2178"/>
              <a:chOff x="1000" y="744"/>
              <a:chExt cx="3067" cy="2178"/>
            </a:xfrm>
          </p:grpSpPr>
          <p:sp>
            <p:nvSpPr>
              <p:cNvPr id="32811" name="Freeform 51"/>
              <p:cNvSpPr>
                <a:spLocks/>
              </p:cNvSpPr>
              <p:nvPr/>
            </p:nvSpPr>
            <p:spPr bwMode="auto">
              <a:xfrm>
                <a:off x="1000" y="2293"/>
                <a:ext cx="3067" cy="629"/>
              </a:xfrm>
              <a:custGeom>
                <a:avLst/>
                <a:gdLst>
                  <a:gd name="T0" fmla="*/ 989 w 3067"/>
                  <a:gd name="T1" fmla="*/ 629 h 629"/>
                  <a:gd name="T2" fmla="*/ 3067 w 3067"/>
                  <a:gd name="T3" fmla="*/ 629 h 629"/>
                  <a:gd name="T4" fmla="*/ 1978 w 3067"/>
                  <a:gd name="T5" fmla="*/ 0 h 629"/>
                  <a:gd name="T6" fmla="*/ 0 w 3067"/>
                  <a:gd name="T7" fmla="*/ 0 h 629"/>
                  <a:gd name="T8" fmla="*/ 989 w 3067"/>
                  <a:gd name="T9" fmla="*/ 629 h 6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7"/>
                  <a:gd name="T16" fmla="*/ 0 h 629"/>
                  <a:gd name="T17" fmla="*/ 3067 w 3067"/>
                  <a:gd name="T18" fmla="*/ 629 h 6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7" h="629">
                    <a:moveTo>
                      <a:pt x="989" y="629"/>
                    </a:moveTo>
                    <a:lnTo>
                      <a:pt x="3067" y="629"/>
                    </a:lnTo>
                    <a:lnTo>
                      <a:pt x="1978" y="0"/>
                    </a:lnTo>
                    <a:lnTo>
                      <a:pt x="0" y="0"/>
                    </a:lnTo>
                    <a:lnTo>
                      <a:pt x="989" y="629"/>
                    </a:lnTo>
                    <a:close/>
                  </a:path>
                </a:pathLst>
              </a:custGeom>
              <a:solidFill>
                <a:srgbClr val="CCFFFF"/>
              </a:solidFill>
              <a:ln w="28575" cmpd="sng">
                <a:solidFill>
                  <a:srgbClr val="CCE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12" name="Rectangle 52"/>
              <p:cNvSpPr>
                <a:spLocks noChangeArrowheads="1"/>
              </p:cNvSpPr>
              <p:nvPr/>
            </p:nvSpPr>
            <p:spPr bwMode="auto">
              <a:xfrm>
                <a:off x="1000" y="744"/>
                <a:ext cx="1934" cy="1534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rgbClr val="CCFF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32813" name="Freeform 53"/>
              <p:cNvSpPr>
                <a:spLocks/>
              </p:cNvSpPr>
              <p:nvPr/>
            </p:nvSpPr>
            <p:spPr bwMode="auto">
              <a:xfrm>
                <a:off x="2956" y="744"/>
                <a:ext cx="1111" cy="2175"/>
              </a:xfrm>
              <a:custGeom>
                <a:avLst/>
                <a:gdLst>
                  <a:gd name="T0" fmla="*/ 0 w 1111"/>
                  <a:gd name="T1" fmla="*/ 0 h 2175"/>
                  <a:gd name="T2" fmla="*/ 0 w 1111"/>
                  <a:gd name="T3" fmla="*/ 1534 h 2175"/>
                  <a:gd name="T4" fmla="*/ 1111 w 1111"/>
                  <a:gd name="T5" fmla="*/ 2175 h 2175"/>
                  <a:gd name="T6" fmla="*/ 1111 w 1111"/>
                  <a:gd name="T7" fmla="*/ 589 h 2175"/>
                  <a:gd name="T8" fmla="*/ 0 w 1111"/>
                  <a:gd name="T9" fmla="*/ 0 h 2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11"/>
                  <a:gd name="T16" fmla="*/ 0 h 2175"/>
                  <a:gd name="T17" fmla="*/ 1111 w 1111"/>
                  <a:gd name="T18" fmla="*/ 2175 h 2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11" h="2175">
                    <a:moveTo>
                      <a:pt x="0" y="0"/>
                    </a:moveTo>
                    <a:lnTo>
                      <a:pt x="0" y="1534"/>
                    </a:lnTo>
                    <a:lnTo>
                      <a:pt x="1111" y="2175"/>
                    </a:lnTo>
                    <a:lnTo>
                      <a:pt x="1111" y="5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CC"/>
              </a:solidFill>
              <a:ln w="28575" cmpd="sng">
                <a:solidFill>
                  <a:srgbClr val="FFFF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774" name="Line 54"/>
            <p:cNvSpPr>
              <a:spLocks noChangeShapeType="1"/>
            </p:cNvSpPr>
            <p:nvPr/>
          </p:nvSpPr>
          <p:spPr bwMode="auto">
            <a:xfrm>
              <a:off x="222" y="1644"/>
              <a:ext cx="0" cy="1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5" name="Line 55"/>
            <p:cNvSpPr>
              <a:spLocks noChangeShapeType="1"/>
            </p:cNvSpPr>
            <p:nvPr/>
          </p:nvSpPr>
          <p:spPr bwMode="auto">
            <a:xfrm>
              <a:off x="-588" y="2583"/>
              <a:ext cx="0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6" name="Line 56"/>
            <p:cNvSpPr>
              <a:spLocks noChangeShapeType="1"/>
            </p:cNvSpPr>
            <p:nvPr/>
          </p:nvSpPr>
          <p:spPr bwMode="auto">
            <a:xfrm flipV="1">
              <a:off x="17" y="1532"/>
              <a:ext cx="0" cy="1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7" name="Line 57"/>
            <p:cNvSpPr>
              <a:spLocks noChangeShapeType="1"/>
            </p:cNvSpPr>
            <p:nvPr/>
          </p:nvSpPr>
          <p:spPr bwMode="auto">
            <a:xfrm flipV="1">
              <a:off x="-982" y="2361"/>
              <a:ext cx="0" cy="4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8" name="Line 58"/>
            <p:cNvSpPr>
              <a:spLocks noChangeShapeType="1"/>
            </p:cNvSpPr>
            <p:nvPr/>
          </p:nvSpPr>
          <p:spPr bwMode="auto">
            <a:xfrm>
              <a:off x="648" y="3091"/>
              <a:ext cx="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9" name="Line 59"/>
            <p:cNvSpPr>
              <a:spLocks noChangeShapeType="1"/>
            </p:cNvSpPr>
            <p:nvPr/>
          </p:nvSpPr>
          <p:spPr bwMode="auto">
            <a:xfrm flipV="1">
              <a:off x="1103" y="2343"/>
              <a:ext cx="0" cy="7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0" name="Line 60"/>
            <p:cNvSpPr>
              <a:spLocks noChangeShapeType="1"/>
            </p:cNvSpPr>
            <p:nvPr/>
          </p:nvSpPr>
          <p:spPr bwMode="auto">
            <a:xfrm flipH="1" flipV="1">
              <a:off x="594" y="1524"/>
              <a:ext cx="222" cy="1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1" name="Line 61"/>
            <p:cNvSpPr>
              <a:spLocks noChangeShapeType="1"/>
            </p:cNvSpPr>
            <p:nvPr/>
          </p:nvSpPr>
          <p:spPr bwMode="auto">
            <a:xfrm>
              <a:off x="-588" y="2581"/>
              <a:ext cx="1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2" name="Line 62"/>
            <p:cNvSpPr>
              <a:spLocks noChangeShapeType="1"/>
            </p:cNvSpPr>
            <p:nvPr/>
          </p:nvSpPr>
          <p:spPr bwMode="auto">
            <a:xfrm>
              <a:off x="-1349" y="2809"/>
              <a:ext cx="1950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3" name="Line 63"/>
            <p:cNvSpPr>
              <a:spLocks noChangeShapeType="1"/>
            </p:cNvSpPr>
            <p:nvPr/>
          </p:nvSpPr>
          <p:spPr bwMode="auto">
            <a:xfrm>
              <a:off x="607" y="2803"/>
              <a:ext cx="1134" cy="648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76" name="Text Box 64"/>
            <p:cNvSpPr txBox="1">
              <a:spLocks noChangeArrowheads="1"/>
            </p:cNvSpPr>
            <p:nvPr/>
          </p:nvSpPr>
          <p:spPr bwMode="auto">
            <a:xfrm>
              <a:off x="-1353" y="1233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64577" name="Text Box 65"/>
            <p:cNvSpPr txBox="1">
              <a:spLocks noChangeArrowheads="1"/>
            </p:cNvSpPr>
            <p:nvPr/>
          </p:nvSpPr>
          <p:spPr bwMode="auto">
            <a:xfrm>
              <a:off x="1437" y="1785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  <p:sp>
          <p:nvSpPr>
            <p:cNvPr id="64578" name="Text Box 66"/>
            <p:cNvSpPr txBox="1">
              <a:spLocks noChangeArrowheads="1"/>
            </p:cNvSpPr>
            <p:nvPr/>
          </p:nvSpPr>
          <p:spPr bwMode="auto">
            <a:xfrm>
              <a:off x="-435" y="317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lang="en-US" altLang="zh-CN" i="1">
                  <a:solidFill>
                    <a:srgbClr val="33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  <p:sp>
          <p:nvSpPr>
            <p:cNvPr id="32787" name="Line 67"/>
            <p:cNvSpPr>
              <a:spLocks noChangeShapeType="1"/>
            </p:cNvSpPr>
            <p:nvPr/>
          </p:nvSpPr>
          <p:spPr bwMode="auto">
            <a:xfrm flipV="1">
              <a:off x="600" y="1233"/>
              <a:ext cx="0" cy="1567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8" name="Line 68"/>
            <p:cNvSpPr>
              <a:spLocks noChangeShapeType="1"/>
            </p:cNvSpPr>
            <p:nvPr/>
          </p:nvSpPr>
          <p:spPr bwMode="auto">
            <a:xfrm>
              <a:off x="648" y="2342"/>
              <a:ext cx="0" cy="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Freeform 69"/>
            <p:cNvSpPr>
              <a:spLocks/>
            </p:cNvSpPr>
            <p:nvPr/>
          </p:nvSpPr>
          <p:spPr bwMode="auto">
            <a:xfrm>
              <a:off x="-594" y="2924"/>
              <a:ext cx="1242" cy="162"/>
            </a:xfrm>
            <a:custGeom>
              <a:avLst/>
              <a:gdLst>
                <a:gd name="T0" fmla="*/ 0 w 1242"/>
                <a:gd name="T1" fmla="*/ 114 h 162"/>
                <a:gd name="T2" fmla="*/ 822 w 1242"/>
                <a:gd name="T3" fmla="*/ 0 h 162"/>
                <a:gd name="T4" fmla="*/ 1242 w 1242"/>
                <a:gd name="T5" fmla="*/ 162 h 162"/>
                <a:gd name="T6" fmla="*/ 0 w 1242"/>
                <a:gd name="T7" fmla="*/ 114 h 1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2"/>
                <a:gd name="T13" fmla="*/ 0 h 162"/>
                <a:gd name="T14" fmla="*/ 1242 w 1242"/>
                <a:gd name="T15" fmla="*/ 162 h 1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2" h="162">
                  <a:moveTo>
                    <a:pt x="0" y="114"/>
                  </a:moveTo>
                  <a:lnTo>
                    <a:pt x="822" y="0"/>
                  </a:lnTo>
                  <a:lnTo>
                    <a:pt x="1242" y="16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70"/>
            <p:cNvSpPr>
              <a:spLocks noChangeShapeType="1"/>
            </p:cNvSpPr>
            <p:nvPr/>
          </p:nvSpPr>
          <p:spPr bwMode="auto">
            <a:xfrm>
              <a:off x="648" y="2348"/>
              <a:ext cx="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1" name="Line 71"/>
            <p:cNvSpPr>
              <a:spLocks noChangeShapeType="1"/>
            </p:cNvSpPr>
            <p:nvPr/>
          </p:nvSpPr>
          <p:spPr bwMode="auto">
            <a:xfrm>
              <a:off x="222" y="2924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2" name="Line 72"/>
            <p:cNvSpPr>
              <a:spLocks noChangeShapeType="1"/>
            </p:cNvSpPr>
            <p:nvPr/>
          </p:nvSpPr>
          <p:spPr bwMode="auto">
            <a:xfrm>
              <a:off x="18" y="2810"/>
              <a:ext cx="20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3" name="Line 73"/>
            <p:cNvSpPr>
              <a:spLocks noChangeShapeType="1"/>
            </p:cNvSpPr>
            <p:nvPr/>
          </p:nvSpPr>
          <p:spPr bwMode="auto">
            <a:xfrm>
              <a:off x="-990" y="2810"/>
              <a:ext cx="408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4" name="Line 74"/>
            <p:cNvSpPr>
              <a:spLocks noChangeShapeType="1"/>
            </p:cNvSpPr>
            <p:nvPr/>
          </p:nvSpPr>
          <p:spPr bwMode="auto">
            <a:xfrm>
              <a:off x="165" y="2809"/>
              <a:ext cx="513" cy="2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5" name="Line 75"/>
            <p:cNvSpPr>
              <a:spLocks noChangeShapeType="1"/>
            </p:cNvSpPr>
            <p:nvPr/>
          </p:nvSpPr>
          <p:spPr bwMode="auto">
            <a:xfrm flipV="1">
              <a:off x="167" y="2084"/>
              <a:ext cx="0" cy="7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6" name="Line 76"/>
            <p:cNvSpPr>
              <a:spLocks noChangeShapeType="1"/>
            </p:cNvSpPr>
            <p:nvPr/>
          </p:nvSpPr>
          <p:spPr bwMode="auto">
            <a:xfrm>
              <a:off x="-985" y="2354"/>
              <a:ext cx="409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7" name="Line 77"/>
            <p:cNvSpPr>
              <a:spLocks noChangeShapeType="1"/>
            </p:cNvSpPr>
            <p:nvPr/>
          </p:nvSpPr>
          <p:spPr bwMode="auto">
            <a:xfrm>
              <a:off x="182" y="2090"/>
              <a:ext cx="484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8" name="Line 78"/>
            <p:cNvSpPr>
              <a:spLocks noChangeShapeType="1"/>
            </p:cNvSpPr>
            <p:nvPr/>
          </p:nvSpPr>
          <p:spPr bwMode="auto">
            <a:xfrm>
              <a:off x="18" y="1538"/>
              <a:ext cx="202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9" name="Line 79"/>
            <p:cNvSpPr>
              <a:spLocks noChangeShapeType="1"/>
            </p:cNvSpPr>
            <p:nvPr/>
          </p:nvSpPr>
          <p:spPr bwMode="auto">
            <a:xfrm>
              <a:off x="18" y="1526"/>
              <a:ext cx="5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0" name="Line 80"/>
            <p:cNvSpPr>
              <a:spLocks noChangeShapeType="1"/>
            </p:cNvSpPr>
            <p:nvPr/>
          </p:nvSpPr>
          <p:spPr bwMode="auto">
            <a:xfrm>
              <a:off x="222" y="1652"/>
              <a:ext cx="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1" name="Line 81"/>
            <p:cNvSpPr>
              <a:spLocks noChangeShapeType="1"/>
            </p:cNvSpPr>
            <p:nvPr/>
          </p:nvSpPr>
          <p:spPr bwMode="auto">
            <a:xfrm>
              <a:off x="156" y="2084"/>
              <a:ext cx="4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2" name="Line 82"/>
            <p:cNvSpPr>
              <a:spLocks noChangeShapeType="1"/>
            </p:cNvSpPr>
            <p:nvPr/>
          </p:nvSpPr>
          <p:spPr bwMode="auto">
            <a:xfrm flipV="1">
              <a:off x="816" y="1640"/>
              <a:ext cx="0" cy="1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3" name="Line 83"/>
            <p:cNvSpPr>
              <a:spLocks noChangeShapeType="1"/>
            </p:cNvSpPr>
            <p:nvPr/>
          </p:nvSpPr>
          <p:spPr bwMode="auto">
            <a:xfrm>
              <a:off x="-978" y="2360"/>
              <a:ext cx="1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4" name="Line 84"/>
            <p:cNvSpPr>
              <a:spLocks noChangeShapeType="1"/>
            </p:cNvSpPr>
            <p:nvPr/>
          </p:nvSpPr>
          <p:spPr bwMode="auto">
            <a:xfrm>
              <a:off x="597" y="2357"/>
              <a:ext cx="400" cy="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5" name="Line 85"/>
            <p:cNvSpPr>
              <a:spLocks noChangeShapeType="1"/>
            </p:cNvSpPr>
            <p:nvPr/>
          </p:nvSpPr>
          <p:spPr bwMode="auto">
            <a:xfrm>
              <a:off x="-576" y="3032"/>
              <a:ext cx="1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6" name="Line 86"/>
            <p:cNvSpPr>
              <a:spLocks noChangeShapeType="1"/>
            </p:cNvSpPr>
            <p:nvPr/>
          </p:nvSpPr>
          <p:spPr bwMode="auto">
            <a:xfrm flipV="1">
              <a:off x="996" y="2576"/>
              <a:ext cx="0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7" name="Freeform 87"/>
            <p:cNvSpPr>
              <a:spLocks/>
            </p:cNvSpPr>
            <p:nvPr/>
          </p:nvSpPr>
          <p:spPr bwMode="auto">
            <a:xfrm>
              <a:off x="816" y="1652"/>
              <a:ext cx="288" cy="930"/>
            </a:xfrm>
            <a:custGeom>
              <a:avLst/>
              <a:gdLst>
                <a:gd name="T0" fmla="*/ 0 w 288"/>
                <a:gd name="T1" fmla="*/ 0 h 930"/>
                <a:gd name="T2" fmla="*/ 288 w 288"/>
                <a:gd name="T3" fmla="*/ 696 h 930"/>
                <a:gd name="T4" fmla="*/ 180 w 288"/>
                <a:gd name="T5" fmla="*/ 930 h 930"/>
                <a:gd name="T6" fmla="*/ 0 w 288"/>
                <a:gd name="T7" fmla="*/ 0 h 9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930"/>
                <a:gd name="T14" fmla="*/ 288 w 288"/>
                <a:gd name="T15" fmla="*/ 930 h 9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930">
                  <a:moveTo>
                    <a:pt x="0" y="0"/>
                  </a:moveTo>
                  <a:lnTo>
                    <a:pt x="288" y="696"/>
                  </a:lnTo>
                  <a:lnTo>
                    <a:pt x="180" y="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8" name="Freeform 88"/>
            <p:cNvSpPr>
              <a:spLocks/>
            </p:cNvSpPr>
            <p:nvPr/>
          </p:nvSpPr>
          <p:spPr bwMode="auto">
            <a:xfrm>
              <a:off x="-978" y="1532"/>
              <a:ext cx="1152" cy="828"/>
            </a:xfrm>
            <a:custGeom>
              <a:avLst/>
              <a:gdLst>
                <a:gd name="T0" fmla="*/ 996 w 1152"/>
                <a:gd name="T1" fmla="*/ 0 h 828"/>
                <a:gd name="T2" fmla="*/ 0 w 1152"/>
                <a:gd name="T3" fmla="*/ 828 h 828"/>
                <a:gd name="T4" fmla="*/ 1152 w 1152"/>
                <a:gd name="T5" fmla="*/ 558 h 828"/>
                <a:gd name="T6" fmla="*/ 996 w 1152"/>
                <a:gd name="T7" fmla="*/ 0 h 8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2"/>
                <a:gd name="T13" fmla="*/ 0 h 828"/>
                <a:gd name="T14" fmla="*/ 1152 w 1152"/>
                <a:gd name="T15" fmla="*/ 828 h 8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2" h="828">
                  <a:moveTo>
                    <a:pt x="996" y="0"/>
                  </a:moveTo>
                  <a:lnTo>
                    <a:pt x="0" y="828"/>
                  </a:lnTo>
                  <a:lnTo>
                    <a:pt x="1152" y="558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28575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9" name="Freeform 89"/>
            <p:cNvSpPr>
              <a:spLocks/>
            </p:cNvSpPr>
            <p:nvPr/>
          </p:nvSpPr>
          <p:spPr bwMode="auto">
            <a:xfrm>
              <a:off x="-582" y="1654"/>
              <a:ext cx="1236" cy="922"/>
            </a:xfrm>
            <a:custGeom>
              <a:avLst/>
              <a:gdLst>
                <a:gd name="T0" fmla="*/ 803 w 1236"/>
                <a:gd name="T1" fmla="*/ 0 h 922"/>
                <a:gd name="T2" fmla="*/ 0 w 1236"/>
                <a:gd name="T3" fmla="*/ 922 h 922"/>
                <a:gd name="T4" fmla="*/ 1236 w 1236"/>
                <a:gd name="T5" fmla="*/ 694 h 922"/>
                <a:gd name="T6" fmla="*/ 803 w 1236"/>
                <a:gd name="T7" fmla="*/ 0 h 9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6"/>
                <a:gd name="T13" fmla="*/ 0 h 922"/>
                <a:gd name="T14" fmla="*/ 1236 w 1236"/>
                <a:gd name="T15" fmla="*/ 922 h 9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6" h="922">
                  <a:moveTo>
                    <a:pt x="803" y="0"/>
                  </a:moveTo>
                  <a:lnTo>
                    <a:pt x="0" y="922"/>
                  </a:lnTo>
                  <a:lnTo>
                    <a:pt x="1236" y="694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8100" cmpd="sng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0" name="Line 90"/>
            <p:cNvSpPr>
              <a:spLocks noChangeShapeType="1"/>
            </p:cNvSpPr>
            <p:nvPr/>
          </p:nvSpPr>
          <p:spPr bwMode="auto">
            <a:xfrm>
              <a:off x="592" y="2078"/>
              <a:ext cx="512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" name="Text Box 41"/>
          <p:cNvSpPr txBox="1">
            <a:spLocks noChangeArrowheads="1"/>
          </p:cNvSpPr>
          <p:nvPr/>
        </p:nvSpPr>
        <p:spPr bwMode="auto">
          <a:xfrm>
            <a:off x="338138" y="5294489"/>
            <a:ext cx="8805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一般位置面的投影特性：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三个投影都是空间图形的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类似形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800" b="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4387B4D-F267-44B4-A319-95CB4D3CE789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59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4844" name="Text Box 51"/>
          <p:cNvSpPr txBox="1">
            <a:spLocks noChangeArrowheads="1"/>
          </p:cNvSpPr>
          <p:nvPr/>
        </p:nvSpPr>
        <p:spPr bwMode="auto">
          <a:xfrm>
            <a:off x="338139" y="440560"/>
            <a:ext cx="4902904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三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平面上的直线和点</a:t>
            </a:r>
          </a:p>
          <a:p>
            <a:pPr eaLnBrk="1" hangingPunct="1"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平面上的直线</a:t>
            </a:r>
          </a:p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定理①：若直线通过属于平面的两个点，则直线必在面上。</a:t>
            </a:r>
          </a:p>
        </p:txBody>
      </p:sp>
      <p:sp>
        <p:nvSpPr>
          <p:cNvPr id="68661" name="Text Box 53"/>
          <p:cNvSpPr txBox="1">
            <a:spLocks noChangeArrowheads="1"/>
          </p:cNvSpPr>
          <p:nvPr/>
        </p:nvSpPr>
        <p:spPr bwMode="auto">
          <a:xfrm>
            <a:off x="325482" y="2668578"/>
            <a:ext cx="491556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定理②：若直线通过属于平面的一个点，且平行于属于该平面的一条已知直线，则该直线必在面上。</a:t>
            </a:r>
          </a:p>
        </p:txBody>
      </p:sp>
      <p:sp>
        <p:nvSpPr>
          <p:cNvPr id="68685" name="Text Box 77"/>
          <p:cNvSpPr txBox="1">
            <a:spLocks noChangeArrowheads="1"/>
          </p:cNvSpPr>
          <p:nvPr/>
        </p:nvSpPr>
        <p:spPr bwMode="auto">
          <a:xfrm>
            <a:off x="247826" y="4167522"/>
            <a:ext cx="5060950" cy="457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例：试完成平行四边形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ABCD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的投影。</a:t>
            </a:r>
          </a:p>
        </p:txBody>
      </p:sp>
      <p:sp>
        <p:nvSpPr>
          <p:cNvPr id="68694" name="Text Box 86"/>
          <p:cNvSpPr txBox="1">
            <a:spLocks noChangeArrowheads="1"/>
          </p:cNvSpPr>
          <p:nvPr/>
        </p:nvSpPr>
        <p:spPr bwMode="auto">
          <a:xfrm>
            <a:off x="5549900" y="3989902"/>
            <a:ext cx="3594254" cy="83099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algn="l" eaLnBrk="1" hangingPunct="1">
              <a:buClrTx/>
              <a:buFontTx/>
              <a:buNone/>
              <a:defRPr>
                <a:latin typeface="黑体" pitchFamily="2" charset="-122"/>
                <a:ea typeface="黑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/>
            </a:lvl2pPr>
            <a:lvl3pPr marL="1143000" indent="-228600" algn="l" eaLnBrk="0" hangingPunct="0">
              <a:spcBef>
                <a:spcPct val="20000"/>
              </a:spcBef>
              <a:buChar char="•"/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/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dirty="0"/>
              <a:t>DC ∥ AB</a:t>
            </a:r>
            <a:r>
              <a:rPr lang="zh-CN" altLang="en-US" dirty="0"/>
              <a:t>，且过面上点</a:t>
            </a:r>
            <a:r>
              <a:rPr lang="en-US" altLang="zh-CN" dirty="0"/>
              <a:t>D,</a:t>
            </a:r>
          </a:p>
          <a:p>
            <a:r>
              <a:rPr lang="en-US" altLang="zh-CN" dirty="0">
                <a:sym typeface="Symbol" pitchFamily="18" charset="2"/>
              </a:rPr>
              <a:t></a:t>
            </a:r>
            <a:r>
              <a:rPr lang="en-US" altLang="zh-CN" dirty="0"/>
              <a:t>DC</a:t>
            </a:r>
            <a:r>
              <a:rPr lang="zh-CN" altLang="en-US" dirty="0"/>
              <a:t>在</a:t>
            </a:r>
            <a:r>
              <a:rPr lang="en-US" altLang="zh-CN" dirty="0"/>
              <a:t>AB </a:t>
            </a:r>
            <a:r>
              <a:rPr lang="en-US" altLang="zh-CN" sz="1800" dirty="0"/>
              <a:t>╳</a:t>
            </a:r>
            <a:r>
              <a:rPr lang="en-US" altLang="zh-CN" dirty="0"/>
              <a:t> AD</a:t>
            </a:r>
            <a:r>
              <a:rPr lang="zh-CN" altLang="en-US" dirty="0"/>
              <a:t>平面上</a:t>
            </a:r>
          </a:p>
        </p:txBody>
      </p:sp>
      <p:sp>
        <p:nvSpPr>
          <p:cNvPr id="68695" name="Text Box 87"/>
          <p:cNvSpPr txBox="1">
            <a:spLocks noChangeArrowheads="1"/>
          </p:cNvSpPr>
          <p:nvPr/>
        </p:nvSpPr>
        <p:spPr bwMode="auto">
          <a:xfrm>
            <a:off x="5538257" y="4929260"/>
            <a:ext cx="3605743" cy="83099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在平面上，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在平面上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  <a:sym typeface="Symbol" pitchFamily="18" charset="2"/>
              </a:rPr>
              <a:t>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BC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在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AB </a:t>
            </a:r>
            <a:r>
              <a:rPr lang="en-US" altLang="zh-CN" sz="1800" dirty="0">
                <a:latin typeface="黑体" pitchFamily="2" charset="-122"/>
                <a:ea typeface="黑体" pitchFamily="2" charset="-122"/>
              </a:rPr>
              <a:t>╳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AD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平面上</a:t>
            </a:r>
          </a:p>
        </p:txBody>
      </p:sp>
      <p:sp>
        <p:nvSpPr>
          <p:cNvPr id="68693" name="Text Box 85"/>
          <p:cNvSpPr txBox="1">
            <a:spLocks noChangeArrowheads="1"/>
          </p:cNvSpPr>
          <p:nvPr/>
        </p:nvSpPr>
        <p:spPr bwMode="auto">
          <a:xfrm>
            <a:off x="5881687" y="5917317"/>
            <a:ext cx="2944813" cy="45720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四边形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ABCD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即为所求</a:t>
            </a:r>
          </a:p>
        </p:txBody>
      </p:sp>
      <p:grpSp>
        <p:nvGrpSpPr>
          <p:cNvPr id="110" name="Group 30"/>
          <p:cNvGrpSpPr>
            <a:grpSpLocks/>
          </p:cNvGrpSpPr>
          <p:nvPr/>
        </p:nvGrpSpPr>
        <p:grpSpPr bwMode="auto">
          <a:xfrm>
            <a:off x="5438775" y="1639888"/>
            <a:ext cx="3486150" cy="458787"/>
            <a:chOff x="3221" y="2791"/>
            <a:chExt cx="2196" cy="289"/>
          </a:xfrm>
        </p:grpSpPr>
        <p:sp>
          <p:nvSpPr>
            <p:cNvPr id="111" name="Text Box 31"/>
            <p:cNvSpPr txBox="1">
              <a:spLocks noChangeArrowheads="1"/>
            </p:cNvSpPr>
            <p:nvPr/>
          </p:nvSpPr>
          <p:spPr bwMode="auto">
            <a:xfrm>
              <a:off x="3221" y="279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112" name="Text Box 32"/>
            <p:cNvSpPr txBox="1">
              <a:spLocks noChangeArrowheads="1"/>
            </p:cNvSpPr>
            <p:nvPr/>
          </p:nvSpPr>
          <p:spPr bwMode="auto">
            <a:xfrm>
              <a:off x="5198" y="2791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113" name="Line 33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5" name="Group 63"/>
          <p:cNvGrpSpPr>
            <a:grpSpLocks/>
          </p:cNvGrpSpPr>
          <p:nvPr/>
        </p:nvGrpSpPr>
        <p:grpSpPr bwMode="auto">
          <a:xfrm>
            <a:off x="5673725" y="61913"/>
            <a:ext cx="2012950" cy="3708400"/>
            <a:chOff x="3574" y="39"/>
            <a:chExt cx="1268" cy="2336"/>
          </a:xfrm>
        </p:grpSpPr>
        <p:sp>
          <p:nvSpPr>
            <p:cNvPr id="136" name="Line 64"/>
            <p:cNvSpPr>
              <a:spLocks noChangeShapeType="1"/>
            </p:cNvSpPr>
            <p:nvPr/>
          </p:nvSpPr>
          <p:spPr bwMode="auto">
            <a:xfrm>
              <a:off x="4444" y="1076"/>
              <a:ext cx="0" cy="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7" name="Line 65"/>
            <p:cNvSpPr>
              <a:spLocks noChangeShapeType="1"/>
            </p:cNvSpPr>
            <p:nvPr/>
          </p:nvSpPr>
          <p:spPr bwMode="auto">
            <a:xfrm>
              <a:off x="3820" y="692"/>
              <a:ext cx="0" cy="1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8" name="Line 66"/>
            <p:cNvSpPr>
              <a:spLocks noChangeShapeType="1"/>
            </p:cNvSpPr>
            <p:nvPr/>
          </p:nvSpPr>
          <p:spPr bwMode="auto">
            <a:xfrm flipH="1">
              <a:off x="4712" y="230"/>
              <a:ext cx="2" cy="1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Text Box 67"/>
            <p:cNvSpPr txBox="1">
              <a:spLocks noChangeArrowheads="1"/>
            </p:cNvSpPr>
            <p:nvPr/>
          </p:nvSpPr>
          <p:spPr bwMode="auto">
            <a:xfrm>
              <a:off x="3574" y="480"/>
              <a:ext cx="3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 dirty="0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i="1" dirty="0">
                <a:latin typeface="ISOCPEUR" pitchFamily="34" charset="0"/>
              </a:endParaRPr>
            </a:p>
          </p:txBody>
        </p:sp>
        <p:sp>
          <p:nvSpPr>
            <p:cNvPr id="140" name="Line 68"/>
            <p:cNvSpPr>
              <a:spLocks noChangeShapeType="1"/>
            </p:cNvSpPr>
            <p:nvPr/>
          </p:nvSpPr>
          <p:spPr bwMode="auto">
            <a:xfrm>
              <a:off x="3820" y="692"/>
              <a:ext cx="62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Line 70"/>
            <p:cNvSpPr>
              <a:spLocks noChangeShapeType="1"/>
            </p:cNvSpPr>
            <p:nvPr/>
          </p:nvSpPr>
          <p:spPr bwMode="auto">
            <a:xfrm>
              <a:off x="3820" y="1995"/>
              <a:ext cx="624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Line 71"/>
            <p:cNvSpPr>
              <a:spLocks noChangeShapeType="1"/>
            </p:cNvSpPr>
            <p:nvPr/>
          </p:nvSpPr>
          <p:spPr bwMode="auto">
            <a:xfrm flipV="1">
              <a:off x="3820" y="230"/>
              <a:ext cx="89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Text Box 72"/>
            <p:cNvSpPr txBox="1">
              <a:spLocks noChangeArrowheads="1"/>
            </p:cNvSpPr>
            <p:nvPr/>
          </p:nvSpPr>
          <p:spPr bwMode="auto">
            <a:xfrm>
              <a:off x="4486" y="39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145" name="Line 73"/>
            <p:cNvSpPr>
              <a:spLocks noChangeShapeType="1"/>
            </p:cNvSpPr>
            <p:nvPr/>
          </p:nvSpPr>
          <p:spPr bwMode="auto">
            <a:xfrm flipV="1">
              <a:off x="3820" y="1415"/>
              <a:ext cx="892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" name="Text Box 74"/>
            <p:cNvSpPr txBox="1">
              <a:spLocks noChangeArrowheads="1"/>
            </p:cNvSpPr>
            <p:nvPr/>
          </p:nvSpPr>
          <p:spPr bwMode="auto">
            <a:xfrm>
              <a:off x="3670" y="1908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147" name="Text Box 75"/>
            <p:cNvSpPr txBox="1">
              <a:spLocks noChangeArrowheads="1"/>
            </p:cNvSpPr>
            <p:nvPr/>
          </p:nvSpPr>
          <p:spPr bwMode="auto">
            <a:xfrm>
              <a:off x="4522" y="1242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148" name="Text Box 76"/>
            <p:cNvSpPr txBox="1">
              <a:spLocks noChangeArrowheads="1"/>
            </p:cNvSpPr>
            <p:nvPr/>
          </p:nvSpPr>
          <p:spPr bwMode="auto">
            <a:xfrm>
              <a:off x="4215" y="2125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d</a:t>
              </a:r>
            </a:p>
          </p:txBody>
        </p:sp>
      </p:grpSp>
      <p:sp>
        <p:nvSpPr>
          <p:cNvPr id="149" name="Line 78"/>
          <p:cNvSpPr>
            <a:spLocks noChangeShapeType="1"/>
          </p:cNvSpPr>
          <p:nvPr/>
        </p:nvSpPr>
        <p:spPr bwMode="auto">
          <a:xfrm flipV="1">
            <a:off x="7054850" y="971550"/>
            <a:ext cx="1416050" cy="733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0" name="Line 79"/>
          <p:cNvSpPr>
            <a:spLocks noChangeShapeType="1"/>
          </p:cNvSpPr>
          <p:nvPr/>
        </p:nvSpPr>
        <p:spPr bwMode="auto">
          <a:xfrm flipV="1">
            <a:off x="7067550" y="2538413"/>
            <a:ext cx="1416050" cy="9207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1" name="Line 80"/>
          <p:cNvSpPr>
            <a:spLocks noChangeShapeType="1"/>
          </p:cNvSpPr>
          <p:nvPr/>
        </p:nvSpPr>
        <p:spPr bwMode="auto">
          <a:xfrm>
            <a:off x="7480300" y="361950"/>
            <a:ext cx="990600" cy="609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2" name="Line 81"/>
          <p:cNvSpPr>
            <a:spLocks noChangeShapeType="1"/>
          </p:cNvSpPr>
          <p:nvPr/>
        </p:nvSpPr>
        <p:spPr bwMode="auto">
          <a:xfrm>
            <a:off x="7486650" y="2246313"/>
            <a:ext cx="990600" cy="2921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" name="Line 82"/>
          <p:cNvSpPr>
            <a:spLocks noChangeShapeType="1"/>
          </p:cNvSpPr>
          <p:nvPr/>
        </p:nvSpPr>
        <p:spPr bwMode="auto">
          <a:xfrm>
            <a:off x="8470900" y="976313"/>
            <a:ext cx="0" cy="155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4" name="Text Box 83"/>
          <p:cNvSpPr txBox="1">
            <a:spLocks noChangeArrowheads="1"/>
          </p:cNvSpPr>
          <p:nvPr/>
        </p:nvSpPr>
        <p:spPr bwMode="auto">
          <a:xfrm>
            <a:off x="8367713" y="685800"/>
            <a:ext cx="582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c'</a:t>
            </a:r>
          </a:p>
        </p:txBody>
      </p:sp>
      <p:sp>
        <p:nvSpPr>
          <p:cNvPr id="155" name="Text Box 84"/>
          <p:cNvSpPr txBox="1">
            <a:spLocks noChangeArrowheads="1"/>
          </p:cNvSpPr>
          <p:nvPr/>
        </p:nvSpPr>
        <p:spPr bwMode="auto">
          <a:xfrm>
            <a:off x="8499475" y="2282825"/>
            <a:ext cx="28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c</a:t>
            </a:r>
          </a:p>
        </p:txBody>
      </p:sp>
      <p:sp>
        <p:nvSpPr>
          <p:cNvPr id="156" name="Text Box 69"/>
          <p:cNvSpPr txBox="1">
            <a:spLocks noChangeArrowheads="1"/>
          </p:cNvSpPr>
          <p:nvPr/>
        </p:nvSpPr>
        <p:spPr bwMode="auto">
          <a:xfrm>
            <a:off x="6508750" y="1639888"/>
            <a:ext cx="546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 dirty="0">
                <a:latin typeface="ISOCPEUR" pitchFamily="34" charset="0"/>
                <a:ea typeface="仿宋_GB2312" pitchFamily="49" charset="-122"/>
              </a:rPr>
              <a:t>d'</a:t>
            </a:r>
            <a:endParaRPr lang="en-US" altLang="zh-CN" sz="2400" i="1" dirty="0">
              <a:latin typeface="ISOCPEUR" pitchFamily="34" charset="0"/>
            </a:endParaRPr>
          </a:p>
        </p:txBody>
      </p:sp>
      <p:sp>
        <p:nvSpPr>
          <p:cNvPr id="34" name="Text Box 53"/>
          <p:cNvSpPr txBox="1">
            <a:spLocks noChangeArrowheads="1"/>
          </p:cNvSpPr>
          <p:nvPr/>
        </p:nvSpPr>
        <p:spPr bwMode="auto">
          <a:xfrm>
            <a:off x="269036" y="4871513"/>
            <a:ext cx="491556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分析：在已知平面上确定两条直线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      DC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BC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方法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：平面上两点。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方法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：平面上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点，平行于</a:t>
            </a:r>
            <a:r>
              <a:rPr lang="en-US" altLang="zh-CN" sz="2400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直线。</a:t>
            </a:r>
          </a:p>
        </p:txBody>
      </p:sp>
    </p:spTree>
    <p:extLst>
      <p:ext uri="{BB962C8B-B14F-4D97-AF65-F5344CB8AC3E}">
        <p14:creationId xmlns:p14="http://schemas.microsoft.com/office/powerpoint/2010/main" val="149314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8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8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61" grpId="0" autoUpdateAnimBg="0"/>
      <p:bldP spid="68685" grpId="0" animBg="1" autoUpdateAnimBg="0"/>
      <p:bldP spid="68694" grpId="0" animBg="1"/>
      <p:bldP spid="68695" grpId="0" animBg="1"/>
      <p:bldP spid="68693" grpId="0" animBg="1" autoUpdateAnimBg="0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utoUpdateAnimBg="0"/>
      <p:bldP spid="155" grpId="0" autoUpdateAnimBg="0"/>
      <p:bldP spid="156" grpId="0"/>
      <p:bldP spid="3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1944688" y="30210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①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95500" y="4216400"/>
            <a:ext cx="3328988" cy="458788"/>
            <a:chOff x="3216" y="2784"/>
            <a:chExt cx="2207" cy="304"/>
          </a:xfrm>
        </p:grpSpPr>
        <p:sp>
          <p:nvSpPr>
            <p:cNvPr id="35927" name="Text Box 4"/>
            <p:cNvSpPr txBox="1">
              <a:spLocks noChangeArrowheads="1"/>
            </p:cNvSpPr>
            <p:nvPr/>
          </p:nvSpPr>
          <p:spPr bwMode="auto">
            <a:xfrm>
              <a:off x="3216" y="2785"/>
              <a:ext cx="243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35928" name="Text Box 5"/>
            <p:cNvSpPr txBox="1">
              <a:spLocks noChangeArrowheads="1"/>
            </p:cNvSpPr>
            <p:nvPr/>
          </p:nvSpPr>
          <p:spPr bwMode="auto">
            <a:xfrm>
              <a:off x="5193" y="2784"/>
              <a:ext cx="230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35929" name="Line 6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574925" y="2803525"/>
            <a:ext cx="2168525" cy="3349625"/>
            <a:chOff x="830" y="2071"/>
            <a:chExt cx="1366" cy="2110"/>
          </a:xfrm>
        </p:grpSpPr>
        <p:sp>
          <p:nvSpPr>
            <p:cNvPr id="35916" name="Line 8"/>
            <p:cNvSpPr>
              <a:spLocks noChangeShapeType="1"/>
            </p:cNvSpPr>
            <p:nvPr/>
          </p:nvSpPr>
          <p:spPr bwMode="auto">
            <a:xfrm>
              <a:off x="1584" y="2195"/>
              <a:ext cx="0" cy="1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7" name="Line 9"/>
            <p:cNvSpPr>
              <a:spLocks noChangeShapeType="1"/>
            </p:cNvSpPr>
            <p:nvPr/>
          </p:nvSpPr>
          <p:spPr bwMode="auto">
            <a:xfrm>
              <a:off x="1076" y="2646"/>
              <a:ext cx="0" cy="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8" name="Line 10"/>
            <p:cNvSpPr>
              <a:spLocks noChangeShapeType="1"/>
            </p:cNvSpPr>
            <p:nvPr/>
          </p:nvSpPr>
          <p:spPr bwMode="auto">
            <a:xfrm>
              <a:off x="1926" y="3021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9" name="Text Box 11"/>
            <p:cNvSpPr txBox="1">
              <a:spLocks noChangeArrowheads="1"/>
            </p:cNvSpPr>
            <p:nvPr/>
          </p:nvSpPr>
          <p:spPr bwMode="auto">
            <a:xfrm>
              <a:off x="830" y="247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920" name="Text Box 12"/>
            <p:cNvSpPr txBox="1">
              <a:spLocks noChangeArrowheads="1"/>
            </p:cNvSpPr>
            <p:nvPr/>
          </p:nvSpPr>
          <p:spPr bwMode="auto">
            <a:xfrm>
              <a:off x="1870" y="2820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921" name="Text Box 13"/>
            <p:cNvSpPr txBox="1">
              <a:spLocks noChangeArrowheads="1"/>
            </p:cNvSpPr>
            <p:nvPr/>
          </p:nvSpPr>
          <p:spPr bwMode="auto">
            <a:xfrm>
              <a:off x="1568" y="207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922" name="Text Box 14"/>
            <p:cNvSpPr txBox="1">
              <a:spLocks noChangeArrowheads="1"/>
            </p:cNvSpPr>
            <p:nvPr/>
          </p:nvSpPr>
          <p:spPr bwMode="auto">
            <a:xfrm>
              <a:off x="881" y="315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5923" name="Text Box 15"/>
            <p:cNvSpPr txBox="1">
              <a:spLocks noChangeArrowheads="1"/>
            </p:cNvSpPr>
            <p:nvPr/>
          </p:nvSpPr>
          <p:spPr bwMode="auto">
            <a:xfrm>
              <a:off x="1388" y="3931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35924" name="Text Box 16"/>
            <p:cNvSpPr txBox="1">
              <a:spLocks noChangeArrowheads="1"/>
            </p:cNvSpPr>
            <p:nvPr/>
          </p:nvSpPr>
          <p:spPr bwMode="auto">
            <a:xfrm>
              <a:off x="1919" y="3362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5925" name="Freeform 17"/>
            <p:cNvSpPr>
              <a:spLocks/>
            </p:cNvSpPr>
            <p:nvPr/>
          </p:nvSpPr>
          <p:spPr bwMode="auto">
            <a:xfrm>
              <a:off x="1074" y="219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6" name="Freeform 18"/>
            <p:cNvSpPr>
              <a:spLocks/>
            </p:cNvSpPr>
            <p:nvPr/>
          </p:nvSpPr>
          <p:spPr bwMode="auto">
            <a:xfrm>
              <a:off x="1074" y="3270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739" name="Text Box 19"/>
          <p:cNvSpPr txBox="1">
            <a:spLocks noChangeArrowheads="1"/>
          </p:cNvSpPr>
          <p:nvPr/>
        </p:nvSpPr>
        <p:spPr bwMode="auto">
          <a:xfrm>
            <a:off x="3362325" y="4975225"/>
            <a:ext cx="303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58740" name="Text Box 20"/>
          <p:cNvSpPr txBox="1">
            <a:spLocks noChangeArrowheads="1"/>
          </p:cNvSpPr>
          <p:nvPr/>
        </p:nvSpPr>
        <p:spPr bwMode="auto">
          <a:xfrm>
            <a:off x="3295650" y="3117850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k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58741" name="Line 21"/>
          <p:cNvSpPr>
            <a:spLocks noChangeShapeType="1"/>
          </p:cNvSpPr>
          <p:nvPr/>
        </p:nvSpPr>
        <p:spPr bwMode="auto">
          <a:xfrm flipV="1">
            <a:off x="2965450" y="3344863"/>
            <a:ext cx="968375" cy="37147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2" name="Text Box 22"/>
          <p:cNvSpPr txBox="1">
            <a:spLocks noChangeArrowheads="1"/>
          </p:cNvSpPr>
          <p:nvPr/>
        </p:nvSpPr>
        <p:spPr bwMode="auto">
          <a:xfrm>
            <a:off x="3876675" y="3117850"/>
            <a:ext cx="44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1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58743" name="Line 23"/>
          <p:cNvSpPr>
            <a:spLocks noChangeShapeType="1"/>
          </p:cNvSpPr>
          <p:nvPr/>
        </p:nvSpPr>
        <p:spPr bwMode="auto">
          <a:xfrm flipH="1">
            <a:off x="3911600" y="3351213"/>
            <a:ext cx="0" cy="12763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4" name="Text Box 24"/>
          <p:cNvSpPr txBox="1">
            <a:spLocks noChangeArrowheads="1"/>
          </p:cNvSpPr>
          <p:nvPr/>
        </p:nvSpPr>
        <p:spPr bwMode="auto">
          <a:xfrm>
            <a:off x="3792538" y="5507038"/>
            <a:ext cx="357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>
                <a:latin typeface="ISOCPEUR" pitchFamily="34" charset="0"/>
              </a:rPr>
              <a:t>1</a:t>
            </a:r>
            <a:endParaRPr lang="en-US" altLang="zh-CN" sz="2400">
              <a:latin typeface="ISOCPEUR" pitchFamily="34" charset="0"/>
            </a:endParaRPr>
          </a:p>
        </p:txBody>
      </p:sp>
      <p:sp>
        <p:nvSpPr>
          <p:cNvPr id="158745" name="Line 25"/>
          <p:cNvSpPr>
            <a:spLocks noChangeShapeType="1"/>
          </p:cNvSpPr>
          <p:nvPr/>
        </p:nvSpPr>
        <p:spPr bwMode="auto">
          <a:xfrm>
            <a:off x="2981325" y="4713288"/>
            <a:ext cx="939800" cy="9493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6" name="Line 26"/>
          <p:cNvSpPr>
            <a:spLocks noChangeShapeType="1"/>
          </p:cNvSpPr>
          <p:nvPr/>
        </p:nvSpPr>
        <p:spPr bwMode="auto">
          <a:xfrm>
            <a:off x="3911600" y="4621213"/>
            <a:ext cx="0" cy="104140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47" name="Line 27"/>
          <p:cNvSpPr>
            <a:spLocks noChangeShapeType="1"/>
          </p:cNvSpPr>
          <p:nvPr/>
        </p:nvSpPr>
        <p:spPr bwMode="auto">
          <a:xfrm>
            <a:off x="3609975" y="3478213"/>
            <a:ext cx="0" cy="11493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48" name="AutoShape 28"/>
          <p:cNvSpPr>
            <a:spLocks noChangeArrowheads="1"/>
          </p:cNvSpPr>
          <p:nvPr/>
        </p:nvSpPr>
        <p:spPr bwMode="auto">
          <a:xfrm>
            <a:off x="3571875" y="3430588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749" name="Line 29"/>
          <p:cNvSpPr>
            <a:spLocks noChangeShapeType="1"/>
          </p:cNvSpPr>
          <p:nvPr/>
        </p:nvSpPr>
        <p:spPr bwMode="auto">
          <a:xfrm>
            <a:off x="3613150" y="4621213"/>
            <a:ext cx="0" cy="73025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50" name="AutoShape 30"/>
          <p:cNvSpPr>
            <a:spLocks noChangeArrowheads="1"/>
          </p:cNvSpPr>
          <p:nvPr/>
        </p:nvSpPr>
        <p:spPr bwMode="auto">
          <a:xfrm>
            <a:off x="3575050" y="5319713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751" name="Rectangle 31"/>
          <p:cNvSpPr>
            <a:spLocks noChangeArrowheads="1"/>
          </p:cNvSpPr>
          <p:nvPr/>
        </p:nvSpPr>
        <p:spPr bwMode="auto">
          <a:xfrm>
            <a:off x="1619250" y="2906713"/>
            <a:ext cx="4514850" cy="34686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35859" name="Rectangle 32"/>
          <p:cNvSpPr>
            <a:spLocks noChangeArrowheads="1"/>
          </p:cNvSpPr>
          <p:nvPr/>
        </p:nvSpPr>
        <p:spPr bwMode="auto">
          <a:xfrm>
            <a:off x="392113" y="255588"/>
            <a:ext cx="8574087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黑体" pitchFamily="2" charset="-122"/>
                <a:ea typeface="黑体" pitchFamily="2" charset="-122"/>
              </a:rPr>
              <a:t>2.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平面上的点</a:t>
            </a:r>
            <a:endParaRPr lang="zh-CN" altLang="en-US" sz="1200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定理：若点在属于平面的直线上，则点必在该平面上。</a:t>
            </a:r>
          </a:p>
        </p:txBody>
      </p:sp>
      <p:sp>
        <p:nvSpPr>
          <p:cNvPr id="158753" name="Text Box 33"/>
          <p:cNvSpPr txBox="1">
            <a:spLocks noChangeArrowheads="1"/>
          </p:cNvSpPr>
          <p:nvPr/>
        </p:nvSpPr>
        <p:spPr bwMode="auto">
          <a:xfrm>
            <a:off x="877888" y="1479550"/>
            <a:ext cx="7615237" cy="118745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例：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①求属于△的点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K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的水平投影；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latin typeface="黑体" pitchFamily="2" charset="-122"/>
                <a:ea typeface="黑体" pitchFamily="2" charset="-122"/>
              </a:rPr>
              <a:t>②求属于△的距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15</a:t>
            </a:r>
            <a:r>
              <a:rPr lang="en-US" altLang="en-US" sz="240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距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面</a:t>
            </a:r>
            <a:r>
              <a:rPr lang="en-US" altLang="en-US" sz="2400"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的点</a:t>
            </a:r>
            <a:r>
              <a:rPr lang="en-US" altLang="zh-CN" sz="2400">
                <a:latin typeface="黑体" pitchFamily="2" charset="-122"/>
                <a:ea typeface="黑体" pitchFamily="2" charset="-122"/>
              </a:rPr>
              <a:t>L</a:t>
            </a:r>
            <a:r>
              <a:rPr lang="zh-CN" altLang="en-US" sz="2400"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6256338" y="2130425"/>
            <a:ext cx="2041525" cy="476250"/>
            <a:chOff x="3036" y="2484"/>
            <a:chExt cx="1286" cy="300"/>
          </a:xfrm>
        </p:grpSpPr>
        <p:sp>
          <p:nvSpPr>
            <p:cNvPr id="35912" name="Line 35"/>
            <p:cNvSpPr>
              <a:spLocks noChangeShapeType="1"/>
            </p:cNvSpPr>
            <p:nvPr/>
          </p:nvSpPr>
          <p:spPr bwMode="auto">
            <a:xfrm rot="5400000" flipV="1">
              <a:off x="3958" y="2373"/>
              <a:ext cx="0" cy="729"/>
            </a:xfrm>
            <a:prstGeom prst="line">
              <a:avLst/>
            </a:prstGeom>
            <a:noFill/>
            <a:ln w="38100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3" name="Line 36"/>
            <p:cNvSpPr>
              <a:spLocks noChangeShapeType="1"/>
            </p:cNvSpPr>
            <p:nvPr/>
          </p:nvSpPr>
          <p:spPr bwMode="auto">
            <a:xfrm rot="5400000" flipH="1" flipV="1">
              <a:off x="3270" y="2505"/>
              <a:ext cx="0" cy="4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4" name="Text Box 37"/>
            <p:cNvSpPr txBox="1">
              <a:spLocks noChangeArrowheads="1"/>
            </p:cNvSpPr>
            <p:nvPr/>
          </p:nvSpPr>
          <p:spPr bwMode="auto">
            <a:xfrm>
              <a:off x="3105" y="2484"/>
              <a:ext cx="2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</a:rPr>
                <a:t>10</a:t>
              </a:r>
            </a:p>
          </p:txBody>
        </p:sp>
        <p:sp>
          <p:nvSpPr>
            <p:cNvPr id="35915" name="Text Box 38"/>
            <p:cNvSpPr txBox="1">
              <a:spLocks noChangeArrowheads="1"/>
            </p:cNvSpPr>
            <p:nvPr/>
          </p:nvSpPr>
          <p:spPr bwMode="auto">
            <a:xfrm>
              <a:off x="3789" y="2496"/>
              <a:ext cx="27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3366CC"/>
                  </a:solidFill>
                  <a:latin typeface="ISOCPEUR" pitchFamily="34" charset="0"/>
                </a:rPr>
                <a:t>15</a:t>
              </a:r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095500" y="4216400"/>
            <a:ext cx="3328988" cy="458788"/>
            <a:chOff x="3216" y="2784"/>
            <a:chExt cx="2207" cy="304"/>
          </a:xfrm>
        </p:grpSpPr>
        <p:sp>
          <p:nvSpPr>
            <p:cNvPr id="35909" name="Text Box 40"/>
            <p:cNvSpPr txBox="1">
              <a:spLocks noChangeArrowheads="1"/>
            </p:cNvSpPr>
            <p:nvPr/>
          </p:nvSpPr>
          <p:spPr bwMode="auto">
            <a:xfrm>
              <a:off x="3216" y="2785"/>
              <a:ext cx="243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35910" name="Text Box 41"/>
            <p:cNvSpPr txBox="1">
              <a:spLocks noChangeArrowheads="1"/>
            </p:cNvSpPr>
            <p:nvPr/>
          </p:nvSpPr>
          <p:spPr bwMode="auto">
            <a:xfrm>
              <a:off x="5193" y="2784"/>
              <a:ext cx="230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35911" name="Line 42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8763" name="Line 43"/>
          <p:cNvSpPr>
            <a:spLocks noChangeShapeType="1"/>
          </p:cNvSpPr>
          <p:nvPr/>
        </p:nvSpPr>
        <p:spPr bwMode="auto">
          <a:xfrm flipV="1">
            <a:off x="4762500" y="3473450"/>
            <a:ext cx="0" cy="1157288"/>
          </a:xfrm>
          <a:prstGeom prst="line">
            <a:avLst/>
          </a:prstGeom>
          <a:noFill/>
          <a:ln w="127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64" name="Line 44"/>
          <p:cNvSpPr>
            <a:spLocks noChangeShapeType="1"/>
          </p:cNvSpPr>
          <p:nvPr/>
        </p:nvSpPr>
        <p:spPr bwMode="auto">
          <a:xfrm>
            <a:off x="3236913" y="3471863"/>
            <a:ext cx="0" cy="1158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5" name="Line 45"/>
          <p:cNvSpPr>
            <a:spLocks noChangeShapeType="1"/>
          </p:cNvSpPr>
          <p:nvPr/>
        </p:nvSpPr>
        <p:spPr bwMode="auto">
          <a:xfrm>
            <a:off x="3957638" y="3471863"/>
            <a:ext cx="4762" cy="1187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6" name="Line 46"/>
          <p:cNvSpPr>
            <a:spLocks noChangeShapeType="1"/>
          </p:cNvSpPr>
          <p:nvPr/>
        </p:nvSpPr>
        <p:spPr bwMode="auto">
          <a:xfrm>
            <a:off x="3243263" y="3471863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7" name="Line 47"/>
          <p:cNvSpPr>
            <a:spLocks noChangeShapeType="1"/>
          </p:cNvSpPr>
          <p:nvPr/>
        </p:nvSpPr>
        <p:spPr bwMode="auto">
          <a:xfrm>
            <a:off x="3395663" y="5367338"/>
            <a:ext cx="1370012" cy="0"/>
          </a:xfrm>
          <a:prstGeom prst="line">
            <a:avLst/>
          </a:prstGeom>
          <a:noFill/>
          <a:ln w="9525">
            <a:solidFill>
              <a:srgbClr val="33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8" name="Line 48"/>
          <p:cNvSpPr>
            <a:spLocks noChangeShapeType="1"/>
          </p:cNvSpPr>
          <p:nvPr/>
        </p:nvSpPr>
        <p:spPr bwMode="auto">
          <a:xfrm flipH="1" flipV="1">
            <a:off x="4759325" y="4629150"/>
            <a:ext cx="0" cy="74295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8769" name="Line 49"/>
          <p:cNvSpPr>
            <a:spLocks noChangeShapeType="1"/>
          </p:cNvSpPr>
          <p:nvPr/>
        </p:nvSpPr>
        <p:spPr bwMode="auto">
          <a:xfrm>
            <a:off x="3238500" y="5116513"/>
            <a:ext cx="728663" cy="490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2574925" y="2803525"/>
            <a:ext cx="2168525" cy="3349625"/>
            <a:chOff x="830" y="2071"/>
            <a:chExt cx="1366" cy="2110"/>
          </a:xfrm>
        </p:grpSpPr>
        <p:sp>
          <p:nvSpPr>
            <p:cNvPr id="35898" name="Line 51"/>
            <p:cNvSpPr>
              <a:spLocks noChangeShapeType="1"/>
            </p:cNvSpPr>
            <p:nvPr/>
          </p:nvSpPr>
          <p:spPr bwMode="auto">
            <a:xfrm>
              <a:off x="1584" y="2195"/>
              <a:ext cx="0" cy="1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9" name="Line 52"/>
            <p:cNvSpPr>
              <a:spLocks noChangeShapeType="1"/>
            </p:cNvSpPr>
            <p:nvPr/>
          </p:nvSpPr>
          <p:spPr bwMode="auto">
            <a:xfrm>
              <a:off x="1076" y="2646"/>
              <a:ext cx="0" cy="6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0" name="Line 53"/>
            <p:cNvSpPr>
              <a:spLocks noChangeShapeType="1"/>
            </p:cNvSpPr>
            <p:nvPr/>
          </p:nvSpPr>
          <p:spPr bwMode="auto">
            <a:xfrm>
              <a:off x="1926" y="3021"/>
              <a:ext cx="0" cy="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1" name="Text Box 54"/>
            <p:cNvSpPr txBox="1">
              <a:spLocks noChangeArrowheads="1"/>
            </p:cNvSpPr>
            <p:nvPr/>
          </p:nvSpPr>
          <p:spPr bwMode="auto">
            <a:xfrm>
              <a:off x="830" y="2475"/>
              <a:ext cx="3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5902" name="Text Box 55"/>
            <p:cNvSpPr txBox="1">
              <a:spLocks noChangeArrowheads="1"/>
            </p:cNvSpPr>
            <p:nvPr/>
          </p:nvSpPr>
          <p:spPr bwMode="auto">
            <a:xfrm>
              <a:off x="1870" y="2820"/>
              <a:ext cx="3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5903" name="Text Box 56"/>
            <p:cNvSpPr txBox="1">
              <a:spLocks noChangeArrowheads="1"/>
            </p:cNvSpPr>
            <p:nvPr/>
          </p:nvSpPr>
          <p:spPr bwMode="auto">
            <a:xfrm>
              <a:off x="1568" y="2071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b'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35904" name="Text Box 57"/>
            <p:cNvSpPr txBox="1">
              <a:spLocks noChangeArrowheads="1"/>
            </p:cNvSpPr>
            <p:nvPr/>
          </p:nvSpPr>
          <p:spPr bwMode="auto">
            <a:xfrm>
              <a:off x="881" y="3159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a</a:t>
              </a:r>
            </a:p>
          </p:txBody>
        </p:sp>
        <p:sp>
          <p:nvSpPr>
            <p:cNvPr id="35905" name="Text Box 58"/>
            <p:cNvSpPr txBox="1">
              <a:spLocks noChangeArrowheads="1"/>
            </p:cNvSpPr>
            <p:nvPr/>
          </p:nvSpPr>
          <p:spPr bwMode="auto">
            <a:xfrm>
              <a:off x="1388" y="3931"/>
              <a:ext cx="19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b</a:t>
              </a:r>
            </a:p>
          </p:txBody>
        </p:sp>
        <p:sp>
          <p:nvSpPr>
            <p:cNvPr id="35906" name="Text Box 59"/>
            <p:cNvSpPr txBox="1">
              <a:spLocks noChangeArrowheads="1"/>
            </p:cNvSpPr>
            <p:nvPr/>
          </p:nvSpPr>
          <p:spPr bwMode="auto">
            <a:xfrm>
              <a:off x="1919" y="3362"/>
              <a:ext cx="1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latin typeface="ISOCPEUR" pitchFamily="34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5907" name="Freeform 60"/>
            <p:cNvSpPr>
              <a:spLocks/>
            </p:cNvSpPr>
            <p:nvPr/>
          </p:nvSpPr>
          <p:spPr bwMode="auto">
            <a:xfrm>
              <a:off x="1074" y="2196"/>
              <a:ext cx="852" cy="822"/>
            </a:xfrm>
            <a:custGeom>
              <a:avLst/>
              <a:gdLst>
                <a:gd name="T0" fmla="*/ 0 w 852"/>
                <a:gd name="T1" fmla="*/ 450 h 822"/>
                <a:gd name="T2" fmla="*/ 510 w 852"/>
                <a:gd name="T3" fmla="*/ 0 h 822"/>
                <a:gd name="T4" fmla="*/ 852 w 852"/>
                <a:gd name="T5" fmla="*/ 822 h 822"/>
                <a:gd name="T6" fmla="*/ 0 w 852"/>
                <a:gd name="T7" fmla="*/ 450 h 8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822"/>
                <a:gd name="T14" fmla="*/ 852 w 852"/>
                <a:gd name="T15" fmla="*/ 822 h 8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822">
                  <a:moveTo>
                    <a:pt x="0" y="450"/>
                  </a:moveTo>
                  <a:lnTo>
                    <a:pt x="510" y="0"/>
                  </a:lnTo>
                  <a:lnTo>
                    <a:pt x="852" y="822"/>
                  </a:lnTo>
                  <a:lnTo>
                    <a:pt x="0" y="45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8" name="Freeform 61"/>
            <p:cNvSpPr>
              <a:spLocks/>
            </p:cNvSpPr>
            <p:nvPr/>
          </p:nvSpPr>
          <p:spPr bwMode="auto">
            <a:xfrm>
              <a:off x="1074" y="3270"/>
              <a:ext cx="852" cy="750"/>
            </a:xfrm>
            <a:custGeom>
              <a:avLst/>
              <a:gdLst>
                <a:gd name="T0" fmla="*/ 0 w 852"/>
                <a:gd name="T1" fmla="*/ 0 h 750"/>
                <a:gd name="T2" fmla="*/ 852 w 852"/>
                <a:gd name="T3" fmla="*/ 243 h 750"/>
                <a:gd name="T4" fmla="*/ 507 w 852"/>
                <a:gd name="T5" fmla="*/ 750 h 750"/>
                <a:gd name="T6" fmla="*/ 0 w 852"/>
                <a:gd name="T7" fmla="*/ 0 h 7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52"/>
                <a:gd name="T13" fmla="*/ 0 h 750"/>
                <a:gd name="T14" fmla="*/ 852 w 852"/>
                <a:gd name="T15" fmla="*/ 750 h 7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52" h="750">
                  <a:moveTo>
                    <a:pt x="0" y="0"/>
                  </a:moveTo>
                  <a:lnTo>
                    <a:pt x="852" y="243"/>
                  </a:lnTo>
                  <a:lnTo>
                    <a:pt x="507" y="75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782" name="Line 62"/>
          <p:cNvSpPr>
            <a:spLocks noChangeShapeType="1"/>
          </p:cNvSpPr>
          <p:nvPr/>
        </p:nvSpPr>
        <p:spPr bwMode="auto">
          <a:xfrm>
            <a:off x="3608388" y="4595813"/>
            <a:ext cx="0" cy="773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4694238" y="3419475"/>
            <a:ext cx="795337" cy="1311275"/>
            <a:chOff x="4804" y="478"/>
            <a:chExt cx="546" cy="900"/>
          </a:xfrm>
        </p:grpSpPr>
        <p:sp>
          <p:nvSpPr>
            <p:cNvPr id="35894" name="Text Box 64"/>
            <p:cNvSpPr txBox="1">
              <a:spLocks noChangeArrowheads="1"/>
            </p:cNvSpPr>
            <p:nvPr/>
          </p:nvSpPr>
          <p:spPr bwMode="auto">
            <a:xfrm>
              <a:off x="4804" y="478"/>
              <a:ext cx="265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ISOCPEUR" pitchFamily="34" charset="0"/>
                  <a:sym typeface="Symbol" pitchFamily="18" charset="2"/>
                </a:rPr>
                <a:t></a:t>
              </a:r>
              <a:endParaRPr lang="en-US" altLang="zh-CN" sz="2400" b="0">
                <a:latin typeface="ISOCPEUR" pitchFamily="34" charset="0"/>
              </a:endParaRPr>
            </a:p>
          </p:txBody>
        </p:sp>
        <p:sp>
          <p:nvSpPr>
            <p:cNvPr id="35895" name="Text Box 65"/>
            <p:cNvSpPr txBox="1">
              <a:spLocks noChangeArrowheads="1"/>
            </p:cNvSpPr>
            <p:nvPr/>
          </p:nvSpPr>
          <p:spPr bwMode="auto">
            <a:xfrm>
              <a:off x="4804" y="729"/>
              <a:ext cx="265" cy="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ISOCPEUR" pitchFamily="34" charset="0"/>
                  <a:sym typeface="Symbol" pitchFamily="18" charset="2"/>
                </a:rPr>
                <a:t></a:t>
              </a:r>
              <a:endParaRPr lang="en-US" altLang="zh-CN" sz="2400" b="0"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35896" name="Text Box 66"/>
            <p:cNvSpPr txBox="1">
              <a:spLocks noChangeArrowheads="1"/>
            </p:cNvSpPr>
            <p:nvPr/>
          </p:nvSpPr>
          <p:spPr bwMode="auto">
            <a:xfrm>
              <a:off x="4804" y="980"/>
              <a:ext cx="265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0">
                  <a:latin typeface="ISOCPEUR" pitchFamily="34" charset="0"/>
                  <a:sym typeface="Symbol" pitchFamily="18" charset="2"/>
                </a:rPr>
                <a:t></a:t>
              </a:r>
            </a:p>
          </p:txBody>
        </p:sp>
        <p:sp>
          <p:nvSpPr>
            <p:cNvPr id="35897" name="Text Box 67"/>
            <p:cNvSpPr txBox="1">
              <a:spLocks noChangeArrowheads="1"/>
            </p:cNvSpPr>
            <p:nvPr/>
          </p:nvSpPr>
          <p:spPr bwMode="auto">
            <a:xfrm>
              <a:off x="4972" y="747"/>
              <a:ext cx="378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15 </a:t>
              </a:r>
            </a:p>
          </p:txBody>
        </p: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4732338" y="4591050"/>
            <a:ext cx="698500" cy="841375"/>
            <a:chOff x="2285" y="3293"/>
            <a:chExt cx="440" cy="530"/>
          </a:xfrm>
        </p:grpSpPr>
        <p:sp>
          <p:nvSpPr>
            <p:cNvPr id="35890" name="Text Box 69"/>
            <p:cNvSpPr txBox="1">
              <a:spLocks noChangeArrowheads="1"/>
            </p:cNvSpPr>
            <p:nvPr/>
          </p:nvSpPr>
          <p:spPr bwMode="auto">
            <a:xfrm>
              <a:off x="2285" y="3293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  <a:sym typeface="Symbol" pitchFamily="18" charset="2"/>
                </a:rPr>
                <a:t></a:t>
              </a:r>
              <a:endParaRPr lang="en-US" altLang="zh-CN" sz="2400">
                <a:latin typeface="ISOCPEUR" pitchFamily="34" charset="0"/>
              </a:endParaRPr>
            </a:p>
          </p:txBody>
        </p:sp>
        <p:sp>
          <p:nvSpPr>
            <p:cNvPr id="35891" name="Text Box 70"/>
            <p:cNvSpPr txBox="1">
              <a:spLocks noChangeArrowheads="1"/>
            </p:cNvSpPr>
            <p:nvPr/>
          </p:nvSpPr>
          <p:spPr bwMode="auto">
            <a:xfrm>
              <a:off x="2285" y="3432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  <a:sym typeface="Symbol" pitchFamily="18" charset="2"/>
                </a:rPr>
                <a:t></a:t>
              </a:r>
              <a:endParaRPr lang="en-US" altLang="zh-CN" sz="2400"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35892" name="Text Box 71"/>
            <p:cNvSpPr txBox="1">
              <a:spLocks noChangeArrowheads="1"/>
            </p:cNvSpPr>
            <p:nvPr/>
          </p:nvSpPr>
          <p:spPr bwMode="auto">
            <a:xfrm>
              <a:off x="2285" y="3573"/>
              <a:ext cx="19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ISOCPEUR" pitchFamily="34" charset="0"/>
                  <a:sym typeface="Symbol" pitchFamily="18" charset="2"/>
                </a:rPr>
                <a:t></a:t>
              </a:r>
              <a:endParaRPr lang="en-US" altLang="zh-CN">
                <a:latin typeface="ISOCPEUR" pitchFamily="34" charset="0"/>
                <a:sym typeface="Symbol" pitchFamily="18" charset="2"/>
              </a:endParaRPr>
            </a:p>
          </p:txBody>
        </p:sp>
        <p:sp>
          <p:nvSpPr>
            <p:cNvPr id="35893" name="Text Box 72"/>
            <p:cNvSpPr txBox="1">
              <a:spLocks noChangeArrowheads="1"/>
            </p:cNvSpPr>
            <p:nvPr/>
          </p:nvSpPr>
          <p:spPr bwMode="auto">
            <a:xfrm>
              <a:off x="2378" y="3426"/>
              <a:ext cx="3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itchFamily="34" charset="0"/>
                </a:rPr>
                <a:t>10 </a:t>
              </a:r>
            </a:p>
          </p:txBody>
        </p:sp>
      </p:grpSp>
      <p:sp>
        <p:nvSpPr>
          <p:cNvPr id="158793" name="AutoShape 73"/>
          <p:cNvSpPr>
            <a:spLocks noChangeArrowheads="1"/>
          </p:cNvSpPr>
          <p:nvPr/>
        </p:nvSpPr>
        <p:spPr bwMode="auto">
          <a:xfrm>
            <a:off x="3581400" y="5326063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794" name="Text Box 74"/>
          <p:cNvSpPr txBox="1">
            <a:spLocks noChangeArrowheads="1"/>
          </p:cNvSpPr>
          <p:nvPr/>
        </p:nvSpPr>
        <p:spPr bwMode="auto">
          <a:xfrm>
            <a:off x="3300413" y="4975225"/>
            <a:ext cx="409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l</a:t>
            </a:r>
            <a:endParaRPr lang="en-US" altLang="zh-CN" sz="2400" i="1">
              <a:latin typeface="ISOCPEUR" pitchFamily="34" charset="0"/>
            </a:endParaRPr>
          </a:p>
        </p:txBody>
      </p:sp>
      <p:sp>
        <p:nvSpPr>
          <p:cNvPr id="158795" name="Text Box 75"/>
          <p:cNvSpPr txBox="1">
            <a:spLocks noChangeArrowheads="1"/>
          </p:cNvSpPr>
          <p:nvPr/>
        </p:nvSpPr>
        <p:spPr bwMode="auto">
          <a:xfrm>
            <a:off x="3267075" y="3117850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</a:rPr>
              <a:t>l</a:t>
            </a: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58796" name="Line 76"/>
          <p:cNvSpPr>
            <a:spLocks noChangeShapeType="1"/>
          </p:cNvSpPr>
          <p:nvPr/>
        </p:nvSpPr>
        <p:spPr bwMode="auto">
          <a:xfrm>
            <a:off x="3962400" y="4640263"/>
            <a:ext cx="0" cy="962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97" name="Line 77"/>
          <p:cNvSpPr>
            <a:spLocks noChangeShapeType="1"/>
          </p:cNvSpPr>
          <p:nvPr/>
        </p:nvSpPr>
        <p:spPr bwMode="auto">
          <a:xfrm>
            <a:off x="3238500" y="4611688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798" name="Text Box 78"/>
          <p:cNvSpPr txBox="1">
            <a:spLocks noChangeArrowheads="1"/>
          </p:cNvSpPr>
          <p:nvPr/>
        </p:nvSpPr>
        <p:spPr bwMode="auto">
          <a:xfrm>
            <a:off x="2867025" y="3155950"/>
            <a:ext cx="531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1'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58799" name="Text Box 79"/>
          <p:cNvSpPr txBox="1">
            <a:spLocks noChangeArrowheads="1"/>
          </p:cNvSpPr>
          <p:nvPr/>
        </p:nvSpPr>
        <p:spPr bwMode="auto">
          <a:xfrm>
            <a:off x="3836988" y="3136900"/>
            <a:ext cx="527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2'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58800" name="Text Box 80"/>
          <p:cNvSpPr txBox="1">
            <a:spLocks noChangeArrowheads="1"/>
          </p:cNvSpPr>
          <p:nvPr/>
        </p:nvSpPr>
        <p:spPr bwMode="auto">
          <a:xfrm>
            <a:off x="2722563" y="4994275"/>
            <a:ext cx="496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1</a:t>
            </a:r>
            <a:endParaRPr lang="en-US" altLang="zh-CN" sz="2400" b="0">
              <a:latin typeface="ISOCPEUR" pitchFamily="34" charset="0"/>
            </a:endParaRPr>
          </a:p>
        </p:txBody>
      </p:sp>
      <p:sp>
        <p:nvSpPr>
          <p:cNvPr id="158801" name="Text Box 81"/>
          <p:cNvSpPr txBox="1">
            <a:spLocks noChangeArrowheads="1"/>
          </p:cNvSpPr>
          <p:nvPr/>
        </p:nvSpPr>
        <p:spPr bwMode="auto">
          <a:xfrm>
            <a:off x="3816350" y="5470525"/>
            <a:ext cx="43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2</a:t>
            </a:r>
          </a:p>
        </p:txBody>
      </p:sp>
      <p:sp>
        <p:nvSpPr>
          <p:cNvPr id="158802" name="Text Box 82"/>
          <p:cNvSpPr txBox="1">
            <a:spLocks noChangeArrowheads="1"/>
          </p:cNvSpPr>
          <p:nvPr/>
        </p:nvSpPr>
        <p:spPr bwMode="auto">
          <a:xfrm>
            <a:off x="2997200" y="5270500"/>
            <a:ext cx="454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3</a:t>
            </a:r>
          </a:p>
        </p:txBody>
      </p:sp>
      <p:sp>
        <p:nvSpPr>
          <p:cNvPr id="158803" name="Text Box 83"/>
          <p:cNvSpPr txBox="1">
            <a:spLocks noChangeArrowheads="1"/>
          </p:cNvSpPr>
          <p:nvPr/>
        </p:nvSpPr>
        <p:spPr bwMode="auto">
          <a:xfrm>
            <a:off x="3825875" y="507047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i="1">
                <a:latin typeface="ISOCPEUR" pitchFamily="34" charset="0"/>
                <a:ea typeface="仿宋_GB2312" pitchFamily="49" charset="-122"/>
              </a:rPr>
              <a:t>4</a:t>
            </a:r>
          </a:p>
        </p:txBody>
      </p:sp>
      <p:sp>
        <p:nvSpPr>
          <p:cNvPr id="158804" name="Line 84"/>
          <p:cNvSpPr>
            <a:spLocks noChangeShapeType="1"/>
          </p:cNvSpPr>
          <p:nvPr/>
        </p:nvSpPr>
        <p:spPr bwMode="auto">
          <a:xfrm flipV="1">
            <a:off x="3609975" y="347821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8805" name="AutoShape 85"/>
          <p:cNvSpPr>
            <a:spLocks noChangeArrowheads="1"/>
          </p:cNvSpPr>
          <p:nvPr/>
        </p:nvSpPr>
        <p:spPr bwMode="auto">
          <a:xfrm>
            <a:off x="3571875" y="3430588"/>
            <a:ext cx="74613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8806" name="Text Box 86"/>
          <p:cNvSpPr txBox="1">
            <a:spLocks noChangeArrowheads="1"/>
          </p:cNvSpPr>
          <p:nvPr/>
        </p:nvSpPr>
        <p:spPr bwMode="auto">
          <a:xfrm>
            <a:off x="1944688" y="30210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②</a:t>
            </a:r>
          </a:p>
        </p:txBody>
      </p:sp>
      <p:sp>
        <p:nvSpPr>
          <p:cNvPr id="158840" name="Text Box 120"/>
          <p:cNvSpPr txBox="1">
            <a:spLocks noChangeArrowheads="1"/>
          </p:cNvSpPr>
          <p:nvPr/>
        </p:nvSpPr>
        <p:spPr bwMode="auto">
          <a:xfrm>
            <a:off x="6298788" y="3918893"/>
            <a:ext cx="1529586" cy="4616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dirty="0">
                <a:ea typeface="黑体" pitchFamily="2" charset="-122"/>
              </a:rPr>
              <a:t>线上定点</a:t>
            </a:r>
          </a:p>
        </p:txBody>
      </p:sp>
      <p:sp>
        <p:nvSpPr>
          <p:cNvPr id="158841" name="Text Box 121"/>
          <p:cNvSpPr txBox="1">
            <a:spLocks noChangeArrowheads="1"/>
          </p:cNvSpPr>
          <p:nvPr/>
        </p:nvSpPr>
        <p:spPr bwMode="auto">
          <a:xfrm>
            <a:off x="6296025" y="3265488"/>
            <a:ext cx="1509713" cy="457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>
                <a:ea typeface="黑体" pitchFamily="2" charset="-122"/>
              </a:rPr>
              <a:t>面上画线</a:t>
            </a:r>
          </a:p>
        </p:txBody>
      </p:sp>
      <p:sp>
        <p:nvSpPr>
          <p:cNvPr id="9" name="Text Box 120">
            <a:extLst>
              <a:ext uri="{FF2B5EF4-FFF2-40B4-BE49-F238E27FC236}">
                <a16:creationId xmlns:a16="http://schemas.microsoft.com/office/drawing/2014/main" id="{515D3CFC-F0AA-54BA-529A-12D61931E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021" y="5831075"/>
            <a:ext cx="1627369" cy="4616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None/>
            </a:pPr>
            <a:r>
              <a:rPr lang="en-US" altLang="zh-CN" sz="2400" dirty="0">
                <a:ea typeface="黑体" pitchFamily="2" charset="-122"/>
              </a:rPr>
              <a:t>L</a:t>
            </a:r>
            <a:r>
              <a:rPr lang="zh-CN" altLang="en-US" sz="2400" dirty="0">
                <a:ea typeface="黑体" pitchFamily="2" charset="-122"/>
              </a:rPr>
              <a:t>即为所求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5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5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5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7" dur="500"/>
                                        <p:tgtEl>
                                          <p:spTgt spid="15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5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15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5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5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5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5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5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5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5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5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5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5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15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3" dur="500"/>
                                        <p:tgtEl>
                                          <p:spTgt spid="15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500"/>
                                        <p:tgtEl>
                                          <p:spTgt spid="15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15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15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5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5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5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15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2" grpId="0" autoUpdateAnimBg="0"/>
      <p:bldP spid="158739" grpId="0" autoUpdateAnimBg="0"/>
      <p:bldP spid="158740" grpId="0" autoUpdateAnimBg="0"/>
      <p:bldP spid="158741" grpId="0" animBg="1"/>
      <p:bldP spid="158742" grpId="0" autoUpdateAnimBg="0"/>
      <p:bldP spid="158743" grpId="0" animBg="1"/>
      <p:bldP spid="158744" grpId="0" autoUpdateAnimBg="0"/>
      <p:bldP spid="158745" grpId="0" animBg="1"/>
      <p:bldP spid="158746" grpId="0" animBg="1"/>
      <p:bldP spid="158747" grpId="0" animBg="1"/>
      <p:bldP spid="158748" grpId="0" animBg="1"/>
      <p:bldP spid="158749" grpId="0" animBg="1"/>
      <p:bldP spid="158750" grpId="0" animBg="1"/>
      <p:bldP spid="158751" grpId="0" animBg="1"/>
      <p:bldP spid="158753" grpId="0" animBg="1" autoUpdateAnimBg="0"/>
      <p:bldP spid="158763" grpId="0" animBg="1"/>
      <p:bldP spid="158764" grpId="0" animBg="1"/>
      <p:bldP spid="158765" grpId="0" animBg="1"/>
      <p:bldP spid="158766" grpId="0" animBg="1"/>
      <p:bldP spid="158767" grpId="0" animBg="1"/>
      <p:bldP spid="158768" grpId="0" animBg="1"/>
      <p:bldP spid="158769" grpId="0" animBg="1"/>
      <p:bldP spid="158782" grpId="0" animBg="1"/>
      <p:bldP spid="158793" grpId="0" animBg="1"/>
      <p:bldP spid="158794" grpId="0" autoUpdateAnimBg="0"/>
      <p:bldP spid="158795" grpId="0" autoUpdateAnimBg="0"/>
      <p:bldP spid="158796" grpId="0" animBg="1"/>
      <p:bldP spid="158797" grpId="0" animBg="1"/>
      <p:bldP spid="158798" grpId="0" autoUpdateAnimBg="0"/>
      <p:bldP spid="158799" grpId="0" autoUpdateAnimBg="0"/>
      <p:bldP spid="158800" grpId="0" autoUpdateAnimBg="0"/>
      <p:bldP spid="158801" grpId="0" autoUpdateAnimBg="0"/>
      <p:bldP spid="158802" grpId="0" autoUpdateAnimBg="0"/>
      <p:bldP spid="158803" grpId="0" autoUpdateAnimBg="0"/>
      <p:bldP spid="158804" grpId="0" animBg="1"/>
      <p:bldP spid="158805" grpId="0" animBg="1"/>
      <p:bldP spid="158806" grpId="0" autoUpdateAnimBg="0"/>
      <p:bldP spid="158840" grpId="0" animBg="1" autoUpdateAnimBg="0"/>
      <p:bldP spid="158841" grpId="0" animBg="1" autoUpdateAnimBg="0"/>
      <p:bldP spid="9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D0C0C6-3D37-4EF6-8C2D-726638D235C5}" type="slidenum">
              <a:rPr lang="en-US" altLang="zh-CN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43011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黑体" pitchFamily="2" charset="-122"/>
              </a:rPr>
              <a:t>It is a good answer that knows when to stop.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ea typeface="黑体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ea typeface="黑体" pitchFamily="2" charset="-122"/>
              </a:rPr>
              <a:t>                                                                            </a:t>
            </a:r>
            <a:r>
              <a:rPr lang="zh-CN" altLang="en-US" sz="2400" dirty="0">
                <a:ea typeface="黑体" pitchFamily="2" charset="-122"/>
              </a:rPr>
              <a:t>－ </a:t>
            </a:r>
            <a:r>
              <a:rPr lang="en-US" altLang="zh-CN" sz="2400" dirty="0">
                <a:ea typeface="黑体" pitchFamily="2" charset="-122"/>
              </a:rPr>
              <a:t>Italian Proverb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黑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10918</TotalTime>
  <Words>4707</Words>
  <Application>Microsoft Office PowerPoint</Application>
  <PresentationFormat>全屏显示(4:3)</PresentationFormat>
  <Paragraphs>1342</Paragraphs>
  <Slides>61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61</vt:i4>
      </vt:variant>
    </vt:vector>
  </HeadingPairs>
  <TitlesOfParts>
    <vt:vector size="84" baseType="lpstr">
      <vt:lpstr>Monotype Sorts</vt:lpstr>
      <vt:lpstr>仿宋</vt:lpstr>
      <vt:lpstr>仿宋_GB2312</vt:lpstr>
      <vt:lpstr>黑体</vt:lpstr>
      <vt:lpstr>华文隶书</vt:lpstr>
      <vt:lpstr>华文行楷</vt:lpstr>
      <vt:lpstr>隶书</vt:lpstr>
      <vt:lpstr>宋体</vt:lpstr>
      <vt:lpstr>Arial Narrow</vt:lpstr>
      <vt:lpstr>CommercialPi BT</vt:lpstr>
      <vt:lpstr>Dutch801 Rm BT</vt:lpstr>
      <vt:lpstr>EuroRoman</vt:lpstr>
      <vt:lpstr>ISOCP</vt:lpstr>
      <vt:lpstr>ISOCPEUR</vt:lpstr>
      <vt:lpstr>Symbol</vt:lpstr>
      <vt:lpstr>Times New Roman</vt:lpstr>
      <vt:lpstr>Txt</vt:lpstr>
      <vt:lpstr>UniversalMath1 BT</vt:lpstr>
      <vt:lpstr>场景型模板</vt:lpstr>
      <vt:lpstr>BMP 图像</vt:lpstr>
      <vt:lpstr>位图图像</vt:lpstr>
      <vt:lpstr>Photo Editor 照片</vt:lpstr>
      <vt:lpstr>Image</vt:lpstr>
      <vt:lpstr>   机械设计基础（1）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第一讲</vt:lpstr>
      <vt:lpstr>第一章  绪论</vt:lpstr>
      <vt:lpstr>PowerPoint 演示文稿</vt:lpstr>
      <vt:lpstr>PowerPoint 演示文稿</vt:lpstr>
      <vt:lpstr>PowerPoint 演示文稿</vt:lpstr>
      <vt:lpstr> 三．内容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  点、直线和平面的投影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§4.3 平面的投影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litm</dc:creator>
  <cp:lastModifiedBy>litm</cp:lastModifiedBy>
  <cp:revision>483</cp:revision>
  <cp:lastPrinted>2026-02-23T06:19:05Z</cp:lastPrinted>
  <dcterms:created xsi:type="dcterms:W3CDTF">1999-09-22T00:31:18Z</dcterms:created>
  <dcterms:modified xsi:type="dcterms:W3CDTF">2026-09-15T01:39:55Z</dcterms:modified>
</cp:coreProperties>
</file>